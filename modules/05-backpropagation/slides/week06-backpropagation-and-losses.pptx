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99bb35e95c41bf" /><Relationship Type="http://schemas.openxmlformats.org/officeDocument/2006/relationships/extended-properties" Target="/docProps/app.xml" Id="R98e80a11b5e14a8a" /><Relationship Type="http://schemas.openxmlformats.org/officeDocument/2006/relationships/officeDocument" Target="/ppt/presentation.xml" Id="Rb6cc58a80b7448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03e7eee6f94c43"/>
  </p:sldMasterIdLst>
  <p:notesMasterIdLst>
    <p:notesMasterId xmlns:r="http://schemas.openxmlformats.org/officeDocument/2006/relationships" r:id="Rc3f4d25a1a1e4c52"/>
  </p:notesMasterIdLst>
  <p:sldIdLst>
    <p:sldId xmlns:r="http://schemas.openxmlformats.org/officeDocument/2006/relationships" id="256" r:id="R08d3cd5719c840fe"/>
    <p:sldId xmlns:r="http://schemas.openxmlformats.org/officeDocument/2006/relationships" id="257" r:id="R9251af071ea94579"/>
    <p:sldId xmlns:r="http://schemas.openxmlformats.org/officeDocument/2006/relationships" id="258" r:id="R87fea38998954d86"/>
    <p:sldId xmlns:r="http://schemas.openxmlformats.org/officeDocument/2006/relationships" id="259" r:id="R6538fae9a9d449c7"/>
    <p:sldId xmlns:r="http://schemas.openxmlformats.org/officeDocument/2006/relationships" id="260" r:id="R5979038c774249b8"/>
    <p:sldId xmlns:r="http://schemas.openxmlformats.org/officeDocument/2006/relationships" id="261" r:id="Rb9d4cf9584874a7c"/>
    <p:sldId xmlns:r="http://schemas.openxmlformats.org/officeDocument/2006/relationships" id="262" r:id="R8d2be4d455e54caa"/>
    <p:sldId xmlns:r="http://schemas.openxmlformats.org/officeDocument/2006/relationships" id="263" r:id="R8a85f99ffec6443a"/>
    <p:sldId xmlns:r="http://schemas.openxmlformats.org/officeDocument/2006/relationships" id="264" r:id="Red594813abcb460a"/>
    <p:sldId xmlns:r="http://schemas.openxmlformats.org/officeDocument/2006/relationships" id="265" r:id="R44ff5396c1004b6e"/>
    <p:sldId xmlns:r="http://schemas.openxmlformats.org/officeDocument/2006/relationships" id="266" r:id="R94ac96e8d0d2417c"/>
    <p:sldId xmlns:r="http://schemas.openxmlformats.org/officeDocument/2006/relationships" id="267" r:id="R07f892e7a65b41e0"/>
    <p:sldId xmlns:r="http://schemas.openxmlformats.org/officeDocument/2006/relationships" id="268" r:id="Rb8735428c8d64882"/>
    <p:sldId xmlns:r="http://schemas.openxmlformats.org/officeDocument/2006/relationships" id="269" r:id="Raead865ee19946ef"/>
    <p:sldId xmlns:r="http://schemas.openxmlformats.org/officeDocument/2006/relationships" id="270" r:id="Red27d267298e4098"/>
    <p:sldId xmlns:r="http://schemas.openxmlformats.org/officeDocument/2006/relationships" id="271" r:id="R71750a3783eb49d3"/>
    <p:sldId xmlns:r="http://schemas.openxmlformats.org/officeDocument/2006/relationships" id="272" r:id="R4aff3187a80b46a7"/>
    <p:sldId xmlns:r="http://schemas.openxmlformats.org/officeDocument/2006/relationships" id="273" r:id="R17ddb151168449ea"/>
    <p:sldId xmlns:r="http://schemas.openxmlformats.org/officeDocument/2006/relationships" id="274" r:id="Rc3ad607bd5c34a61"/>
    <p:sldId xmlns:r="http://schemas.openxmlformats.org/officeDocument/2006/relationships" id="275" r:id="Rf512385adf9f463e"/>
    <p:sldId xmlns:r="http://schemas.openxmlformats.org/officeDocument/2006/relationships" id="276" r:id="Ra27e92c1792241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fb7b7f7b044fee" /><Relationship Type="http://schemas.openxmlformats.org/officeDocument/2006/relationships/slideMaster" Target="/ppt/slideMasters/slideMaster1.xml" Id="Rcb03e7eee6f94c43" /><Relationship Type="http://schemas.openxmlformats.org/officeDocument/2006/relationships/notesMaster" Target="/ppt/notesMasters/notesMaster1.xml" Id="Rc3f4d25a1a1e4c52" /><Relationship Type="http://schemas.openxmlformats.org/officeDocument/2006/relationships/presProps" Target="/ppt/presProps.xml" Id="R788e072a5a56481b" /><Relationship Type="http://schemas.openxmlformats.org/officeDocument/2006/relationships/tableStyles" Target="/ppt/tableStyles.xml" Id="Rd21f9a3cf8ae454f" /><Relationship Type="http://schemas.openxmlformats.org/officeDocument/2006/relationships/slide" Target="/ppt/slides/slide1.xml" Id="R08d3cd5719c840fe" /><Relationship Type="http://schemas.openxmlformats.org/officeDocument/2006/relationships/slide" Target="/ppt/slides/slide2.xml" Id="R9251af071ea94579" /><Relationship Type="http://schemas.openxmlformats.org/officeDocument/2006/relationships/slide" Target="/ppt/slides/slide3.xml" Id="R87fea38998954d86" /><Relationship Type="http://schemas.openxmlformats.org/officeDocument/2006/relationships/slide" Target="/ppt/slides/slide4.xml" Id="R6538fae9a9d449c7" /><Relationship Type="http://schemas.openxmlformats.org/officeDocument/2006/relationships/slide" Target="/ppt/slides/slide5.xml" Id="R5979038c774249b8" /><Relationship Type="http://schemas.openxmlformats.org/officeDocument/2006/relationships/slide" Target="/ppt/slides/slide6.xml" Id="Rb9d4cf9584874a7c" /><Relationship Type="http://schemas.openxmlformats.org/officeDocument/2006/relationships/slide" Target="/ppt/slides/slide7.xml" Id="R8d2be4d455e54caa" /><Relationship Type="http://schemas.openxmlformats.org/officeDocument/2006/relationships/slide" Target="/ppt/slides/slide8.xml" Id="R8a85f99ffec6443a" /><Relationship Type="http://schemas.openxmlformats.org/officeDocument/2006/relationships/slide" Target="/ppt/slides/slide9.xml" Id="Red594813abcb460a" /><Relationship Type="http://schemas.openxmlformats.org/officeDocument/2006/relationships/slide" Target="/ppt/slides/slide10.xml" Id="R44ff5396c1004b6e" /><Relationship Type="http://schemas.openxmlformats.org/officeDocument/2006/relationships/slide" Target="/ppt/slides/slide11.xml" Id="R94ac96e8d0d2417c" /><Relationship Type="http://schemas.openxmlformats.org/officeDocument/2006/relationships/slide" Target="/ppt/slides/slide12.xml" Id="R07f892e7a65b41e0" /><Relationship Type="http://schemas.openxmlformats.org/officeDocument/2006/relationships/slide" Target="/ppt/slides/slide13.xml" Id="Rb8735428c8d64882" /><Relationship Type="http://schemas.openxmlformats.org/officeDocument/2006/relationships/slide" Target="/ppt/slides/slide14.xml" Id="Raead865ee19946ef" /><Relationship Type="http://schemas.openxmlformats.org/officeDocument/2006/relationships/slide" Target="/ppt/slides/slide15.xml" Id="Red27d267298e4098" /><Relationship Type="http://schemas.openxmlformats.org/officeDocument/2006/relationships/slide" Target="/ppt/slides/slide16.xml" Id="R71750a3783eb49d3" /><Relationship Type="http://schemas.openxmlformats.org/officeDocument/2006/relationships/slide" Target="/ppt/slides/slide17.xml" Id="R4aff3187a80b46a7" /><Relationship Type="http://schemas.openxmlformats.org/officeDocument/2006/relationships/slide" Target="/ppt/slides/slide18.xml" Id="R17ddb151168449ea" /><Relationship Type="http://schemas.openxmlformats.org/officeDocument/2006/relationships/slide" Target="/ppt/slides/slide19.xml" Id="Rc3ad607bd5c34a61" /><Relationship Type="http://schemas.openxmlformats.org/officeDocument/2006/relationships/slide" Target="/ppt/slides/slide20.xml" Id="Rf512385adf9f463e" /><Relationship Type="http://schemas.openxmlformats.org/officeDocument/2006/relationships/slide" Target="/ppt/slides/slide21.xml" Id="Ra27e92c1792241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3e64c69c3744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3e74db26724b75" /><Relationship Type="http://schemas.openxmlformats.org/officeDocument/2006/relationships/notesMaster" Target="/ppt/notesMasters/notesMaster1.xml" Id="R993625bf504c43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c93a1ceef942c4" /><Relationship Type="http://schemas.openxmlformats.org/officeDocument/2006/relationships/notesMaster" Target="/ppt/notesMasters/notesMaster1.xml" Id="R947554f4350a40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b416323ad04dc7" /><Relationship Type="http://schemas.openxmlformats.org/officeDocument/2006/relationships/notesMaster" Target="/ppt/notesMasters/notesMaster1.xml" Id="Refc5a042e4644d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61f9d4e46b4ff4" /><Relationship Type="http://schemas.openxmlformats.org/officeDocument/2006/relationships/notesMaster" Target="/ppt/notesMasters/notesMaster1.xml" Id="R8ca59b4fd0044a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69d1452b524b7b" /><Relationship Type="http://schemas.openxmlformats.org/officeDocument/2006/relationships/notesMaster" Target="/ppt/notesMasters/notesMaster1.xml" Id="R106e7cae381641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8cd83012a143cc" /><Relationship Type="http://schemas.openxmlformats.org/officeDocument/2006/relationships/notesMaster" Target="/ppt/notesMasters/notesMaster1.xml" Id="R0f593d72bcec43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442e48553d4326" /><Relationship Type="http://schemas.openxmlformats.org/officeDocument/2006/relationships/notesMaster" Target="/ppt/notesMasters/notesMaster1.xml" Id="R93ac5abdd98a4a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7995e1e3cf43a4" /><Relationship Type="http://schemas.openxmlformats.org/officeDocument/2006/relationships/notesMaster" Target="/ppt/notesMasters/notesMaster1.xml" Id="R6dba980be38c4c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f3380cd56147b1" /><Relationship Type="http://schemas.openxmlformats.org/officeDocument/2006/relationships/notesMaster" Target="/ppt/notesMasters/notesMaster1.xml" Id="R32b54672b80a45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65a6be0ac94f4f" /><Relationship Type="http://schemas.openxmlformats.org/officeDocument/2006/relationships/notesMaster" Target="/ppt/notesMasters/notesMaster1.xml" Id="Rfeb94720e9e546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2b49c043ea429a" /><Relationship Type="http://schemas.openxmlformats.org/officeDocument/2006/relationships/notesMaster" Target="/ppt/notesMasters/notesMaster1.xml" Id="Rf2a95585829b45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8fb6a6b306433a" /><Relationship Type="http://schemas.openxmlformats.org/officeDocument/2006/relationships/notesMaster" Target="/ppt/notesMasters/notesMaster1.xml" Id="Raf8f0d82b06c4c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a6fc1d68ee40ac" /><Relationship Type="http://schemas.openxmlformats.org/officeDocument/2006/relationships/notesMaster" Target="/ppt/notesMasters/notesMaster1.xml" Id="Rcf9dd4602d284b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6f198217504ab5" /><Relationship Type="http://schemas.openxmlformats.org/officeDocument/2006/relationships/notesMaster" Target="/ppt/notesMasters/notesMaster1.xml" Id="R252c82b3267c41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778ae190f14a81" /><Relationship Type="http://schemas.openxmlformats.org/officeDocument/2006/relationships/notesMaster" Target="/ppt/notesMasters/notesMaster1.xml" Id="R9a9556fd960049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fd29aba5cb41be" /><Relationship Type="http://schemas.openxmlformats.org/officeDocument/2006/relationships/notesMaster" Target="/ppt/notesMasters/notesMaster1.xml" Id="R503ddbfc394343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01d4b26ffe4647" /><Relationship Type="http://schemas.openxmlformats.org/officeDocument/2006/relationships/notesMaster" Target="/ppt/notesMasters/notesMaster1.xml" Id="Rdbcedba3543547e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561359add74e00" /><Relationship Type="http://schemas.openxmlformats.org/officeDocument/2006/relationships/notesMaster" Target="/ppt/notesMasters/notesMaster1.xml" Id="R06e98015053444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6043d12bb894e10" /><Relationship Type="http://schemas.openxmlformats.org/officeDocument/2006/relationships/notesMaster" Target="/ppt/notesMasters/notesMaster1.xml" Id="Rf5c42155525d463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c3201152f942ac" /><Relationship Type="http://schemas.openxmlformats.org/officeDocument/2006/relationships/notesMaster" Target="/ppt/notesMasters/notesMaster1.xml" Id="Ra6edacb2faae469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44d1e60c734cf6" /><Relationship Type="http://schemas.openxmlformats.org/officeDocument/2006/relationships/notesMaster" Target="/ppt/notesMasters/notesMaster1.xml" Id="R879660bb85df43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minutes. State the guiding question: how does the chain rule assign responsibility for a network's output error to every parameter? The cover uses cyan for forward values and amber for backward gradients.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Point students to the worksheet. Evidence begins with a local derivative path and ends with a project result another student can reproduce.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Circle the gradient in the Week 5 update. Backpropagation computes it; gradient descent uses it. This distinction prepares students for PyTorch autograd and optimizers.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 hidden unit has no supplied target. Reformulate responsibility as sensitivity: how would changing this value change the final objective?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Trace forward values from X to J in cyan and backward gradients from the loss in amber. Parameter gradients branch from G Z2 and G Z1.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Complete the forward equations and shapes. Caching avoids recomputation and ensures the backward pass differentiates the same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Pair one sigmoid probability with binary cross-entropy. The lab uses a stable logit calculation to avoid taking log of a rounded zero.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The derivative of sigmoid and the derivative of binary cross-entropy simplify to P minus Y. Divide by m once for the mean objective.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Derive the output weight and bias gradients. The observations dimension is contracted, leaving a gradient with the same shape as each parameter.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Multiply by W2 transpose to move one output sensitivity into h hidden values for every observation. The local tanh derivative still remains.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The derivative can be written using the cached hidden activation. Near saturation, the local derivative becomes small.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Complete the hidden weight and bias gradients. Require shapes d by h and one by 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Students order all seven operations. Each line should use values already available from the forward cache or a later backward quantity.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Shape agreement catches many transpose and reduction errors, but a wrong derivative can still have the correct shape.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All gradients must describe one consistent parameter state. Update only after backward computation is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Perturb each parameter component, recompute both losses, and compare with the analytical gradient. The fixed-seed maximum error is about three times ten to the minus nine.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Connect each symptom to a specific backward dependency. Do not debug by changing several formulas at once.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In the original XOR input space, positive and negative examples occupy opposite diagonal corners. A nonlinear hidden representation can make a later boundary effective.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22 minutes. Students predict first, then run. Record forward shapes, all four gradient errors, linear behavior, and MLP behavior. Every XOR row is training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Inspect one student command and result record. A weak or failed baseline is acceptable when its state, evidence, and next decision are reproducible.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 minutes. Collect four concise statements. Preview Week 7: multiclass outputs, stable softmax, cross-entropy, and evaluation consolidation.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e15bf54754e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e2a8f39dcf41db" /><Relationship Type="http://schemas.openxmlformats.org/officeDocument/2006/relationships/slideLayout" Target="/ppt/slideLayouts/slideLayout1.xml" Id="R0b32c51772bb42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32c51772bb42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8445595fd42be" /><Relationship Type="http://schemas.openxmlformats.org/officeDocument/2006/relationships/image" Target="/ppt/media/image.png" Id="R80da2eb3af36401d" /><Relationship Type="http://schemas.openxmlformats.org/officeDocument/2006/relationships/notesSlide" Target="/ppt/notesSlides/notesSlide1.xml" Id="R98fb5ccaa2204e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fa2d3d15845ad" /><Relationship Type="http://schemas.openxmlformats.org/officeDocument/2006/relationships/notesSlide" Target="/ppt/notesSlides/notesSlide2.xml" Id="Rdb8734a3996843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56784d2f94052" /><Relationship Type="http://schemas.openxmlformats.org/officeDocument/2006/relationships/notesSlide" Target="/ppt/notesSlides/notesSlide3.xml" Id="R1d1dd21083b64e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a069ac9c04acb" /><Relationship Type="http://schemas.openxmlformats.org/officeDocument/2006/relationships/notesSlide" Target="/ppt/notesSlides/notesSlide4.xml" Id="R93deecb018664e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33d62200944b6" /><Relationship Type="http://schemas.openxmlformats.org/officeDocument/2006/relationships/notesSlide" Target="/ppt/notesSlides/notesSlide5.xml" Id="Rd65cc8f82bf54a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03c89766d487a" /><Relationship Type="http://schemas.openxmlformats.org/officeDocument/2006/relationships/notesSlide" Target="/ppt/notesSlides/notesSlide6.xml" Id="Raa8250652ddc4c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40b6aaa2844a5" /><Relationship Type="http://schemas.openxmlformats.org/officeDocument/2006/relationships/notesSlide" Target="/ppt/notesSlides/notesSlide7.xml" Id="Re622a97c070541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0da904e994779" /><Relationship Type="http://schemas.openxmlformats.org/officeDocument/2006/relationships/notesSlide" Target="/ppt/notesSlides/notesSlide8.xml" Id="Rb670d98e09ad45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b6f474cce4e8c" /><Relationship Type="http://schemas.openxmlformats.org/officeDocument/2006/relationships/notesSlide" Target="/ppt/notesSlides/notesSlide9.xml" Id="R8376152a841d45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f900e058c4b13" /><Relationship Type="http://schemas.openxmlformats.org/officeDocument/2006/relationships/notesSlide" Target="/ppt/notesSlides/notesSlide10.xml" Id="Rdb2cb4f040e34e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8085bbb104785" /><Relationship Type="http://schemas.openxmlformats.org/officeDocument/2006/relationships/notesSlide" Target="/ppt/notesSlides/notesSlide11.xml" Id="R35f6cbc3769147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a36c61e834caf" /><Relationship Type="http://schemas.openxmlformats.org/officeDocument/2006/relationships/notesSlide" Target="/ppt/notesSlides/notesSlide12.xml" Id="R45fa1acec3f54e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fc5e53a1b4751" /><Relationship Type="http://schemas.openxmlformats.org/officeDocument/2006/relationships/notesSlide" Target="/ppt/notesSlides/notesSlide13.xml" Id="R346a13550fb64e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dd2babd9147cf" /><Relationship Type="http://schemas.openxmlformats.org/officeDocument/2006/relationships/notesSlide" Target="/ppt/notesSlides/notesSlide14.xml" Id="R8c046043f7564b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e738f1b044625" /><Relationship Type="http://schemas.openxmlformats.org/officeDocument/2006/relationships/notesSlide" Target="/ppt/notesSlides/notesSlide15.xml" Id="R76a70bdeca5342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6449e881442be" /><Relationship Type="http://schemas.openxmlformats.org/officeDocument/2006/relationships/notesSlide" Target="/ppt/notesSlides/notesSlide16.xml" Id="R2ea1ea89341b46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a43df340743aa" /><Relationship Type="http://schemas.openxmlformats.org/officeDocument/2006/relationships/notesSlide" Target="/ppt/notesSlides/notesSlide17.xml" Id="Raa436609ca9547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19b54bd2b45e1" /><Relationship Type="http://schemas.openxmlformats.org/officeDocument/2006/relationships/notesSlide" Target="/ppt/notesSlides/notesSlide18.xml" Id="R7d3ea18426dd4f2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e68d68fc24fbb" /><Relationship Type="http://schemas.openxmlformats.org/officeDocument/2006/relationships/notesSlide" Target="/ppt/notesSlides/notesSlide19.xml" Id="R6b383bb61711498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dd05d79b14423" /><Relationship Type="http://schemas.openxmlformats.org/officeDocument/2006/relationships/notesSlide" Target="/ppt/notesSlides/notesSlide20.xml" Id="Rf975aec48fc741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f16876018452f" /><Relationship Type="http://schemas.openxmlformats.org/officeDocument/2006/relationships/notesSlide" Target="/ppt/notesSlides/notesSlide21.xml" Id="Rdce4e7f69fed42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a2eb3af36401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A38C2-F843-45A3-9900-F94C02F1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CME705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68785-47B9-4694-8357-0D786B42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241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Neural Networks, Deep Learning,</a:t>
            </a:r>
          </a:p>
          <a:p xmlns:a="http://schemas.openxmlformats.org/drawingml/2006/main">
            <a:pPr algn="l">
              <a:defRPr sz="21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and Research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89C2E-7E43-42F2-BB16-1EF2DFBC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7B526-5481-40B5-B476-7DBC6686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WEEK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A5056-A020-4571-BCAA-68E19491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Backpropagation</a:t>
            </a:r>
          </a:p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losses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B2A81-AB6F-4701-957C-6E0D35DA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CFD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CFD8"/>
                </a:solidFill>
                <a:latin typeface="Arial"/>
                <a:ea typeface="Arial"/>
                <a:cs typeface="Arial"/>
              </a:rPr>
              <a:t>Karabuk University   Department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308986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A2B04A-B707-4D6D-85D0-31A4B858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Today's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9A456-1583-45E1-8D3E-16EE257B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60509-EDF3-4771-BC32-D8F974D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8279E-9E72-4638-9B92-4E8C64A4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39E7F-8EAC-445B-8A19-29285FDB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Six products connect a chain-rule derivation to a reproducible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51F24-E8FF-41C8-A5B3-9DB86348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B0B09-A29E-4657-B231-80D0C35F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Scalar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D31ED-DC0D-402C-8A87-002D838A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431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three factors from objective to hidden pre-activation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E5C0F-48ED-41E5-B851-DFEBD46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00300"/>
            <a:ext cx="947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802FB-8476-42F6-A0F2-235A7F01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52955-9825-4913-B6B3-D2A66E7D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90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Backward 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9A61C-1F60-4A59-92B6-6A4DE67D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098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seven operations with valid shapes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7A276-60F7-4071-A377-656A11A5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67050"/>
            <a:ext cx="947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B3F7E-6647-459B-85C3-D8A1A0C9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3254F-6A38-4D13-8528-2FBF38E6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Output-loss link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A8C29-D22B-43EA-9863-EA2B6587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766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sigmoid and binary cross-entropy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ED334-B255-4DD4-A581-1973B0E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33800"/>
            <a:ext cx="947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31B7E-AD42-4366-BBFA-0AF39338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FF65A-7B2E-4727-B4E5-34414FFE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24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Gradient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3EC60-D225-4AAA-9B82-E4049AFB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433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analytical and numerical values compared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210F8-1ED5-43C0-893B-14B0B82A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00550"/>
            <a:ext cx="947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87E40-D047-4F78-BA29-720AF8AD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7263F-BF0B-40B9-A2ED-987CC16E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XOR comparison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25E29-8DEA-43F1-9AD7-2F809E49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101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linear limitation and nonlinear 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969C3D-8CF8-42D4-98D7-7F23A4B3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67300"/>
            <a:ext cx="947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73C29-412F-4B28-9BE3-8B698E18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2B31B7-4533-4DA1-BD4E-581AEDED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Baseline 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DC2841-D58C-4281-81BB-3BABDC75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768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state, environment, data, command, result, errors</a:t>
            </a:r>
          </a:p>
        </p:txBody>
      </p:sp>
    </p:spTree>
    <p:extLst>
      <p:ext uri="{BB962C8B-B14F-4D97-AF65-F5344CB8AC3E}">
        <p14:creationId xmlns:p14="http://schemas.microsoft.com/office/powerpoint/2010/main" val="2106020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ABA2A-2E4B-4578-903E-5A5D6E87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Backpropagation supplies the missing gradients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2EBE8-308D-48E9-BFED-B58D4A9C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95FDF-A787-4D3D-BC2E-66440027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AC179-5619-4867-93C8-21F8A77B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42D52-C078-48FF-AC89-5F5D201A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62125"/>
            <a:ext cx="10001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67DC2-100A-4D67-BC84-72E1B84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θₜ₊₁ = θₜ − η∇J(θₜ)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5A5F9-C0D5-4C24-A32B-3C284507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623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BACKPROPAGATION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D040F-B0C0-4973-930A-75270AC6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91000"/>
            <a:ext cx="419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computes ∇J through nested transformations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4E9B0-0C85-4900-A42F-A4EBEDE1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OPTIMIZER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D360F-2881-410B-BB83-A7FB32AB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applies the parameter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02885-73A1-43DB-8BD2-23ED05CF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721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512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The two operations are connected, but they are not the same.</a:t>
            </a:r>
          </a:p>
        </p:txBody>
      </p:sp>
    </p:spTree>
    <p:extLst>
      <p:ext uri="{BB962C8B-B14F-4D97-AF65-F5344CB8AC3E}">
        <p14:creationId xmlns:p14="http://schemas.microsoft.com/office/powerpoint/2010/main" val="8070179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982C4-8921-4FD4-9BEA-B85CD0C2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Hidden units have no supplied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E204E-2632-4F3F-8F3B-5035E3BE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2CF26-8E3B-4398-B6F9-2F7A7F84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E116B-58E6-4E9C-A00C-09C952F2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675CE-A51C-4F11-8DC5-72A7FEA5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The dataset supplies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2EA52-6E83-4461-B1CF-5A2FF892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810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C8D8A-A727-43A8-AA89-556AEB53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574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147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target Y for the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5AF41-C2DF-4041-90A8-5F0C4B12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19375"/>
            <a:ext cx="1047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8536D-ACDA-4EB9-B080-4B336CFA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90537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787F5-BB82-4C9D-B245-CE867C42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4143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How would a small change</a:t>
            </a:r>
          </a:p>
          <a:p xmlns:a="http://schemas.openxmlformats.org/drawingml/2006/main">
            <a:pPr algn="ctr">
              <a:defRPr sz="24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 this hidden value change</a:t>
            </a:r>
          </a:p>
          <a:p xmlns:a="http://schemas.openxmlformats.org/drawingml/2006/main">
            <a:pPr algn="ctr">
              <a:defRPr sz="24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final objective?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EB58C-D45B-46BB-B9C8-B23BCCD5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196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chain rule combines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9FB31-5528-4BF3-90D3-A3EAC9DE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91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downstream sensitivity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22C5E-9DA8-40BD-865F-A85D77D0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1911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4F3A2-F381-4498-9815-98AEAE97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91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local derivative</a:t>
            </a:r>
          </a:p>
        </p:txBody>
      </p:sp>
    </p:spTree>
    <p:extLst>
      <p:ext uri="{BB962C8B-B14F-4D97-AF65-F5344CB8AC3E}">
        <p14:creationId xmlns:p14="http://schemas.microsoft.com/office/powerpoint/2010/main" val="636675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F156AA-5143-4841-AEF3-A13AC184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Two directions through one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B9C37-74AF-47DB-9038-BE9BA7E2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F4263-CE79-4D5E-89D6-658EFA2D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96900-19A9-48E0-9F67-0D8796D4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F48A1-5B5C-4250-9DAC-60D6151E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ACE86-7C48-40AB-9B3B-BCB96615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9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690A1-8424-401C-9210-C3288E62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742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AE8AF-568B-4522-BB11-8A9A9991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6479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37D87-8550-4D98-85B7-A52A7698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09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4FC53-82E9-422C-9CBD-2B6F0F0F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476500"/>
            <a:ext cx="742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9138E-8D3C-4AAF-B6B0-C446612F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479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1C443-5556-4E6D-9871-32626716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09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CD274-C465-4187-B854-32E5FA7F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742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0833C-0862-438B-B93A-2B894DCC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479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19E30-4E47-40EA-87BF-F60825C0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9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14036-76A8-4085-9B39-62F6AE3E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76500"/>
            <a:ext cx="742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FEECF-B706-4D10-8A92-28EE056F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479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CBF54-8CFF-4DC9-8CD2-C3E18ADB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09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E35C1-37AB-4891-92A5-EA5F950D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42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B468D-D27F-4EE0-89BD-1776F6B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479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000CA-B87D-4D34-A10E-6032BCFE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9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F051C-1882-47F3-AA87-4F2B4578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FORWARD VALUES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4451C6-8313-4350-9D0A-55691D13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910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BACKWARD GRADIENTS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F81E76-756B-4316-B17B-1E2AFEAF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7429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52FBD1-F114-438E-9576-A3FEB4FD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76750"/>
            <a:ext cx="7429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CF62D-3734-4627-B44D-FA12F837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7429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22BF6B-9FEC-4F23-8C04-73BA8C78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76750"/>
            <a:ext cx="7429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9D57E0-35EA-4165-9152-965683EE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0537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GZ₂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602C92-5FB9-4D30-9E14-B1EB3DF2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0537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5FC8C3-C4F7-4C8C-91F6-16F9690F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0537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GZ₁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C5250D-98B1-4C86-B5CB-6762116B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1500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259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Parameter gradients branch from the related pre-activation gradients.</a:t>
            </a:r>
          </a:p>
        </p:txBody>
      </p:sp>
    </p:spTree>
    <p:extLst>
      <p:ext uri="{BB962C8B-B14F-4D97-AF65-F5344CB8AC3E}">
        <p14:creationId xmlns:p14="http://schemas.microsoft.com/office/powerpoint/2010/main" val="952883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F55CBA-9D00-4C28-8CEF-4EECB240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Cache the forward values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B53E9-F587-4FCC-8B86-77FF0AA3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C1A0A-A227-4AA6-9E34-E086147C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261B0-4CA8-4F0E-9B6A-5677DF1C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FCFE9-0ECC-442A-8F92-32DCE2DF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Z₁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55FC9-ECD3-4BD7-8224-B2ACEE41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76375"/>
            <a:ext cx="581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F9330-6F35-49B7-BA2F-07B33DFB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192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XW₁ + b₁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C6A54-B9A4-43D7-B1C9-3E7F4986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(m, h)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1FB45-E66A-4398-A2EF-0695F965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527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346E0-FE1E-42DC-80EA-90A73C18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09825"/>
            <a:ext cx="581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54ACC-907D-4C0C-A94C-240167C9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527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tanh(Z₁)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1554A-3BD1-48D8-94A5-D130BABC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(m, h)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CEABA-C23A-478E-BC5E-03771398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861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Z₂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5A1F3-B089-40DA-B75B-29A45A3D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43275"/>
            <a:ext cx="581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FC349-CCB5-4182-876D-C648FACF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861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HW₂ + b₂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61062-B2B9-449D-9DA4-5118B098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(m, 1)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AC26C-0DDF-4E52-8143-8CB7365B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96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EB9F8-0110-408A-9BB1-38E3C0F5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76725"/>
            <a:ext cx="581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EB2CC-D0B3-432B-8B50-00B41FB1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196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sigmoid(Z₂)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4B46E-8640-47A6-8DDD-DCFC78EC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(m, 1)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9803E0-C885-4DB5-A62D-685185B3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Cache X, Z₁, H, Z₂, and P from the same parameter state.</a:t>
            </a:r>
          </a:p>
        </p:txBody>
      </p:sp>
    </p:spTree>
    <p:extLst>
      <p:ext uri="{BB962C8B-B14F-4D97-AF65-F5344CB8AC3E}">
        <p14:creationId xmlns:p14="http://schemas.microsoft.com/office/powerpoint/2010/main" val="1427976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33989-7F66-448A-A67F-0C6AAA1F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Binary cross-entropy matches a binary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9D3C2-0B84-4213-B39C-FB90BDD9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C794B-4FC0-4B26-B030-E187FAA5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A2DAC-FBD5-432E-B8B5-A6B1D132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DCBCF-723B-4125-9D36-0615644C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ONE SIGMOID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12B7D-18DF-4A35-8AE1-2FEEB1C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p = sigmoid(z)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C6152-B416-4C37-983C-9C0C1714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0572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F88FB-88A3-4EC4-9C0F-64D0EF08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J = −(1/m) Σᵢ [ yᵢ log pᵢ + (1 − yᵢ) log(1 − pᵢ) 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CC68E-F2C7-4905-A6E2-83EAB11D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STABLE LOGIT 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6D57D-3A98-4009-9EF3-80EDF8EC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ℓ(y,z) = log(1 + exp(z)) − yz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9BC4D-EA66-4DB8-9ABC-B004E4A5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709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Output representation and objective must describe the same task.</a:t>
            </a:r>
          </a:p>
        </p:txBody>
      </p:sp>
    </p:spTree>
    <p:extLst>
      <p:ext uri="{BB962C8B-B14F-4D97-AF65-F5344CB8AC3E}">
        <p14:creationId xmlns:p14="http://schemas.microsoft.com/office/powerpoint/2010/main" val="6056558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31ED5-C7B9-4386-9DFC-1B19E426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Sigmoid and cross-entropy simplify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3BCE1-9D07-4D6E-BEAA-5F7C417A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D7A3A-593A-48EE-A738-9CF80BCA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8BC94-1BB6-40E0-B21B-BDD8BA22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96D92-11D0-4391-9233-1AB71283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chain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2BF11-F975-463F-9F82-7A32444C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28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E8354-58F2-46B4-8FD3-2FA99A50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14625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GZ₂ = ∂J/∂Z₂ = (P − Y) /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23AC7-A4E3-4D7B-93A8-54BC079D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11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This is the starting error signal for the backward pass.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144C3-E5FF-4BF6-A3BF-5210CDBC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9112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compact result belongs to this output-loss pairing.</a:t>
            </a:r>
          </a:p>
        </p:txBody>
      </p:sp>
    </p:spTree>
    <p:extLst>
      <p:ext uri="{BB962C8B-B14F-4D97-AF65-F5344CB8AC3E}">
        <p14:creationId xmlns:p14="http://schemas.microsoft.com/office/powerpoint/2010/main" val="2002931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0CAE8-9BE0-48A5-9F42-AEAD518A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Output-layer gradients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46E59-0FA9-4EB3-9DFC-B92424F2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1F0BF-9792-49BB-92DD-75084871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4B5C1-7878-4014-B5DF-41FACE99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B0D59-AA92-4EC5-8671-1A1E9AC4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WEIGHTS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ED0F9-2EA2-45DA-B8D7-6889067D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953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73C71-60BD-4991-AE4B-624D0093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GW₂ = HᵀGZ₂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EA3B6-2E81-401C-A170-26BA79F1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(h,m)(m,1) = (h,1)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69DA4-0E37-44E4-AB82-FA63D3E7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BIAS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4004F-B39D-496A-B3F3-1C11208D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37EF5-3286-45A9-985C-2AD0605A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241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Gb₂ = sum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5DDEF-D6E8-4F16-B83D-D72FAC31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(1,1)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0C0E4-2110-4B1C-89A0-B3B094C2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676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Contract observations. Preserve the parameter dimensions.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83FA7-31E2-4747-9ADB-035BB125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150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The bias is shared by every observation, so its gradient sums over rows.</a:t>
            </a:r>
          </a:p>
        </p:txBody>
      </p:sp>
    </p:spTree>
    <p:extLst>
      <p:ext uri="{BB962C8B-B14F-4D97-AF65-F5344CB8AC3E}">
        <p14:creationId xmlns:p14="http://schemas.microsoft.com/office/powerpoint/2010/main" val="2403555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6110B-68C5-41A7-9EAB-BD0BF3D9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Sensitivity moves through the output weights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FBD99-6E77-46BF-B093-D466ECEB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19BA6-9199-4AAF-A0FD-9776C346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64146-DA3A-46BE-9313-D80ED5A2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637AA-864C-4E00-9B8A-8B007DC2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29264-05CE-4C29-8D35-80DF5CF5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GZ₂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D37CD-711B-4AA2-99AE-5589211D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11430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FD0F0-E15F-4D7B-9642-FD88E7C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833AA-2303-4B86-B335-0199826C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GH = GZ₂W₂ᵀ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55F33-EA8D-41E4-BAAB-558557FB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(m,1)(1,h) = (m,h)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63279-7714-4677-83FA-4BF795B6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702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W₂ᵀ distributes one output sensitivity to h hidden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58D1E-078A-4BDF-B6E2-0209507B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7150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GH is not yet the hidden pre-activation gradient.</a:t>
            </a:r>
          </a:p>
        </p:txBody>
      </p:sp>
    </p:spTree>
    <p:extLst>
      <p:ext uri="{BB962C8B-B14F-4D97-AF65-F5344CB8AC3E}">
        <p14:creationId xmlns:p14="http://schemas.microsoft.com/office/powerpoint/2010/main" val="15147382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B5506A-6DE8-40DF-BC5D-E85722DB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tanh derivative is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5A0ED-DCA3-4B80-926E-B568C908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45430-E096-4AD5-AE55-D0EB6891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7BD7C-0473-44C7-BE92-6847A424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1DB3F-DDF3-4EA5-A65A-299E988A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H = tanh(Z₁)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B2F8B-F7E7-4FE1-9730-6B2B415A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 tanh(z) / dz = 1 − tanh²(z)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AE994-DB48-44DD-A7F9-BC0F0513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14625"/>
            <a:ext cx="9239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94E70-274F-4F9B-8DA9-6EF3BC98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95625"/>
            <a:ext cx="828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GZ₁ = GH ⊙ (1 − H²)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8526A-8A8C-4F89-84D7-CC5AA47C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19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H near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AAC3A-96F5-40A1-A95C-ADDB0B7F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958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derivative near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E92DE-1EA5-4BB8-973F-B3336CCF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19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|H| near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9D2C3-4190-49B5-9DB3-33F4A54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958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derivative near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01747-28E4-4CE5-B562-5EF028D9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102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elementwise product applies the local response.</a:t>
            </a:r>
          </a:p>
        </p:txBody>
      </p:sp>
    </p:spTree>
    <p:extLst>
      <p:ext uri="{BB962C8B-B14F-4D97-AF65-F5344CB8AC3E}">
        <p14:creationId xmlns:p14="http://schemas.microsoft.com/office/powerpoint/2010/main" val="11438733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A28F4-AE83-4080-8324-BAC393D4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Hidden-layer parameter gradients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DA801-67C7-437F-9982-6AAD9ECB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52E2D-2BFE-4040-AA9D-0290C0F4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C1622-B33E-4003-AA42-1207362D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63BED-C607-47D0-8F7F-517F4AE4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WEIGHTS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4894A-9D27-41ED-950A-E7E04C50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953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ADC19-724C-4A71-8E13-EE6FBD57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GW₁ = XᵀGZ₁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3DBEB-3A68-43B8-B1D1-2CEEA216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623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(d,m)(m,h) = (d,h)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102D5-8CE5-4D89-A7A9-30573B18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BIAS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B2741-373D-42C1-96C3-D7248D70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762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85902-1ECC-4C87-B1C5-BAC8FDDE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Gb₁ = sum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C6AA9-54F2-49BB-B9B1-6A95A024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62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(1,h)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D9832-48F0-4DF6-85F9-C8D3F226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9587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39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analytical gradient now matches one parameter.</a:t>
            </a:r>
          </a:p>
        </p:txBody>
      </p:sp>
    </p:spTree>
    <p:extLst>
      <p:ext uri="{BB962C8B-B14F-4D97-AF65-F5344CB8AC3E}">
        <p14:creationId xmlns:p14="http://schemas.microsoft.com/office/powerpoint/2010/main" val="12028292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296345-EDA1-4B30-A59F-85C4373E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Complete backward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DC610-C804-48D4-9CB6-0B7AAA2E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D2208-3A08-4495-B82C-FFDDDC05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C44EB-6726-458A-A0A4-C4BEADE6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50135-B641-4CD3-BC6B-EDCFEFA8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7968C-C066-4031-A505-EFC160AC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90675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CEC85-4ED9-491D-955B-11561C68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621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GZ₂ = (P − Y) /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9EB9A-22EB-482D-9751-AA7BA46F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A03F8-0D01-483B-B5BA-7BEE8465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38425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ED8EE-E228-4370-9800-E799C2F8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098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GW₂ = HᵀGZ₂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DB8C4-A955-41A4-AC82-69F9E2C9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623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A01CC-F48F-4CE0-9DD3-22C8316E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86175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D7D12-19F1-4ADF-8A6F-81F90DEC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576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Gb₂ = sum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0EEB6-786A-4684-A14F-1B7A5BFE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763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29A5E-6004-49BF-9BEE-089566D4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00175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2ECE2-1E1A-4AB9-8F36-4D94AAFD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621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GH = GZ₂W₂ᵀ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F0CE0-0937-4FA2-AADC-D89AD671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C63D3-C1C7-42DE-A9CA-B6CB581D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5050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7D7DA-5E29-4EDE-A154-C092D9E8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669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GZ₁ = GH ⊙ (1 − H²)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B1D59-2DB4-4380-A77C-B115A703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861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4470AF-36B0-4467-B1BC-4443DC62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9925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A7FC47-3A16-4747-9149-9223C4D4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718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GW₁ = XᵀGZ₁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6854F8-606B-4198-8F49-22F58C19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910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4BB009-FBE8-4DC1-B540-1CEF1374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2820B3-A168-4221-8ED9-D16DE196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767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Gb₁ = sum 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569DB8-C3BE-4FF1-A0CD-1FB1873C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762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48FE71-3AC7-4CB2-9403-9A005269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150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502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Backward order reverses the forward dependencies.</a:t>
            </a:r>
          </a:p>
        </p:txBody>
      </p:sp>
    </p:spTree>
    <p:extLst>
      <p:ext uri="{BB962C8B-B14F-4D97-AF65-F5344CB8AC3E}">
        <p14:creationId xmlns:p14="http://schemas.microsoft.com/office/powerpoint/2010/main" val="20401661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35A5F-3589-4A9B-B52F-590047AA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Every gradient must match its parameter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062E0-4369-40E6-B430-E1D7A6B4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8BB58-1456-4DA7-B55A-AB78B658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BAFE1-7CE9-4294-B5D4-1F5475FD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047750" y="1571625"/>
          <a:ext xmlns:a="http://schemas.openxmlformats.org/drawingml/2006/main" cx="10096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571750"/>
                <a:gridCol w="2381250"/>
                <a:gridCol w="2762250"/>
              </a:tblGrid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Parameter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Parameter shape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Gradient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Gradient shape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W₁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(d, h)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GW₁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(d, h)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b₁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(1, h)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Gb₁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(1, h)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W₂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(h, 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GW₂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(h, 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b₂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(1, 1)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Gb₂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(1, 1)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2DE58-D791-4BBC-82AB-28378801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15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705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Shape agreement is necessary.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B9469-DB90-4E1E-A61D-7D2BAC16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15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837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Numerical checking adds evidence.</a:t>
            </a:r>
          </a:p>
        </p:txBody>
      </p:sp>
    </p:spTree>
    <p:extLst>
      <p:ext uri="{BB962C8B-B14F-4D97-AF65-F5344CB8AC3E}">
        <p14:creationId xmlns:p14="http://schemas.microsoft.com/office/powerpoint/2010/main" val="14379360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2C4C1-F0F8-4E36-8D86-6A7506E9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Compute first; update second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9397C-9346-49AE-BBDF-EE937BE1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323DD-7FE3-4F22-BCDE-587D37BB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0B1C1-A97B-42C9-810D-6318039A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36EFC-A50C-4DAA-9BEE-034EDA1B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716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4CD21-DE4E-4110-9D88-36722884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459C8-B771-4F44-B110-C83719BA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FORWARD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C1563-52ED-462D-9A8D-8337BD2B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values and cache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75F3A-F29B-4B80-A701-21219CC7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95625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5801F-531B-4376-9EE0-D5E313EA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295F0-5907-44CF-98AB-C7F3E26C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3C876-D0B7-437D-82B6-D5231EF5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BACKWARD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AFA3F-B197-4011-B1C9-51DFE234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861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gradient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E1DC7-0BFE-4F65-B8FF-42242872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95625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54E57-BC18-44F9-A965-1858E0FE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5716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798A3-E03D-4B17-801A-36B31AE7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38375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BA79B-D6A3-4F4C-9551-E4AD62A6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AAB63-F08B-4EA7-A647-839F68B7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861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all parameters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203C5-66B7-4E96-AE2F-86B780D0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798"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Updating W₂ before GH mixes two parameter states.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91CA2-6AC4-4E1D-8AC0-4C0A0CB3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150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backward pass must differentiate one forward pass.</a:t>
            </a:r>
          </a:p>
        </p:txBody>
      </p:sp>
    </p:spTree>
    <p:extLst>
      <p:ext uri="{BB962C8B-B14F-4D97-AF65-F5344CB8AC3E}">
        <p14:creationId xmlns:p14="http://schemas.microsoft.com/office/powerpoint/2010/main" val="2538158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9BC42-868B-40B9-A56C-0584B14B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Centered differences check the gradients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DE795-F8ED-43D0-9D23-BA18F688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EFDF4-0767-46D4-8F6D-3E7A7B39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3C3E0-E34F-4070-ABCE-77010AAA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4C449-D2D9-4CFE-AE30-2C953FA4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10382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06CE2-1E87-4FB5-86AD-8C6E160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764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Gⱼ(num) ≈ [ J(θⱼ + ε) − J(θⱼ − ε) ] / 2ε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6313D-A288-4514-BD9B-1FC82CC8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ANALYTICAL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5CFDD-267B-401D-9254-255D47B9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backward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5D35D-2B2D-4643-B364-EF9917FD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E75F2-2B20-4339-BB77-C8F9AF3B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19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NUMERICAL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7376F-1E3C-4980-BE9F-1C225988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two perturbed losses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FE239-91E9-47EA-A82E-B9C19282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9100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2A1D4-9C77-440E-AC5D-7B09D89B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19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E5AE6-A226-4132-804B-8DB08F2D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relative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1392D-611A-494B-9464-C0774ADD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43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Week 6 maximum relative error ≈ 3.0 × 10⁻⁹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9A6B8-E66A-40E2-9487-2671B76B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626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Tolerance: 10⁻⁶</a:t>
            </a:r>
          </a:p>
        </p:txBody>
      </p:sp>
    </p:spTree>
    <p:extLst>
      <p:ext uri="{BB962C8B-B14F-4D97-AF65-F5344CB8AC3E}">
        <p14:creationId xmlns:p14="http://schemas.microsoft.com/office/powerpoint/2010/main" val="18629296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8A567-A9CD-4B7B-8500-0FBA7029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Failure patterns reveal where to inspect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A83C0-97B1-411B-8115-509BB067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5F252-F297-4297-9794-523A54AF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11871-29D4-4551-AFE9-09AAE36D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BB43C-F720-46E6-91EC-46B70DDD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SYMPTOM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638C2-4D95-4A7B-8915-BE2102E2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763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LIKELY LOCATION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206E1-08F1-4C4D-BEE9-2C918BAD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shape mismatch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22AFB-9DC4-4A51-A6B1-83F49E93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transpose or reduction axis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3847C-331F-4BA9-8245-A81E79E3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7DA08-6A5C-43C3-B03D-DA67142D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hidden gradient wrong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7EBBF-CD83-4D11-A670-C0A4B3D2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384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missing local derivative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94520-09FC-48B7-9C45-F79BCF74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F24A2-A732-48A4-AB2D-F7700369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gradients too small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720EB-1044-48A2-93CF-60E2F71A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76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mean applied more than once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73601-B8D1-491B-986A-021F1BB8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2EB10-99EA-4079-BFC7-9067F092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inconsistent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72020-7B03-4905-8D80-2D77481D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147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parameter updated too early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FA63D-3B3A-4533-8DD0-8B011CF7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281EF-2965-4C6D-8B99-F76A2F8D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nonfinite loss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52EC8-0F8F-4B3F-9576-0C7C61FF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unstable logarithm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B8C158-18C4-403B-81B1-14D27642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D28F1-50B6-45E5-9018-9E268139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check changes each 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1D4922-5AB1-44B8-839C-66F9932E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randomness or stale cache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30976-766D-44C7-B80B-EA370340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9055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Use the graph and shapes to localize the error.</a:t>
            </a:r>
          </a:p>
        </p:txBody>
      </p:sp>
    </p:spTree>
    <p:extLst>
      <p:ext uri="{BB962C8B-B14F-4D97-AF65-F5344CB8AC3E}">
        <p14:creationId xmlns:p14="http://schemas.microsoft.com/office/powerpoint/2010/main" val="66375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4D37CF-F988-4844-9146-13B1DAE1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XOR separates representation from optimization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2DFD6-FB16-4E06-AFDB-14D8EF21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4F634-5F74-4E46-9D8C-8A505996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5A713-4FB3-4362-8237-F7F9FE5D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BF375-A04B-4F3F-A041-6BBEDF72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ORIGINAL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7AD3C-F107-4930-8209-E5F103BC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17C0B-1DBB-4376-B688-30200A4A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CE67D-CFCC-41C1-8060-7F328152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81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8DC6D-B97B-438D-82DA-DCCCB184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76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79E79-9667-44F7-BAA9-C02D2032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86675-C6C2-4553-BDED-2F51470F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81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61137-3E8B-4B8E-B94E-B8FFF4B9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line cannot separate the diagonals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E7B81-979E-472F-B2A2-3E03E885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90875"/>
            <a:ext cx="1047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A43DB-0CB1-4BDC-82C8-C41C015B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76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HIDDEN REPRESENTATION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6FAC8-3BA9-4067-9FEA-F9D77A24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95500"/>
            <a:ext cx="4953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29CE0-0703-4788-9027-8B491579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D4E86-D4D7-499B-A6A7-54C42763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73400D-703A-47E3-B36C-636BF25F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19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783A4-6D06-4AE5-86A1-FF54CB55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14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49238-725A-4588-9F40-BD366561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0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F2985-02B0-4B70-B6FB-A47D5970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911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later boundary separates the groups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6E7E3D-4E93-46D0-8677-7DC0659D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9055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Perfect fit on four training rows is not generalization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8635601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D163D-4030-411E-8CE5-AEC66604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NumPy lab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37B58-4914-489B-B3A3-9FC14A1D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096E4-ACBB-4583-B078-522899D5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09BA6-89D5-4B82-AFC8-A5961B8E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F150B-9D2F-4401-9010-98F78490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858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python labs/week06_mlp_numpy.py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095375" y="1905000"/>
          <a:ext xmlns:a="http://schemas.openxmlformats.org/drawingml/2006/main" cx="10001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143250"/>
                <a:gridCol w="3524250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Linear unit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Two-layer MLP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Gradient 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not used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max error 3.0 × 10⁻⁹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Initial loss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0.6931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0.7062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Final loss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0.6931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0.0006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Probabilities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0.5 for every row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near 0, 1, 1, 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Training 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73489-EB70-4561-BB1F-5F2E69D7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56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The gradient check validates derivatives.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544BF-33AE-4739-881A-B730D6C1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05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281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XOR accuracy demonstrates fit, not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14438924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7A0D6-F386-4600-AE26-EF6CFF8C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Reproducible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BE60F-557F-433E-B0DE-8C4D3199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1E5ED-1333-4938-A45C-261EA0EB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5472B-4D58-4148-B453-C6B135E2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EEC18-8D58-4577-BA82-F23E6E70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74C3E-9C6E-4BFC-8CAB-CA9CFD89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811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commit or archive checksum; one command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96AE8-5060-4AE1-AE97-0579CFA1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FB850-3955-458C-9E49-5F3F57B1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288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F0179-02D6-4449-9C61-B35CCEDE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288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Python, packages, operating system, compute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AEBD8-AA6D-4140-85E4-EFB3ADEF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574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E33D5-F411-4C50-8EAA-F81D556E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765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9AFC1-6DB3-435C-962E-8EEA299A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version or checksum; split identifiers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47A6C-CC8F-4B5C-9F96-7A3A8FCC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051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0593E-5A53-42E7-9A79-CC006848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242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1AA23-53A4-4031-B043-8D6FA477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242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planned and actual values; deviations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210A8-7DC9-43ED-87CC-F87546DD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528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C5041-5F5C-4A4F-B081-FEF4874E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719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F67A5-3C4C-4D2C-80E9-E04B0D3C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719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training, validation, and test roles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0ECE85-8677-4B64-ACE2-F6CAD9A5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005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FC107-D15B-4F5D-B44F-5B78426A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ERROR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699367-E777-4120-A5DD-C5718C36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196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three errors or one meaningful subgroup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8A694-1CB2-4322-A6FF-1EDF330E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482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BCEEA-1A01-4F67-9D1D-CACE4346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673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E4867E-B689-4DEA-B2C5-386C8BD3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2673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claim, limitation, and next controlled experiment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B30A63-4C88-41B0-97EA-149D7FA8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00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A classmate should reproduce the run without verbal guidance.</a:t>
            </a:r>
          </a:p>
        </p:txBody>
      </p:sp>
    </p:spTree>
    <p:extLst>
      <p:ext uri="{BB962C8B-B14F-4D97-AF65-F5344CB8AC3E}">
        <p14:creationId xmlns:p14="http://schemas.microsoft.com/office/powerpoint/2010/main" val="8513302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FB0A5D-3261-48F9-8A67-3833C46E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Exit and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828AE-F38D-403F-89F3-93B2E27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95635-27F0-457E-9E24-65A2A07E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12E27-DDCA-466F-9D6D-8BD1AED7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89F79-C7D4-4647-B793-6D5E6DCE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8D373-2F7E-482A-A105-A2364A28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A6DA6-1957-41E7-8C84-2EE3C301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do hidden units need the chain rule?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ECF27-9BCD-4698-9CF0-EDF923AA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241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B4CC8-DD33-4972-B7BD-EAD6746A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813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67CFC-2B5F-49D2-8D28-503FB3F9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813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does W₂ᵀ move sensitivity backward?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4D50C-2E6D-417B-A36E-34B81F75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0517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1B703-C999-4B1A-B814-809D2633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623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FEA63-F296-423A-81A6-4C1FF8BD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623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does a low gradient-check error support?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3488C-FBD5-4760-B71F-561DB4A9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862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82048-68F5-46C5-B58E-FE5D272D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434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C3F2F-5F4F-438A-92AA-6624923C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434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is XOR training accuracy not test evidence?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3F27C-A460-4228-B123-AE09B11F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67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Next: multiclass softmax, cross-entropy, and consolidation</a:t>
            </a:r>
          </a:p>
        </p:txBody>
      </p:sp>
    </p:spTree>
    <p:extLst>
      <p:ext uri="{BB962C8B-B14F-4D97-AF65-F5344CB8AC3E}">
        <p14:creationId xmlns:p14="http://schemas.microsoft.com/office/powerpoint/2010/main" val="1466581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2026-09-06T15:41:18.6960000Z</dcterms:created>
  <dcterms:modified xsi:type="dcterms:W3CDTF">2026-09-06T15:41:18.6960000Z</dcterms:modified>
</coreProperties>
</file>