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efba6152b742bf" /><Relationship Type="http://schemas.openxmlformats.org/officeDocument/2006/relationships/extended-properties" Target="/docProps/app.xml" Id="R9764ecd4660347d7" /><Relationship Type="http://schemas.openxmlformats.org/officeDocument/2006/relationships/officeDocument" Target="/ppt/presentation.xml" Id="R8176b717f3504c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c5bdb0b4b94b53"/>
  </p:sldMasterIdLst>
  <p:notesMasterIdLst>
    <p:notesMasterId xmlns:r="http://schemas.openxmlformats.org/officeDocument/2006/relationships" r:id="Rabd9e0101a0d4d5a"/>
  </p:notesMasterIdLst>
  <p:sldIdLst>
    <p:sldId xmlns:r="http://schemas.openxmlformats.org/officeDocument/2006/relationships" id="256" r:id="Rd94f0ad706a947a0"/>
    <p:sldId xmlns:r="http://schemas.openxmlformats.org/officeDocument/2006/relationships" id="257" r:id="Recbd7367b4b44f12"/>
    <p:sldId xmlns:r="http://schemas.openxmlformats.org/officeDocument/2006/relationships" id="258" r:id="Rdc022d93e44b4b57"/>
    <p:sldId xmlns:r="http://schemas.openxmlformats.org/officeDocument/2006/relationships" id="259" r:id="R9327d6fcab14410e"/>
    <p:sldId xmlns:r="http://schemas.openxmlformats.org/officeDocument/2006/relationships" id="260" r:id="R477063415e124ad0"/>
    <p:sldId xmlns:r="http://schemas.openxmlformats.org/officeDocument/2006/relationships" id="261" r:id="R528d1bb2ac264646"/>
    <p:sldId xmlns:r="http://schemas.openxmlformats.org/officeDocument/2006/relationships" id="262" r:id="R868737db41144b90"/>
    <p:sldId xmlns:r="http://schemas.openxmlformats.org/officeDocument/2006/relationships" id="263" r:id="R81eae5af659f466d"/>
    <p:sldId xmlns:r="http://schemas.openxmlformats.org/officeDocument/2006/relationships" id="264" r:id="Rc5728cbcdbe74e10"/>
    <p:sldId xmlns:r="http://schemas.openxmlformats.org/officeDocument/2006/relationships" id="265" r:id="R1f82b9d5bdae44b8"/>
    <p:sldId xmlns:r="http://schemas.openxmlformats.org/officeDocument/2006/relationships" id="266" r:id="Rf5d27c6a5edd4867"/>
    <p:sldId xmlns:r="http://schemas.openxmlformats.org/officeDocument/2006/relationships" id="267" r:id="R0d0dc35c044747cd"/>
    <p:sldId xmlns:r="http://schemas.openxmlformats.org/officeDocument/2006/relationships" id="268" r:id="R88fd6a2976654a4c"/>
    <p:sldId xmlns:r="http://schemas.openxmlformats.org/officeDocument/2006/relationships" id="269" r:id="R86ba881038c14385"/>
    <p:sldId xmlns:r="http://schemas.openxmlformats.org/officeDocument/2006/relationships" id="270" r:id="R7eb16b23b23349da"/>
    <p:sldId xmlns:r="http://schemas.openxmlformats.org/officeDocument/2006/relationships" id="271" r:id="Rdeadde3ab6da47ef"/>
    <p:sldId xmlns:r="http://schemas.openxmlformats.org/officeDocument/2006/relationships" id="272" r:id="R47055198419c4c4f"/>
    <p:sldId xmlns:r="http://schemas.openxmlformats.org/officeDocument/2006/relationships" id="273" r:id="R52430d0a6eb14fc6"/>
    <p:sldId xmlns:r="http://schemas.openxmlformats.org/officeDocument/2006/relationships" id="274" r:id="R7e9fef6ee45f48d9"/>
    <p:sldId xmlns:r="http://schemas.openxmlformats.org/officeDocument/2006/relationships" id="275" r:id="R76c7c3f1daeb4609"/>
    <p:sldId xmlns:r="http://schemas.openxmlformats.org/officeDocument/2006/relationships" id="276" r:id="R28c96103b21c49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b3c0bcefbf4444" /><Relationship Type="http://schemas.openxmlformats.org/officeDocument/2006/relationships/slideMaster" Target="/ppt/slideMasters/slideMaster1.xml" Id="R50c5bdb0b4b94b53" /><Relationship Type="http://schemas.openxmlformats.org/officeDocument/2006/relationships/notesMaster" Target="/ppt/notesMasters/notesMaster1.xml" Id="Rabd9e0101a0d4d5a" /><Relationship Type="http://schemas.openxmlformats.org/officeDocument/2006/relationships/presProps" Target="/ppt/presProps.xml" Id="Rcf74c3dcae4f4291" /><Relationship Type="http://schemas.openxmlformats.org/officeDocument/2006/relationships/tableStyles" Target="/ppt/tableStyles.xml" Id="Rde729cfe1fb744dd" /><Relationship Type="http://schemas.openxmlformats.org/officeDocument/2006/relationships/slide" Target="/ppt/slides/slide1.xml" Id="Rd94f0ad706a947a0" /><Relationship Type="http://schemas.openxmlformats.org/officeDocument/2006/relationships/slide" Target="/ppt/slides/slide2.xml" Id="Recbd7367b4b44f12" /><Relationship Type="http://schemas.openxmlformats.org/officeDocument/2006/relationships/slide" Target="/ppt/slides/slide3.xml" Id="Rdc022d93e44b4b57" /><Relationship Type="http://schemas.openxmlformats.org/officeDocument/2006/relationships/slide" Target="/ppt/slides/slide4.xml" Id="R9327d6fcab14410e" /><Relationship Type="http://schemas.openxmlformats.org/officeDocument/2006/relationships/slide" Target="/ppt/slides/slide5.xml" Id="R477063415e124ad0" /><Relationship Type="http://schemas.openxmlformats.org/officeDocument/2006/relationships/slide" Target="/ppt/slides/slide6.xml" Id="R528d1bb2ac264646" /><Relationship Type="http://schemas.openxmlformats.org/officeDocument/2006/relationships/slide" Target="/ppt/slides/slide7.xml" Id="R868737db41144b90" /><Relationship Type="http://schemas.openxmlformats.org/officeDocument/2006/relationships/slide" Target="/ppt/slides/slide8.xml" Id="R81eae5af659f466d" /><Relationship Type="http://schemas.openxmlformats.org/officeDocument/2006/relationships/slide" Target="/ppt/slides/slide9.xml" Id="Rc5728cbcdbe74e10" /><Relationship Type="http://schemas.openxmlformats.org/officeDocument/2006/relationships/slide" Target="/ppt/slides/slide10.xml" Id="R1f82b9d5bdae44b8" /><Relationship Type="http://schemas.openxmlformats.org/officeDocument/2006/relationships/slide" Target="/ppt/slides/slide11.xml" Id="Rf5d27c6a5edd4867" /><Relationship Type="http://schemas.openxmlformats.org/officeDocument/2006/relationships/slide" Target="/ppt/slides/slide12.xml" Id="R0d0dc35c044747cd" /><Relationship Type="http://schemas.openxmlformats.org/officeDocument/2006/relationships/slide" Target="/ppt/slides/slide13.xml" Id="R88fd6a2976654a4c" /><Relationship Type="http://schemas.openxmlformats.org/officeDocument/2006/relationships/slide" Target="/ppt/slides/slide14.xml" Id="R86ba881038c14385" /><Relationship Type="http://schemas.openxmlformats.org/officeDocument/2006/relationships/slide" Target="/ppt/slides/slide15.xml" Id="R7eb16b23b23349da" /><Relationship Type="http://schemas.openxmlformats.org/officeDocument/2006/relationships/slide" Target="/ppt/slides/slide16.xml" Id="Rdeadde3ab6da47ef" /><Relationship Type="http://schemas.openxmlformats.org/officeDocument/2006/relationships/slide" Target="/ppt/slides/slide17.xml" Id="R47055198419c4c4f" /><Relationship Type="http://schemas.openxmlformats.org/officeDocument/2006/relationships/slide" Target="/ppt/slides/slide18.xml" Id="R52430d0a6eb14fc6" /><Relationship Type="http://schemas.openxmlformats.org/officeDocument/2006/relationships/slide" Target="/ppt/slides/slide19.xml" Id="R7e9fef6ee45f48d9" /><Relationship Type="http://schemas.openxmlformats.org/officeDocument/2006/relationships/slide" Target="/ppt/slides/slide20.xml" Id="R76c7c3f1daeb4609" /><Relationship Type="http://schemas.openxmlformats.org/officeDocument/2006/relationships/slide" Target="/ppt/slides/slide21.xml" Id="R28c96103b21c49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3346975a9d48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d55bd5c7504262" /><Relationship Type="http://schemas.openxmlformats.org/officeDocument/2006/relationships/notesMaster" Target="/ppt/notesMasters/notesMaster1.xml" Id="R76337b2e053a49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cc369a9e374a7b" /><Relationship Type="http://schemas.openxmlformats.org/officeDocument/2006/relationships/notesMaster" Target="/ppt/notesMasters/notesMaster1.xml" Id="Rdd180a5b38f14b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032d9cb6df4902" /><Relationship Type="http://schemas.openxmlformats.org/officeDocument/2006/relationships/notesMaster" Target="/ppt/notesMasters/notesMaster1.xml" Id="Rcd70533a168b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d1a86b34a4a8e" /><Relationship Type="http://schemas.openxmlformats.org/officeDocument/2006/relationships/notesMaster" Target="/ppt/notesMasters/notesMaster1.xml" Id="Re7bf1412a8924f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c6fe9d52a343ba" /><Relationship Type="http://schemas.openxmlformats.org/officeDocument/2006/relationships/notesMaster" Target="/ppt/notesMasters/notesMaster1.xml" Id="R52349931887c43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62670b65942fd" /><Relationship Type="http://schemas.openxmlformats.org/officeDocument/2006/relationships/notesMaster" Target="/ppt/notesMasters/notesMaster1.xml" Id="Rca35cbae89fb4f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34c1b4df4840bc" /><Relationship Type="http://schemas.openxmlformats.org/officeDocument/2006/relationships/notesMaster" Target="/ppt/notesMasters/notesMaster1.xml" Id="Rc3a06b79d3d649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2361e4e2e41a2" /><Relationship Type="http://schemas.openxmlformats.org/officeDocument/2006/relationships/notesMaster" Target="/ppt/notesMasters/notesMaster1.xml" Id="R8c411e066fc240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95e7544c404626" /><Relationship Type="http://schemas.openxmlformats.org/officeDocument/2006/relationships/notesMaster" Target="/ppt/notesMasters/notesMaster1.xml" Id="R71e7de9469be46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d7f854f2594be5" /><Relationship Type="http://schemas.openxmlformats.org/officeDocument/2006/relationships/notesMaster" Target="/ppt/notesMasters/notesMaster1.xml" Id="R7f2cb3ce222941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86457bdbc6481c" /><Relationship Type="http://schemas.openxmlformats.org/officeDocument/2006/relationships/notesMaster" Target="/ppt/notesMasters/notesMaster1.xml" Id="Rc942d432646e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27704a37c04d2c" /><Relationship Type="http://schemas.openxmlformats.org/officeDocument/2006/relationships/notesMaster" Target="/ppt/notesMasters/notesMaster1.xml" Id="Rf76bf796b2c040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84c752647e4a31" /><Relationship Type="http://schemas.openxmlformats.org/officeDocument/2006/relationships/notesMaster" Target="/ppt/notesMasters/notesMaster1.xml" Id="R5e85bea8ff9846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f5a3cb64e64d12" /><Relationship Type="http://schemas.openxmlformats.org/officeDocument/2006/relationships/notesMaster" Target="/ppt/notesMasters/notesMaster1.xml" Id="R40b32c0e360648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033be944ab4553" /><Relationship Type="http://schemas.openxmlformats.org/officeDocument/2006/relationships/notesMaster" Target="/ppt/notesMasters/notesMaster1.xml" Id="Rd9f6c69fda2c41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87602ccce246df" /><Relationship Type="http://schemas.openxmlformats.org/officeDocument/2006/relationships/notesMaster" Target="/ppt/notesMasters/notesMaster1.xml" Id="R1287f28c51774e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24ef24b8274111" /><Relationship Type="http://schemas.openxmlformats.org/officeDocument/2006/relationships/notesMaster" Target="/ppt/notesMasters/notesMaster1.xml" Id="Rbbe5b0a04d3449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0abd19429b4efd" /><Relationship Type="http://schemas.openxmlformats.org/officeDocument/2006/relationships/notesMaster" Target="/ppt/notesMasters/notesMaster1.xml" Id="R9075286d0eb141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b527bdf2331400d" /><Relationship Type="http://schemas.openxmlformats.org/officeDocument/2006/relationships/notesMaster" Target="/ppt/notesMasters/notesMaster1.xml" Id="Rafad7f0093224f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baf0f9c1fa4139" /><Relationship Type="http://schemas.openxmlformats.org/officeDocument/2006/relationships/notesMaster" Target="/ppt/notesMasters/notesMaster1.xml" Id="R2cc4bbe7aead42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5a413b14c34c8f" /><Relationship Type="http://schemas.openxmlformats.org/officeDocument/2006/relationships/notesMaster" Target="/ppt/notesMasters/notesMaster1.xml" Id="R71681249539f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what must we learn about the data before comparing models? The cover is an original generated illustration created for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Explain that Week 3 ends with a proposal whose feasibility is grounded in data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for five facts the row count cannot establish. Organize answers by provenance, measurement, dependence, coverage, and intended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Give one failure example for each dimension. Emphasize that a dataset can be suitable for one question and unsuitable for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Trace one example from collection to analysis. Ask where selection bias, label ambiguity, and undocumented cleaning can enter.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start the worksheet extract. Require source, version, units, label timing, grouping, and provider preprocessing.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Review missing values, duplicate identifiers, extremes, and conflicting labels. The expected immediate deletion count in the worksheet is zero.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Ask what process could create each missingness pattern. A blank is not automatically random or an error.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Present MCAR, MAR, and MNAR as assumption categories. Require an observed-variable question and an unobserved-process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Place deletion, imputation, indicators, and models with native missing-value support in context. Ask which rows estimate the median.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calculate accuracy, recall, specificity, and balanced accuracy for the always-negative predictor.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which counts must accompany a metric. Relate metric choice to false-negative and false-positive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Place every action in the workflow. Emphasize that oversampling before splitting can duplicate information into the test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Students complete one feature-quality screen. Ask what would happen if the feature were renamed, delayed, or unavailable at a new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students to name the first three levels for their project. A deep model belongs after a credible simple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Require a one-sentence controlled comparison. If several elements change, do not attribute the result to one component.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20 minutes. Hide results until students predict. Run python labs/week03_data_quality_numpy.py. The two logistic candidates differ only by missingness indicators.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Define categories before selecting examples. Avoid choosing only dramatic errors. Each category should suggest a check or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Separate provider-documented facts from student assumptions. Link the card headings to the problem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Students state a minimum experiment and a rejection condition. The project need not promise improvement.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Review the proposal deliverables and 30-point rubric. Collect the exit ticket and flag unresolved access, labels, grouping, and sample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71a4c00464d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7623af9694c01" /><Relationship Type="http://schemas.openxmlformats.org/officeDocument/2006/relationships/slideLayout" Target="/ppt/slideLayouts/slideLayout1.xml" Id="R39763489844240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63489844240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2dcdce1194a3c" /><Relationship Type="http://schemas.openxmlformats.org/officeDocument/2006/relationships/image" Target="/ppt/media/image.png" Id="R9f8c8f440abd4a0a" /><Relationship Type="http://schemas.openxmlformats.org/officeDocument/2006/relationships/notesSlide" Target="/ppt/notesSlides/notesSlide1.xml" Id="R18712e60e58243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4356290eb406c" /><Relationship Type="http://schemas.openxmlformats.org/officeDocument/2006/relationships/notesSlide" Target="/ppt/notesSlides/notesSlide2.xml" Id="R49709ae8459e45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5ea1cfffc4f1c" /><Relationship Type="http://schemas.openxmlformats.org/officeDocument/2006/relationships/notesSlide" Target="/ppt/notesSlides/notesSlide3.xml" Id="R8192b483aac74a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90c5645fc4257" /><Relationship Type="http://schemas.openxmlformats.org/officeDocument/2006/relationships/notesSlide" Target="/ppt/notesSlides/notesSlide4.xml" Id="R0352ad4b5a9a43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758af4a0f4fea" /><Relationship Type="http://schemas.openxmlformats.org/officeDocument/2006/relationships/notesSlide" Target="/ppt/notesSlides/notesSlide5.xml" Id="R356d9ec498a34f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2c2027174f2b" /><Relationship Type="http://schemas.openxmlformats.org/officeDocument/2006/relationships/notesSlide" Target="/ppt/notesSlides/notesSlide6.xml" Id="R71e18b69e3ab44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10becd1ba4e72" /><Relationship Type="http://schemas.openxmlformats.org/officeDocument/2006/relationships/notesSlide" Target="/ppt/notesSlides/notesSlide7.xml" Id="Rf6a1666590d242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754ac366443a0" /><Relationship Type="http://schemas.openxmlformats.org/officeDocument/2006/relationships/notesSlide" Target="/ppt/notesSlides/notesSlide8.xml" Id="Rffed2dca52994a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df5723d8448fd" /><Relationship Type="http://schemas.openxmlformats.org/officeDocument/2006/relationships/notesSlide" Target="/ppt/notesSlides/notesSlide9.xml" Id="R2bbe272d179644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5c44215b4d09" /><Relationship Type="http://schemas.openxmlformats.org/officeDocument/2006/relationships/notesSlide" Target="/ppt/notesSlides/notesSlide10.xml" Id="R87dd8a7212aa4c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e69c820b14d55" /><Relationship Type="http://schemas.openxmlformats.org/officeDocument/2006/relationships/notesSlide" Target="/ppt/notesSlides/notesSlide11.xml" Id="Rbc2740ebe58f46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806504b2642fb" /><Relationship Type="http://schemas.openxmlformats.org/officeDocument/2006/relationships/notesSlide" Target="/ppt/notesSlides/notesSlide12.xml" Id="R409b2967f81245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4502e81184832" /><Relationship Type="http://schemas.openxmlformats.org/officeDocument/2006/relationships/notesSlide" Target="/ppt/notesSlides/notesSlide13.xml" Id="R57927ac849a64f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1b780a7b54b0b" /><Relationship Type="http://schemas.openxmlformats.org/officeDocument/2006/relationships/notesSlide" Target="/ppt/notesSlides/notesSlide14.xml" Id="R467b674bca5948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7f213fa22484e" /><Relationship Type="http://schemas.openxmlformats.org/officeDocument/2006/relationships/notesSlide" Target="/ppt/notesSlides/notesSlide15.xml" Id="Rc774756f4bd341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ff97be7f84bb3" /><Relationship Type="http://schemas.openxmlformats.org/officeDocument/2006/relationships/notesSlide" Target="/ppt/notesSlides/notesSlide16.xml" Id="R61ebc0d4adb242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431310c174d6b" /><Relationship Type="http://schemas.openxmlformats.org/officeDocument/2006/relationships/notesSlide" Target="/ppt/notesSlides/notesSlide17.xml" Id="R2f076e71ea6f430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73adfff0412d" /><Relationship Type="http://schemas.openxmlformats.org/officeDocument/2006/relationships/notesSlide" Target="/ppt/notesSlides/notesSlide18.xml" Id="Rd2acc3d4ee6048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abe561697411c" /><Relationship Type="http://schemas.openxmlformats.org/officeDocument/2006/relationships/notesSlide" Target="/ppt/notesSlides/notesSlide19.xml" Id="R75aec6d203d442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4906d060d4620" /><Relationship Type="http://schemas.openxmlformats.org/officeDocument/2006/relationships/notesSlide" Target="/ppt/notesSlides/notesSlide20.xml" Id="R0d4444d7f93447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65cf60ed24be0" /><Relationship Type="http://schemas.openxmlformats.org/officeDocument/2006/relationships/notesSlide" Target="/ppt/notesSlides/notesSlide21.xml" Id="R08b93485222a4b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c8f440abd4a0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8D7B-D71B-4892-8B3F-AA127908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57F4B-1AE5-4B93-B617-0628E677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F4D8D-72B5-4D32-8E80-F678C36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1EA7-6C2B-4EF7-ABE0-D2F8490C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111F1-D019-46B8-BC92-F94993E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5476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quality and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controlled model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08024-BC44-433B-ADD2-AF9B964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683338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051EA1-0C3E-4F09-8502-200273F4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752C6-3943-4A3C-9E0C-14D408A7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42278-BB8A-4455-85E2-284A2106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F8C1A-01F8-43DE-B9C6-D9DCBDA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F4364-750D-4D78-B4ED-E560B65D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Each student will produce four visible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7050F-8DB1-4CCB-83B8-5D056C5D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52607-F111-4AE9-9406-B9C3FD0F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76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8D6F3-5717-4485-9E70-20B4500A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764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Observed issues separated from explanations and required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948A3-9B75-49E3-AB3D-0A49E42D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032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6F194-3E41-497F-A47B-B724FDD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AA83E-4933-483B-AE82-566F32B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Quality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15A95-2468-4C4C-B0C5-600C82E7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Missingness and imbalance connected to the intended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8BC9E-2BCD-47BF-A37D-ACB12837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00450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236F4-575F-40E1-98F7-571613FB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DFD11-391C-48FB-B960-AAF56A50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76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Comparison protocol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E688-87B9-4A50-9D40-BDFA098F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7667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Candidates evaluated with fixed data, metrics, and selection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86AAFB-AD6C-4CAC-AD43-67AACF2E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005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84A8F-62F9-4D04-83EA-742E6995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49E50-7D33-4628-9779-AF566A4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768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Proposal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C8FAB-EC07-4BE7-9B78-46AA22A7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feasible research question, dataset, baseline, and rejection condition</a:t>
            </a:r>
          </a:p>
        </p:txBody>
      </p:sp>
    </p:spTree>
    <p:extLst>
      <p:ext uri="{BB962C8B-B14F-4D97-AF65-F5344CB8AC3E}">
        <p14:creationId xmlns:p14="http://schemas.microsoft.com/office/powerpoint/2010/main" val="18303071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C9E85-CFD1-4779-B251-B9FA786B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dataset has 1,000 clean rows.”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D235D-DF13-487C-BBF9-19268901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7F822-4842-4D99-BA2D-EDD3C8F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6AF2A-A7BC-4FB6-B771-03EBF92A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318D9-EC72-4F3B-BE05-1D750BE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38132-791E-4318-A833-DE3A06EF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078E8-BE83-4357-9B02-5491EFD6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76375"/>
            <a:ext cx="0" cy="404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E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2FBF-502A-4BEF-B34A-1DB814F7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STILL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0611F-ECAD-4EC9-A6A3-59F6601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E7B1F-19A1-429E-900D-5475D62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observations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4B0F5-3F64-407E-B5CB-D4052D5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8DB2F-8723-430F-94D1-9BE05405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 measurements and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CD901-B8C6-4D83-9187-9C96292F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0E120-DF09-4471-96E4-241636B8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and group 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E2746-B464-4E2C-B8B4-885083C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07161-B66E-407E-8D0D-C2AE881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195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Prediction-time availability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29F71-EBE4-4744-AC19-96E36F51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ADFC67-402A-4E07-ABDC-D57F835E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67250"/>
            <a:ext cx="4876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Permission and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0AF07-7D83-485E-9A6B-072D2A1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10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Row count measures storage, not trustworthiness.</a:t>
            </a:r>
          </a:p>
        </p:txBody>
      </p:sp>
    </p:spTree>
    <p:extLst>
      <p:ext uri="{BB962C8B-B14F-4D97-AF65-F5344CB8AC3E}">
        <p14:creationId xmlns:p14="http://schemas.microsoft.com/office/powerpoint/2010/main" val="4893695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CBFC3-FC13-4C98-B4F7-EA3AF16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 quality has several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D3FB6-AEB9-4704-9218-4EEF6279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E5E19-C303-4097-A521-80DAF2DC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D951F-1DD6-4717-9328-9A0B586F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E1F35-BD6E-4988-82DE-E2C42CEA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4F440-DBBA-4812-B90B-6C99C16B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975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B7472-516A-4E16-8D5E-BF097C70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05050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source and permitted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1419B-B4C0-4D43-9F50-01EF0C69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6E0F7-24CB-47A5-AE97-231CBF7B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0975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AA627-FC26-40A0-84E2-4B9544F3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observation and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46DC8-CEE8-4E99-B5A1-D2B0BC3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BCAA6-C7EA-42E8-A04E-33EFAF0C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0975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Completeness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C42D0-DA31-4911-804C-2C46102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05050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missing entries and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FE15D-F26E-4197-AA7A-1806814E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4F3C9-71CC-4259-8F6A-438C381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B6957-2EA1-488C-8D45-0A9B3B11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05050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ranges, units, and consistency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375FA-4CF2-4CA7-8727-112D1EFB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78DAB-2990-48F7-A4BF-8AD9CA18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576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Dependence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AB376-17B4-4335-893D-A31F97C6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52925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duplicates, groups, and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41B235-701C-404D-B70C-4F8A812E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67125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E2F1A-B4E0-4489-816C-10450BF3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576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Labels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564156-D688-4C66-B7A7-3378944A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52925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timing, ambiguity, and noise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FE8FA-55E5-417B-A6AC-B0D44D87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704E37-7D27-4963-8BA4-3015E925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576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21D59-B3D3-432A-9366-B5CDA2A7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52925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classes, sites, and subgroups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61AF00-3C21-4AFB-9A63-12D62448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2619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14E9D-1F62-4F8A-BC1F-7A25A7D0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57625"/>
            <a:ext cx="2200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Availability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9BAEDA-C70E-4A7C-90E8-9E480732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52925"/>
            <a:ext cx="22002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features known at prediction time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BD61F6-3A8F-4B84-96F8-87854703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578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Quality is relative to a task and claim.</a:t>
            </a:r>
          </a:p>
        </p:txBody>
      </p:sp>
    </p:spTree>
    <p:extLst>
      <p:ext uri="{BB962C8B-B14F-4D97-AF65-F5344CB8AC3E}">
        <p14:creationId xmlns:p14="http://schemas.microsoft.com/office/powerpoint/2010/main" val="453016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E99FA-F7D9-4A0D-B77F-4CEE6989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are produced, not found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8A723-0694-40A8-AF7E-DFEDF202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B92F7-7242-4171-99EC-1E3FA19B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F404E-2D67-4944-B907-E78122E6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F2700-7349-4674-BCD6-CDBCDAD2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2A688-4B21-480B-A42B-19698A3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D3B5-BE77-46C0-AEDB-A88A45C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FF904-941E-4C5D-A4B5-7E196307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51314-22B6-4171-9673-7479B04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5BE87-C763-48F4-A421-B9D8990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344EB-B03A-4B3D-A4AC-C37D5AE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9E97C-8499-4D8A-B101-9DF68F4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8DC3C-55F5-44FE-89D8-98BD800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FF28A-D6A7-4EC9-A2EF-FF90BFD0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FFC93-E6A8-420A-9718-8CD5FF8B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DC83F-5AD1-4065-9E6D-EF3001F1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E72C6-C001-4B51-8CF1-867D2F8B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20BE0-55E7-4CD5-8E57-8F2DBF0C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5BD3D-AD55-498A-B70C-0BBF1C57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2C6D9-330F-455D-8773-A9E3098E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E4F27-3FA1-434B-B4CB-D4C2873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ECEFB1-9EEA-42F9-85BE-9759C683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66431-D2C3-4952-A42B-B4D7D7B9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AB342-7CB9-4241-8E4A-D81E5C11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F2E1D-8447-46B1-B5B8-8305BEA1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3D0AE3-7268-4E59-9F8B-8B916C94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9B571-4D59-4C34-81E2-FA0C217D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B0A88-519A-4972-A65D-03A9FF34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43225"/>
            <a:ext cx="2381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DCD95-A221-4338-A065-76C893BC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476500"/>
            <a:ext cx="12858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502E30-5801-4F1F-B079-4895002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6479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74477A-1021-41B4-9C13-4573ED1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12420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03973B-1724-4D46-8CB9-013682A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146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stage can shape the pattern a model learns.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4E97D-968F-49EE-AD36-93D29262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21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Record what happened before the matrix reached you.</a:t>
            </a:r>
          </a:p>
        </p:txBody>
      </p:sp>
    </p:spTree>
    <p:extLst>
      <p:ext uri="{BB962C8B-B14F-4D97-AF65-F5344CB8AC3E}">
        <p14:creationId xmlns:p14="http://schemas.microsoft.com/office/powerpoint/2010/main" val="1788505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D062B-6136-47D0-8994-DB763EA3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Audit before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D3222-134C-4CF5-8781-6A1EB24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24E53-19CB-43FB-925C-F0656187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99E07-ED5A-4A74-A153-EE3424DA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CFE51-9521-4BA1-AE06-EBDF4840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PROVENANCE AND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FDB46-96AB-4582-95F0-C87F4C63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44B3E-7EE7-410B-B5FC-ABB62C1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4638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Source, version, and license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C6093-805A-4AF3-B6A4-2EE5055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A08B2-3B05-4454-B63D-BAF50CA2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638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Observation and grouping unit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ADD4B-B7E2-4E9D-9451-326770D6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45E0A-19CC-4AE2-B292-D4EE5244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4638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Feature types, units, and ranges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F1CCB-8C65-4D9A-96C4-8BD9361E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AA097-0E64-4C83-9F48-81BB971B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4638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Target definition and timing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73001-3927-4211-B2B3-1CF43565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4195E-86EE-4BB6-94B4-1FA3A63A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9625"/>
            <a:ext cx="4638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Class and subgroup counts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E24BC-48E4-41B5-BC15-894FC054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2400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879BA-1845-4CEB-A9E3-27CC25C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QUALITY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B8A23-BCAD-4CC3-B6F2-4AF348F2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B6352-7CED-49E7-9CE1-B300BC2A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5262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Missingness by useful slices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D0A95E-D887-4AE5-A342-90D13EDB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494D-0283-425E-A063-7DA71D44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1937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Duplicates and near-duplicates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757044-4898-432B-8155-A8D1C48D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8E179-6470-4E64-89E1-EE40E976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8612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Conflicting or uncertain 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124D9-70CA-4E3C-AE7F-00AF748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E256C-76F6-4618-AA86-57FC3714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5287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Outliers and impossible values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ADB97C-D05A-4F70-9A76-2BE4BF4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7B6B21-1F7C-4D3E-8B40-915B304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9625"/>
            <a:ext cx="449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Provider exclusions and transforms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D23FC-53CB-4F79-B770-7DF82C2E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5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 audit identifies questions before it prescribes deletion.</a:t>
            </a:r>
          </a:p>
        </p:txBody>
      </p:sp>
    </p:spTree>
    <p:extLst>
      <p:ext uri="{BB962C8B-B14F-4D97-AF65-F5344CB8AC3E}">
        <p14:creationId xmlns:p14="http://schemas.microsoft.com/office/powerpoint/2010/main" val="308191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657F2-B9E6-4E29-9A97-C4CA0271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Suspicious is not the same as wrong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9279A-05E0-4FDF-8E38-297270C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3D402-55EE-4C65-83B5-0245219D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94B1F-3ED0-4A76-8781-AED89294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DB30E-DA63-49EC-BE5D-AC6009A3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238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83C83-E8FD-4131-A1BA-CDCAC585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24A1C-0E9D-4A87-9FC0-CB1C9633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feature_b = 999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AAE03-B2EB-41AA-BAD0-FA3B4EF4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DEAD8-1FF1-4910-B1B5-03F05FC7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238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A3E15-C324-4B6D-8CD3-3B0AC705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BBDA7-92D8-4871-956B-B4567785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90875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error, unit code, or valid extreme?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255BA-A07F-4062-B025-CE50903C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3B549-9B56-4420-83E9-B3895082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238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28575">
            <a:solidFill>
              <a:srgbClr val="2B7A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6FD51-A01E-466C-B0AD-BE57CEE2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B7A6D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704FD-6DB9-4072-B661-5A197B85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99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schema, source record, range, and timestamp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AEAE1-0A4D-4A5E-9977-2E01A67C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648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Delete only after the evidence supports a documented rule.</a:t>
            </a:r>
          </a:p>
        </p:txBody>
      </p:sp>
    </p:spTree>
    <p:extLst>
      <p:ext uri="{BB962C8B-B14F-4D97-AF65-F5344CB8AC3E}">
        <p14:creationId xmlns:p14="http://schemas.microsoft.com/office/powerpoint/2010/main" val="1690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18B46-4C6B-4245-9569-30BCEA0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Missingness is a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55B43-E260-47B1-8F5F-4D7AF7A3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BE1D8-9EEF-4969-A73B-061DBAB3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6E51A-AB50-4129-8017-07CF9092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D122F-2195-4255-9583-4DE81AB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OBSERVED DATA MATRIX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A0307-E947-47E9-AE89-9F1BCD5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4596E-33D7-4170-956F-D7DF8C5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38A5D-952F-41DE-B5A2-1E59159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F54E0-4581-4307-93C9-BAAA7AFC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6B070-F340-4CC2-97F3-4EE1F6F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A8E04-ED40-49CD-9A8B-01D32D09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5C097-ED5C-4B63-BB46-B8DE04E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F8CC8-2CE2-4AC5-A432-29A99B66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DA9FC-DF65-4038-A115-DA50A110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95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67DB1-EADE-4D77-9E4A-57F7FA82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7D57E-FDDB-461F-94ED-1D3F374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FD939-F782-44D1-A14A-F978136D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CF4A01-8935-4493-A3A2-A31743C0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7D96C-2305-45C0-94A1-7C0AE157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F769C-7AF3-47D7-B0D5-B738120D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02D7B-D013-4C82-922E-3B451C2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13087-37C0-4D55-8A3C-A7EB5D8D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368CF-BB14-4B01-9BD5-F3A6A1B2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64216-AF22-4C7A-B99C-80AA628C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092E8-BE14-4E07-BE79-81BBB631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A7EAC-6633-43B1-9CC5-E61E134D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B2CC96-F70C-424E-B091-C13BBD0E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4DD41D-59EC-4EFE-91AB-DDABDD0C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0EBE08-3492-452A-BA68-97F86ACB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9E060-982C-41DA-8A75-5ED30977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F77E7-01DD-4324-A277-AD4D5A42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1D9C47-9E6D-40DA-92D7-34D330C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09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8768FC-0E2F-4323-B1D9-D649758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61C423-F61E-4B8E-B88F-B0679089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AFBFD-3457-40D1-94BE-F5BFE0F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DA231F-FD4D-42E2-B51C-0C63DB1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E3B083-AD28-43B5-8252-5BC6ADCB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2ABF54-0E43-4906-BF55-79CCEB21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3E36DA-6459-41D4-B2A6-E8EFCAB6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E5527E-9F96-4CDE-A5D3-75BC2D5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7A0914-8D40-432D-9E51-F8A9282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88D590-40AA-4842-BFB0-86EA6C0D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76C362-4DBF-45CC-8EAA-6D878279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0E9C30-7958-4BE4-A55B-428496BF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518DA2-DCC2-49C7-A580-D6765B0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85ABED-5572-421F-8CC6-9F352B0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BB0A29-13E4-44A4-90BA-F9F8360D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57160C-6D7E-4199-9B64-87E2B500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117411-4884-4F9E-A10B-163E412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DD5534-790B-48CE-BDAD-51E1CCC7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24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0BD1A-80CA-4D96-A3F0-7C636AE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CB6825-51DC-4FE3-8324-24373019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A2C6A0-C723-49B5-893A-D3EF2A9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5C2A63-B3A9-4AD6-A5DD-8389244F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A0250F-6112-4C6D-AFCF-194DD50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DB4FE3-0734-4F82-98ED-84C16662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E5ABE37-0EA1-4104-B3F8-BA8A963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729B55-020D-4AEE-AC1D-F504DE22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B61862-C8AA-4AAA-A875-444E94C7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81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A7A5"/>
          </a:solidFill>
          <a:ln xmlns:a="http://schemas.openxmlformats.org/drawingml/2006/main" w="0">
            <a:solidFill>
              <a:srgbClr val="10A7A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30A809-8AFC-4DAE-88EB-25CC2ADC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929700-F4EF-4DD0-A9DE-57844800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F84002-7BC9-438D-AE44-A1804137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81DE23-4B36-402E-AFC6-116C9FA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060E06-0078-418C-90AD-2759D991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0571E3-D9BA-46A8-B1CE-30D1FC64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C61459-618E-4B1A-BCC3-598E1EEF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865758-5CA2-4432-A6A6-6ED7EEFD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EFD71D-6756-465F-8489-AF9F59C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8387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F48184-E1B2-4069-A3D1-36D97118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A4C079-A1A3-4AD5-890B-39D3C75C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 BLANK CAN MEAN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45E1A8A-910F-4C2E-8256-B74B35F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BE890B4-E624-4866-97C5-B26D952C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Measurement failure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278FB2-C029-4AD9-AF24-E6F5697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0DC1EF8-ACB0-4953-B9E1-2920BBB7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95575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Question skipped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87CE82-F191-474C-85D7-9A6DCACC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EFBC58-0F6F-4CAA-B835-AECFBADA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43275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Not applicable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E1135A-CC3D-4204-960F-7395AA6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5BA3F8-43E6-45FA-AA26-CECD966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90975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Access denied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0A73FA-0958-4A0A-8826-C4BDD83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3401B80-D80E-47D8-8BD7-44BF9DDC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38675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Unavailable at that time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5FA8E9-DB62-43CC-A165-19F29662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97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Compare missingness by class, group, source, and time.</a:t>
            </a:r>
          </a:p>
        </p:txBody>
      </p:sp>
    </p:spTree>
    <p:extLst>
      <p:ext uri="{BB962C8B-B14F-4D97-AF65-F5344CB8AC3E}">
        <p14:creationId xmlns:p14="http://schemas.microsoft.com/office/powerpoint/2010/main" val="400313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90B91-7EE5-4747-AA02-25F3514F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Missingness mechanisms guide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54535-76DC-419B-A9F3-F8772E2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E57CF-F3E0-44F1-8A2C-BE65477B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7BABC-F416-455B-B8BF-54B27684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476750"/>
                <a:gridCol w="4762500"/>
              </a:tblGrid>
              <a:tr h="928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assumption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to investigate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MCAR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Unrelated to observed and unobserved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Could a random process explain it?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1440" marR="91440" marT="45720" marB="45720">
                    <a:solidFill>
                      <a:srgbClr val="F9E3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Observed information explains missingness</a:t>
                      </a:r>
                    </a:p>
                  </a:txBody>
                  <a:tcPr marL="91440" marR="91440" marT="45720" marB="45720">
                    <a:solidFill>
                      <a:srgbClr val="F9E3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Which recorded variables predict it?</a:t>
                      </a:r>
                    </a:p>
                  </a:txBody>
                  <a:tcPr marL="91440" marR="91440" marT="45720" marB="45720">
                    <a:solidFill>
                      <a:srgbClr val="F9E3AE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MNAR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Depends on an unobserved or missing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What selection process remains hidden?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0561D-03BC-489A-B20F-4969392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150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4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 missing-value table cannot prove the mechanism.</a:t>
            </a:r>
          </a:p>
        </p:txBody>
      </p:sp>
    </p:spTree>
    <p:extLst>
      <p:ext uri="{BB962C8B-B14F-4D97-AF65-F5344CB8AC3E}">
        <p14:creationId xmlns:p14="http://schemas.microsoft.com/office/powerpoint/2010/main" val="14711566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A9236-5115-4CFB-B6B0-00A7B6C3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Repair without crossing the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B7570-E90D-48DA-89DE-E83B3699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6C4D7-D032-4C2B-9EBA-220731C9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149A8-0112-4761-8B85-62B704DE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98373-ABE6-4424-BAA9-0649D55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AF47F-7182-4AA0-B39A-0841B1F0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95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24C5E-6593-40FB-A326-C64D0C9C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ECA0A-E222-4043-B0BF-073E0ECD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2AA8E-459C-4793-8201-56ACCE59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04DBE-04DB-4DFA-96C4-CD80F246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95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39341-D699-427C-890A-C2EF5E20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4325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Fit imputation</a:t>
            </a:r>
          </a:p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BE9F3-5C34-4390-8A47-FDB5BBA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A47E1-C014-45F5-B36D-B5A82E98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88866-67AE-4E78-8DE9-A91839F9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95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D4C2E-86DB-41E2-A28B-350B82E0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4325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07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Append documented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indicators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BB61B-8E2F-4A2B-9CF4-BDCC49A0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83A0A-0912-4AA2-ADAC-29BF5E98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A1AA8-7AB0-428D-8FE1-551AA411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E8C45-3A1C-4622-9153-FBD282C7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4325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0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+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F4C021-A182-4E43-8E15-283BF993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4800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345BC-3217-46DF-A7FC-576222D0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860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BB2BD-CEA2-45EB-B84B-0334EF09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95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65DD2-F824-4C90-AFFA-337B4908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143250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stability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slices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81ABC-CD67-4507-A014-8C34F894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01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219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Imputation creates a representation; it does not recover truth.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91E31-FF31-49A2-99E0-320B98F6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572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2B84B"/>
                </a:solidFill>
                <a:latin typeface="Arial"/>
                <a:ea typeface="Arial"/>
                <a:cs typeface="Arial"/>
              </a:rPr>
              <a:t>Every fitted value comes from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2924928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FF417-A4BD-49DB-8F78-8F224B3E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Imbalance changes score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DA438-E4E0-4128-B01D-E211D486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5F012-2DF3-4211-BA04-2D925D83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7F9A-F64B-442A-8D94-73E72AD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BA831-1C25-4D2B-B319-E162785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61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86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38D7C-8C86-43BB-BE76-BD906AD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positive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98BA5-2540-4F6D-9A3A-1EFE73B6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24125"/>
            <a:ext cx="114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3DEFE-54A6-41AD-B959-3DEA981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76375"/>
            <a:ext cx="5334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F9A32-79E8-4FCE-BB6B-881E6B15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5737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Always predict 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59707-C3AA-44D3-BA72-F32D0FF8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accuracy  0.880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722FE-BD68-4599-A576-500A877A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positive recall  0.000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4C4E6-8D39-433C-8CB0-23E7119D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05375"/>
            <a:ext cx="771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733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high average can hide complete failure on the rare class.</a:t>
            </a:r>
          </a:p>
        </p:txBody>
      </p:sp>
    </p:spTree>
    <p:extLst>
      <p:ext uri="{BB962C8B-B14F-4D97-AF65-F5344CB8AC3E}">
        <p14:creationId xmlns:p14="http://schemas.microsoft.com/office/powerpoint/2010/main" val="14355296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9DAC49-7ED8-4BF1-8935-457B12A2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Start with counts, then choose a metric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D6359-37FC-481A-BD81-3778E6F1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599A3-D86C-485B-A41A-A5FF2CD0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3DAD0-E081-47D0-B60F-D915D4A4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54CBD-C810-4D43-B625-9D430CC0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33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A1A67-3B64-4EA8-A8FB-B18ABAD0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ADCB5-6DFB-447D-BC8A-AC5B95A9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positive and negative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855D5-3B8C-472E-A5BA-6E363D2E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333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0C87B-71F1-40C8-A213-F79D7007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Confusion cells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3B4A8-6799-499A-9E39-B8DA2036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TP, FN, FP, and TN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90911-6B41-4EF3-82F4-3730F596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333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5A1BB-7E18-4FF4-8ED2-2803B95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Group counts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3AC9B-4394-410F-9F0A-18608113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sources, sites, and subgroups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D62AA-CEB0-4716-9E15-49876A3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23336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6F181-89F9-469A-8FCB-BD0854DC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Prevalence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7120D-7EDC-4D1D-8E93-051F5FD7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collection and intended-use rates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6CBB8-DE2A-4F88-8AA7-98B6E56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24375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Recall • Precision • Specificity • Balanced accuracy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6AC0E-BF01-4C8B-8D9A-B5D1139A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29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Select through the decision cost, not the model name.</a:t>
            </a:r>
          </a:p>
        </p:txBody>
      </p:sp>
    </p:spTree>
    <p:extLst>
      <p:ext uri="{BB962C8B-B14F-4D97-AF65-F5344CB8AC3E}">
        <p14:creationId xmlns:p14="http://schemas.microsoft.com/office/powerpoint/2010/main" val="8746647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83667-50E2-4E15-BB47-A641F378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Responses to imbalance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E1208-0CED-473A-A52B-5A0741AD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4709E-991D-483A-BD6A-D1487875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DA612-CA34-467E-A133-8DEF9EC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08261-C1D5-4741-9A35-D302DA9E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5889B-C94A-461E-A3C9-64766180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7BE46-787D-422E-91E1-C9E8DBBD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more rare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8F201-1F2A-4B81-846F-244C63BF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D12E4-3C6C-4AF1-98E2-24604A49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097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Weight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ED547-2F09-4E47-9E5F-4FF69AE8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050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loss by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EE8BD-EBF0-48B8-BA6C-4FC5AA05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160F3-800C-49B9-A360-E8DFBEAF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097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919FE-F477-4222-92C2-707B34CA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inside training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0A868-0678-4942-9FBA-66540335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00DE7-8331-4A4B-83FA-921D6478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Threshold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0FC4D-19D2-4E9E-B6C7-CCED4DA2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with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E2ED4-8F9A-49FF-8AFC-C3B242FB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7DA9B-A543-4EE6-9FFF-C77DF5D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052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Stratify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7B0C1-0E15-4CD4-AD7D-DEB9ED8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005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observations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8EA8B-7F8D-45AA-A004-7A19E0CC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C56F4-851C-40F2-8E5B-5304C85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23E90-E69C-435A-97F0-CF2E78FB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00550"/>
            <a:ext cx="2819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class-aware 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9597E-CBFC-4C4D-B5EC-711F298A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2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Training prevalence may change. Deployment prevalence does not.</a:t>
            </a:r>
          </a:p>
        </p:txBody>
      </p:sp>
    </p:spTree>
    <p:extLst>
      <p:ext uri="{BB962C8B-B14F-4D97-AF65-F5344CB8AC3E}">
        <p14:creationId xmlns:p14="http://schemas.microsoft.com/office/powerpoint/2010/main" val="16070572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A628B-36FB-44AE-B479-FFC5D188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Screen every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77655-A597-4DF0-8B9B-925D97C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DE279-A5BD-4470-AF9E-4A58EB7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9F3F0-98C9-491C-8897-9CBB320D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0D1E2-D467-434F-BD15-D75F792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050B6-36B8-4844-BB88-AFDCDDE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AVAILABLE?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DB8DC-38D0-4048-9FCD-E1DB16F4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Known at prediction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5B111-DFF0-4E54-B29B-CBB1DE89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96600-2DC2-4E33-978A-04B2B0D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MEANINGFUL?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2EAD3-B66C-43CF-98A6-55370CE6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Generation process understood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B53B8-80AC-4203-9D45-1CCABB8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F0D9D-B97C-4E08-AEB8-8CC17A51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STABLE?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33CED-96E1-47AF-B09C-A25FBBB5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Definition likely to persist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C7792-A7FE-46DC-B3AA-AF27815F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58863-8329-4DA3-834E-929253D0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COMPLETE?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32DA1-615D-4A09-840C-CC2AAADE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Coverage across groups and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C3499-6F27-4EDC-959F-6A1E0AF4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671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5EFEB-71EE-4EA2-80A5-C9004B79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SAFE?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2AB3A-6103-46B4-A053-A39C8070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Privacy and access appropriate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FD854-6A30-4BDD-BA9C-ED9C3101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3333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BC067-4C30-4353-B265-38EA870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576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LEAK-FREE?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408F4-73F3-4EB9-ABF0-D5FC3BC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9146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No target or later consequence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C1921-3CDC-4FD7-B53C-16790C44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857875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5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predictive feature can still be unusable.</a:t>
            </a:r>
          </a:p>
        </p:txBody>
      </p:sp>
    </p:spTree>
    <p:extLst>
      <p:ext uri="{BB962C8B-B14F-4D97-AF65-F5344CB8AC3E}">
        <p14:creationId xmlns:p14="http://schemas.microsoft.com/office/powerpoint/2010/main" val="20453448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F549E-649E-4B87-8B5E-EA73F0B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Build a baseline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C0FA1-7A87-4958-BF4D-0AA8F799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B1606-9BCF-48A6-A1E7-E0C6F6B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76CF5-D7C9-418F-B486-C91CCDF7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819C8-51FA-4F5A-AB4B-4C5514E7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4787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EE35-FD45-4A0B-A618-4B6C3A9E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4003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8FDB2-B2D6-4A84-821C-C404F64E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Constant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FD54D-C9C7-4233-9692-0A8B07B2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prevalence or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6A6D8-AB9D-4366-8FBD-F55E220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19300"/>
            <a:ext cx="2047875" cy="210502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14F0C-0F60-4658-B42E-3A1F4C6C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288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A0EE4-DE6D-4CD3-834F-760421FC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80035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Domain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F3ECF-57AD-4D3A-A217-0EA7FF1C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528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simple expert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42A5D-A510-4A05-8AC8-F10D5844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847850"/>
            <a:ext cx="2047875" cy="244792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0D2B0-E503-43AC-B107-9BF74CDE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D5020-753B-4CEC-9B78-F6B4C211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289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Linear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F7900-021A-4902-B04D-AAF4A053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813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logistic or 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C8458-6F15-4F80-9212-0C577DEC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676400"/>
            <a:ext cx="2047875" cy="279082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0A5AE-268D-435D-920C-57230990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859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3DCC6-E7C6-4090-B1E4-92D56CAD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45745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Established method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E1DE8-C445-45F5-8281-60B3857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099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539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credible conventional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576AB8-CBBB-4F60-AEDA-44A4189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504950"/>
            <a:ext cx="2047875" cy="313372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3AF42-D8B3-4B89-BB70-E744E0EA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7145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B5F0D-B864-49A5-9891-E9349B8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286000"/>
            <a:ext cx="166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Flexible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1F134-BB37-4E91-AC4F-A080006B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3845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CFD8"/>
                </a:solidFill>
                <a:latin typeface="Arial"/>
                <a:ea typeface="Arial"/>
                <a:cs typeface="Arial"/>
              </a:rPr>
              <a:t>added complexity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B92ED-8DC2-4FCE-9622-7338FDD9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8102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Each step must justify added complexity.</a:t>
            </a:r>
          </a:p>
        </p:txBody>
      </p:sp>
    </p:spTree>
    <p:extLst>
      <p:ext uri="{BB962C8B-B14F-4D97-AF65-F5344CB8AC3E}">
        <p14:creationId xmlns:p14="http://schemas.microsoft.com/office/powerpoint/2010/main" val="14297750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62789-811A-4B80-9BEB-25A2216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Fair comparison changes one named factor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B828D-A5E6-49D5-BC82-2770F3B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623F6-0520-4639-8934-7B741D2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1E32C-3CBF-4609-9BC7-B5D58DF7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16D49-5D85-4CA2-A1BA-78720F11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714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75F0C-D8B5-4797-AF0B-F7F9E6AE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573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Candidate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9303C-0D81-485D-ADA7-D0B9F836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52675"/>
            <a:ext cx="329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imputation</a:t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logistic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ABB3A-0B90-4B76-8974-65A4300F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66875"/>
            <a:ext cx="3714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F909C-BB4D-49C8-8EC7-B4B7E724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857375"/>
            <a:ext cx="3295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Candidate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5A235-1122-4AFA-AAD5-BC548343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352675"/>
            <a:ext cx="32956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imputation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missingness indicator</a:t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logistic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0E5E6-F431-40E5-A7AA-DC8E4898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6192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F293F"/>
          </a:solidFill>
          <a:ln xmlns:a="http://schemas.openxmlformats.org/drawingml/2006/main" w="19050">
            <a:solidFill>
              <a:srgbClr val="4561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84033-524C-4AEE-A06D-1E97CC6A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573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FIXED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E6F11-B853-40D8-9DC7-150AA90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 indices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eligible data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preprocessing rules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 definitions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tuning budget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73E5A-CA84-4DB5-AB79-AB0D147B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053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7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Named difference: the missingness indicator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652CA-F3F7-4CF8-A56B-41121E8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6673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Several changes create a system comparison.</a:t>
            </a:r>
          </a:p>
        </p:txBody>
      </p:sp>
    </p:spTree>
    <p:extLst>
      <p:ext uri="{BB962C8B-B14F-4D97-AF65-F5344CB8AC3E}">
        <p14:creationId xmlns:p14="http://schemas.microsoft.com/office/powerpoint/2010/main" val="20655749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5623F-8EBD-4DC7-8FAB-B703D46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Week 3 lab: one protocol, three candidates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05D9F-7946-47C6-BE04-A5CCBDC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611E4-5FE5-4C06-B2C1-A237C06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6F20-478D-47B5-B23F-349CA992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5375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2190750"/>
                <a:gridCol w="2476500"/>
                <a:gridCol w="2047875"/>
              </a:tblGrid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Balanced accuracy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B65353"/>
                          </a:solidFill>
                          <a:latin typeface="Arial"/>
                          <a:ea typeface="Arial"/>
                          <a:cs typeface="Arial"/>
                        </a:rPr>
                        <a:t>0.880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B65353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B65353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Median-imputed logistic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Imputation + indicator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0.780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0.857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0.958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F1291-D0EA-47E3-924E-A10ABF9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82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Accuracy favors the majority rule; class-aware evidence changes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14519004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F915B-9D63-4416-AC39-2ECF800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Error analysis creates the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885EC-2668-46C9-A2BB-27A5EF5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73C46-BAB4-4AFA-A0F4-09C150BD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23DFA-B6DB-4ED1-B148-042F2947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BB0C7-B551-4400-A8D6-6AD44E99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A05DA-9226-4ED6-95AB-926F0DAB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Low-quality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4FB2A-B69D-44A5-9BC4-F5DD0F3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repair or 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C9E6E-19CA-4CFA-9240-0AC0E8C4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934865-EF25-403A-A983-1D9CB4DF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Rare class or subgroup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29084-3D58-41F3-8824-26622E2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targeted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A4278-AFDD-43B9-ACFB-C0BAD4D7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73355-E78F-47D3-90F3-E6D0781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Boundary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5200F-4096-4ABC-A782-7A85AB59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threshold or representation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4862D-0ECE-4340-A368-DF51E5E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2DB8A-6B81-4614-987A-A1EBE130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 shift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AEC2D-7F40-44AD-8F35-C249378A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external or grouped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5EE6A-AA0E-4748-B6D6-9AC465D4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D2955-B0B7-4296-B400-2991966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Label ambiguity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1A3FAB-8753-428F-828E-FB5D9C54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annotation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8CC7B-9447-4539-A25F-9F2BE19A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F5B31-8AA1-4B11-AAD5-476BD147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Temporal drift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B78ED-F600-428F-995D-D6156141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05300"/>
            <a:ext cx="2914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later-period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F2726-C73E-4638-8B97-27157018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626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45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Count categories • inspect representative cases • propose one controlled test</a:t>
            </a:r>
          </a:p>
        </p:txBody>
      </p:sp>
    </p:spTree>
    <p:extLst>
      <p:ext uri="{BB962C8B-B14F-4D97-AF65-F5344CB8AC3E}">
        <p14:creationId xmlns:p14="http://schemas.microsoft.com/office/powerpoint/2010/main" val="9893581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10284-150F-4181-B1B2-DBDED6D9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dataset card supports the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3CE12-B22D-41F6-823D-70E9EFC7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0001F-2CC0-407D-900C-02907E4E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1D17D-DDB1-4741-AF03-FC41BE1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48FB2-C12F-48AA-B7E6-2A3101EA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D04BF-200F-4C38-AC88-BD30D57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95453-9D02-4D65-8D62-A34F7477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5262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Motivation and composition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9C935-D7A5-4116-8C1F-BDAD4AA4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BC794-73D7-4F17-91FE-70D9C281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9557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Collection and 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75502-5405-47B4-84AA-10705944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1421-6ED8-4D04-A44C-EBCE06D1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3852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80027-B1C7-4335-AFC0-EFEF219D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1DAA9-0810-4E40-90AB-ADEDFC0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81475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Distribution and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075CC-C964-4F74-AE39-17C49146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07F8F4-F034-426A-9DC0-669437F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1F3D7-CA12-4B75-85AB-3B890A03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73807-DEB6-433F-BDC7-03A67E1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52625"/>
            <a:ext cx="459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Permitted and inappropriate uses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60216-1E07-47F5-9970-2140A5AE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98B24-98D7-437F-AD5F-5C789A3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95575"/>
            <a:ext cx="459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Maintenance and versioning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51361D-1C7B-447D-BDCE-FFCC2CF2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298BEA-1EEA-4A36-A79E-6ACCBA68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38525"/>
            <a:ext cx="459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Known quality issues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E972E-35E5-4143-9A47-A2F6CEF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04AF8-2DDF-4591-BCA1-638304E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81475"/>
            <a:ext cx="4591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Limitations and open questions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DEEB0-8950-466B-B509-ED531414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034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Documentation supports decisions; it does not guarantee quality.</a:t>
            </a:r>
          </a:p>
        </p:txBody>
      </p:sp>
    </p:spTree>
    <p:extLst>
      <p:ext uri="{BB962C8B-B14F-4D97-AF65-F5344CB8AC3E}">
        <p14:creationId xmlns:p14="http://schemas.microsoft.com/office/powerpoint/2010/main" val="9739158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7B729-09CB-48CE-8905-435180A3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Minimum viable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43BA-1080-4249-8E39-BDFC348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DAE76-8BB5-44A8-82E0-2B1ED7B6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0A258-E615-48D8-99B4-517F2A2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2DC02-2B2E-4040-851B-34FA1C9B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0A216-269C-4DF2-86EB-3AE6C689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2BE41-7072-4FFD-BE42-6D3A3961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+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3D8C9-A939-4ABD-8073-3F8C3CC1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714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6325F-0C45-4812-873B-671A315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2CB2B-E5C5-4A8F-A876-3D42ACA9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8288A-87E0-4F1C-BD31-4441D68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Reproduce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42B0D-27DD-4B98-8177-43EB7464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14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2C447-8A2B-4D6B-9192-1B006BF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61FC1-7B6C-4565-A731-D989E64D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93E93-726A-423E-B256-BC6FD8F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58571-B1BF-4BC0-915F-6B7F3C4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14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D0ECB-FC31-400D-9893-32662C0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CA9A5-D09B-4112-8FBC-7ABC90F1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623F2-3F79-43B9-A295-1AFD20C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Calculate metric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AD0A9-114A-4A57-9486-403232DD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14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AA675-E197-4F1A-A6A1-C3D96557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F978BB-4D01-409C-8E32-81503DC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34A9E-290B-4914-A285-9DD26F24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4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 one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A293D-4A0F-4813-85D9-375494F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14625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1CF5D-B1F0-4094-96F8-14BB3C88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907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EBD14-4BBB-47BA-BCD1-E03FD2AB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3812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42D009-BA77-4E21-8530-48785FCD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857500"/>
            <a:ext cx="895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Explain 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7CC563-EF9D-4AB0-BDFD-9CF22E25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33875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70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 means the full evidence path can run this semester.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9D0F8-938F-4AA8-A6AF-11DA640F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28637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646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 negative comparison can still produce a useful result.</a:t>
            </a:r>
          </a:p>
        </p:txBody>
      </p:sp>
    </p:spTree>
    <p:extLst>
      <p:ext uri="{BB962C8B-B14F-4D97-AF65-F5344CB8AC3E}">
        <p14:creationId xmlns:p14="http://schemas.microsoft.com/office/powerpoint/2010/main" val="19433640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2B9D8-EBD4-44EC-A308-FF36D750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proposal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5B79A-6511-40D2-90C2-09E5C7BF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7DAF6-BF7C-4B6A-A7F8-CD4F4856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1F448-7F48-4101-98D4-E3E1BD5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A4EF6-D4FC-47BE-867E-741B533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D7EB3-AE28-4D54-B87E-A2855CF3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1EA5C-2DC7-4D0B-88D4-0461A931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526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Precise research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D65FB-FE9D-45E4-B11E-1837EC2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E8A8C-017F-4955-9D8C-12EE72A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384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card draft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649A0-153C-414A-9F6F-E426D6DA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36F93-E96D-4907-917C-6CDA203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242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Data-quality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B93DB-86A7-4746-B09F-A24B1C56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65A23-0C2F-437C-96A3-BA8A01EF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100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and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F85CF-C481-4B4E-ABFD-C9ACE8E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BB1BD-A27D-49FC-AC1C-5282B8C8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59911-CE3C-44C6-A90A-D9ABF787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 protocol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ECD35-B9F0-4537-9A4C-D0C0326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DD7EA-CA76-4D28-A7ED-6074ED77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384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Risk and feasibility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73087-B34D-457C-AB26-1717F0FD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67D63-0355-43A6-87EA-0184865C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242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Minimum successful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FC8C07-C6C9-4C80-BF45-F96C231D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B2983-186D-4423-B2BB-F7F62C5A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0025"/>
            <a:ext cx="4495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Sources and assumptions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7CB7D-5351-469E-BA70-089FDB9E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626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Next: neural-network computation</a:t>
            </a:r>
          </a:p>
        </p:txBody>
      </p:sp>
    </p:spTree>
    <p:extLst>
      <p:ext uri="{BB962C8B-B14F-4D97-AF65-F5344CB8AC3E}">
        <p14:creationId xmlns:p14="http://schemas.microsoft.com/office/powerpoint/2010/main" val="541599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2026-09-05T02:21:15.4580000Z</dcterms:created>
  <dcterms:modified xsi:type="dcterms:W3CDTF">2026-09-05T02:21:15.4580000Z</dcterms:modified>
</coreProperties>
</file>