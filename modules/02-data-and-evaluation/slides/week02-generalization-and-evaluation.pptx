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0a99002d9b4344" /><Relationship Type="http://schemas.openxmlformats.org/officeDocument/2006/relationships/extended-properties" Target="/docProps/app.xml" Id="Re2015dc0beb147ce" /><Relationship Type="http://schemas.openxmlformats.org/officeDocument/2006/relationships/officeDocument" Target="/ppt/presentation.xml" Id="Rc3ebbd8a421b4a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74e80d05da4763"/>
  </p:sldMasterIdLst>
  <p:notesMasterIdLst>
    <p:notesMasterId xmlns:r="http://schemas.openxmlformats.org/officeDocument/2006/relationships" r:id="Rfac2def47c5946f2"/>
  </p:notesMasterIdLst>
  <p:sldIdLst>
    <p:sldId xmlns:r="http://schemas.openxmlformats.org/officeDocument/2006/relationships" id="256" r:id="R78243cc0290a4e15"/>
    <p:sldId xmlns:r="http://schemas.openxmlformats.org/officeDocument/2006/relationships" id="257" r:id="R8e63172318584ae3"/>
    <p:sldId xmlns:r="http://schemas.openxmlformats.org/officeDocument/2006/relationships" id="258" r:id="R08c87459b87447ec"/>
    <p:sldId xmlns:r="http://schemas.openxmlformats.org/officeDocument/2006/relationships" id="259" r:id="Rc5c422763176409f"/>
    <p:sldId xmlns:r="http://schemas.openxmlformats.org/officeDocument/2006/relationships" id="260" r:id="R3ec0e60e02624769"/>
    <p:sldId xmlns:r="http://schemas.openxmlformats.org/officeDocument/2006/relationships" id="261" r:id="Rfcbfa94005544b9f"/>
    <p:sldId xmlns:r="http://schemas.openxmlformats.org/officeDocument/2006/relationships" id="262" r:id="Re4a5674beee647c4"/>
    <p:sldId xmlns:r="http://schemas.openxmlformats.org/officeDocument/2006/relationships" id="263" r:id="Rd7099a3dd5ea4401"/>
    <p:sldId xmlns:r="http://schemas.openxmlformats.org/officeDocument/2006/relationships" id="264" r:id="Rcd2a2027ee84487e"/>
    <p:sldId xmlns:r="http://schemas.openxmlformats.org/officeDocument/2006/relationships" id="265" r:id="Ra509dcea5e7d417c"/>
    <p:sldId xmlns:r="http://schemas.openxmlformats.org/officeDocument/2006/relationships" id="266" r:id="Re8b7da4138e54294"/>
    <p:sldId xmlns:r="http://schemas.openxmlformats.org/officeDocument/2006/relationships" id="267" r:id="R45d6df891856489c"/>
    <p:sldId xmlns:r="http://schemas.openxmlformats.org/officeDocument/2006/relationships" id="268" r:id="Ref6643808c9f49a1"/>
    <p:sldId xmlns:r="http://schemas.openxmlformats.org/officeDocument/2006/relationships" id="269" r:id="R6e2a258b472241b5"/>
    <p:sldId xmlns:r="http://schemas.openxmlformats.org/officeDocument/2006/relationships" id="270" r:id="R0c58699eb1ac4960"/>
    <p:sldId xmlns:r="http://schemas.openxmlformats.org/officeDocument/2006/relationships" id="271" r:id="R89a869df806344ac"/>
    <p:sldId xmlns:r="http://schemas.openxmlformats.org/officeDocument/2006/relationships" id="272" r:id="Ra29e2fbb3e594e43"/>
    <p:sldId xmlns:r="http://schemas.openxmlformats.org/officeDocument/2006/relationships" id="273" r:id="R7f04153d40e148b6"/>
    <p:sldId xmlns:r="http://schemas.openxmlformats.org/officeDocument/2006/relationships" id="274" r:id="Rccdc914b082e46b1"/>
    <p:sldId xmlns:r="http://schemas.openxmlformats.org/officeDocument/2006/relationships" id="275" r:id="Rfdf855b27a8445ea"/>
    <p:sldId xmlns:r="http://schemas.openxmlformats.org/officeDocument/2006/relationships" id="276" r:id="R0c3831b451564b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0360b399964099" /><Relationship Type="http://schemas.openxmlformats.org/officeDocument/2006/relationships/slideMaster" Target="/ppt/slideMasters/slideMaster1.xml" Id="Rff74e80d05da4763" /><Relationship Type="http://schemas.openxmlformats.org/officeDocument/2006/relationships/notesMaster" Target="/ppt/notesMasters/notesMaster1.xml" Id="Rfac2def47c5946f2" /><Relationship Type="http://schemas.openxmlformats.org/officeDocument/2006/relationships/presProps" Target="/ppt/presProps.xml" Id="Rf2f5a77152e940e3" /><Relationship Type="http://schemas.openxmlformats.org/officeDocument/2006/relationships/tableStyles" Target="/ppt/tableStyles.xml" Id="R7df3b861446240e4" /><Relationship Type="http://schemas.openxmlformats.org/officeDocument/2006/relationships/slide" Target="/ppt/slides/slide1.xml" Id="R78243cc0290a4e15" /><Relationship Type="http://schemas.openxmlformats.org/officeDocument/2006/relationships/slide" Target="/ppt/slides/slide2.xml" Id="R8e63172318584ae3" /><Relationship Type="http://schemas.openxmlformats.org/officeDocument/2006/relationships/slide" Target="/ppt/slides/slide3.xml" Id="R08c87459b87447ec" /><Relationship Type="http://schemas.openxmlformats.org/officeDocument/2006/relationships/slide" Target="/ppt/slides/slide4.xml" Id="Rc5c422763176409f" /><Relationship Type="http://schemas.openxmlformats.org/officeDocument/2006/relationships/slide" Target="/ppt/slides/slide5.xml" Id="R3ec0e60e02624769" /><Relationship Type="http://schemas.openxmlformats.org/officeDocument/2006/relationships/slide" Target="/ppt/slides/slide6.xml" Id="Rfcbfa94005544b9f" /><Relationship Type="http://schemas.openxmlformats.org/officeDocument/2006/relationships/slide" Target="/ppt/slides/slide7.xml" Id="Re4a5674beee647c4" /><Relationship Type="http://schemas.openxmlformats.org/officeDocument/2006/relationships/slide" Target="/ppt/slides/slide8.xml" Id="Rd7099a3dd5ea4401" /><Relationship Type="http://schemas.openxmlformats.org/officeDocument/2006/relationships/slide" Target="/ppt/slides/slide9.xml" Id="Rcd2a2027ee84487e" /><Relationship Type="http://schemas.openxmlformats.org/officeDocument/2006/relationships/slide" Target="/ppt/slides/slide10.xml" Id="Ra509dcea5e7d417c" /><Relationship Type="http://schemas.openxmlformats.org/officeDocument/2006/relationships/slide" Target="/ppt/slides/slide11.xml" Id="Re8b7da4138e54294" /><Relationship Type="http://schemas.openxmlformats.org/officeDocument/2006/relationships/slide" Target="/ppt/slides/slide12.xml" Id="R45d6df891856489c" /><Relationship Type="http://schemas.openxmlformats.org/officeDocument/2006/relationships/slide" Target="/ppt/slides/slide13.xml" Id="Ref6643808c9f49a1" /><Relationship Type="http://schemas.openxmlformats.org/officeDocument/2006/relationships/slide" Target="/ppt/slides/slide14.xml" Id="R6e2a258b472241b5" /><Relationship Type="http://schemas.openxmlformats.org/officeDocument/2006/relationships/slide" Target="/ppt/slides/slide15.xml" Id="R0c58699eb1ac4960" /><Relationship Type="http://schemas.openxmlformats.org/officeDocument/2006/relationships/slide" Target="/ppt/slides/slide16.xml" Id="R89a869df806344ac" /><Relationship Type="http://schemas.openxmlformats.org/officeDocument/2006/relationships/slide" Target="/ppt/slides/slide17.xml" Id="Ra29e2fbb3e594e43" /><Relationship Type="http://schemas.openxmlformats.org/officeDocument/2006/relationships/slide" Target="/ppt/slides/slide18.xml" Id="R7f04153d40e148b6" /><Relationship Type="http://schemas.openxmlformats.org/officeDocument/2006/relationships/slide" Target="/ppt/slides/slide19.xml" Id="Rccdc914b082e46b1" /><Relationship Type="http://schemas.openxmlformats.org/officeDocument/2006/relationships/slide" Target="/ppt/slides/slide20.xml" Id="Rfdf855b27a8445ea" /><Relationship Type="http://schemas.openxmlformats.org/officeDocument/2006/relationships/slide" Target="/ppt/slides/slide21.xml" Id="R0c3831b451564b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b1d28b779545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27a2bac38f4a71" /><Relationship Type="http://schemas.openxmlformats.org/officeDocument/2006/relationships/notesMaster" Target="/ppt/notesMasters/notesMaster1.xml" Id="Rc6b1e800f0d747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6f8f3c0c1e494e" /><Relationship Type="http://schemas.openxmlformats.org/officeDocument/2006/relationships/notesMaster" Target="/ppt/notesMasters/notesMaster1.xml" Id="R7b52c8a34d1446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6f91283c2d4157" /><Relationship Type="http://schemas.openxmlformats.org/officeDocument/2006/relationships/notesMaster" Target="/ppt/notesMasters/notesMaster1.xml" Id="R29f1a70daf1448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83b3440b6c4504" /><Relationship Type="http://schemas.openxmlformats.org/officeDocument/2006/relationships/notesMaster" Target="/ppt/notesMasters/notesMaster1.xml" Id="R76dde25db0fd4a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6b4b51ce0f4cf8" /><Relationship Type="http://schemas.openxmlformats.org/officeDocument/2006/relationships/notesMaster" Target="/ppt/notesMasters/notesMaster1.xml" Id="Re7a5a49da9c946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c4cf6429f7941f4" /><Relationship Type="http://schemas.openxmlformats.org/officeDocument/2006/relationships/notesMaster" Target="/ppt/notesMasters/notesMaster1.xml" Id="R42c20acf743749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935caabb3f4523" /><Relationship Type="http://schemas.openxmlformats.org/officeDocument/2006/relationships/notesMaster" Target="/ppt/notesMasters/notesMaster1.xml" Id="R93145778c0dc4b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239d6aaae8498c" /><Relationship Type="http://schemas.openxmlformats.org/officeDocument/2006/relationships/notesMaster" Target="/ppt/notesMasters/notesMaster1.xml" Id="R9c688f86cc2c463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08770fd2304b03" /><Relationship Type="http://schemas.openxmlformats.org/officeDocument/2006/relationships/notesMaster" Target="/ppt/notesMasters/notesMaster1.xml" Id="R5dde2fa7e37545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4ae41112a6842c6" /><Relationship Type="http://schemas.openxmlformats.org/officeDocument/2006/relationships/notesMaster" Target="/ppt/notesMasters/notesMaster1.xml" Id="R857309321e524b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fe8ede088b24239" /><Relationship Type="http://schemas.openxmlformats.org/officeDocument/2006/relationships/notesMaster" Target="/ppt/notesMasters/notesMaster1.xml" Id="R4ef5eeb7abeb463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5ba5c5e01a94085" /><Relationship Type="http://schemas.openxmlformats.org/officeDocument/2006/relationships/notesMaster" Target="/ppt/notesMasters/notesMaster1.xml" Id="R5c76389b630b421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fe7b692fd76436e" /><Relationship Type="http://schemas.openxmlformats.org/officeDocument/2006/relationships/notesMaster" Target="/ppt/notesMasters/notesMaster1.xml" Id="Rc401dd410474461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a56b5c6e2604e7c" /><Relationship Type="http://schemas.openxmlformats.org/officeDocument/2006/relationships/notesMaster" Target="/ppt/notesMasters/notesMaster1.xml" Id="Rdc84a30722cb4bf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b846403eab844b8" /><Relationship Type="http://schemas.openxmlformats.org/officeDocument/2006/relationships/notesMaster" Target="/ppt/notesMasters/notesMaster1.xml" Id="R6a8c803ffb9147d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f1957d11beb497a" /><Relationship Type="http://schemas.openxmlformats.org/officeDocument/2006/relationships/notesMaster" Target="/ppt/notesMasters/notesMaster1.xml" Id="Re05b9e218e32453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305406db76a4181" /><Relationship Type="http://schemas.openxmlformats.org/officeDocument/2006/relationships/notesMaster" Target="/ppt/notesMasters/notesMaster1.xml" Id="R0a447445a240439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8c27aacc9514c65" /><Relationship Type="http://schemas.openxmlformats.org/officeDocument/2006/relationships/notesMaster" Target="/ppt/notesMasters/notesMaster1.xml" Id="R5de2fe7af3a24ce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de561e102bc4d80" /><Relationship Type="http://schemas.openxmlformats.org/officeDocument/2006/relationships/notesMaster" Target="/ppt/notesMasters/notesMaster1.xml" Id="Refbaedca2124475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6724db4ce064aec" /><Relationship Type="http://schemas.openxmlformats.org/officeDocument/2006/relationships/notesMaster" Target="/ppt/notesMasters/notesMaster1.xml" Id="Rf17f3b4a67884db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55b70a61f5448bd" /><Relationship Type="http://schemas.openxmlformats.org/officeDocument/2006/relationships/notesMaster" Target="/ppt/notesMasters/notesMaster1.xml" Id="Rb8db5aa395734a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 minutes. State the guiding question: what evidence shows that a model will work on relevant unseen data? The cover is an original generated illustration created for this course.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4 minutes. Point students to the worksheet. Explain that the goal is a reviewable evaluation protocol rather than memorized percentages.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Withhold all context. Collect questions and group them under population, independence, comparison, and consequence.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Define the generalization gap. Stress that unseen rows can still share a source and that a small gap does not fix a mismatched target population.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9 minutes. Ask students to complete the sentence for one project idea. Compare new rows, new participants, future time, and new institutions.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12 minutes. Sort scaling, model fitting, learning-rate choice, threshold choice, and final reporting into partitions. Explain that validation adapts the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Ask what students would do after a disappointing test score. If the answer changes the system, the test set has entered model selection.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Distinguish the storage row from the independent unit. Ask what rows could share in images, signals, conversations, and documents.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9 minutes. Explain that grouped and chronological requirements can coexist. Group integrity or time direction may constrain class balance.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12 minutes. Expected choices: chronological, stratified random, grouped by patient, and random. Require the independent unit and future-use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Define leakage through availability at the intended prediction time. Ask students to locate the direction of information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12 minutes. Use the four worksheet cases. Require both the leaked information and a correction.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9 minutes. Ask where imputation, vocabulary construction, and feature selection belong. Walk through the training-only standardization used in the lab.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7 minutes. Ask for a baseline in classification, regression, and forecasting. A baseline should be feasible, credible, and measured under the same protocol.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7 minutes. Build the four cells from actual and predicted labels. Ask which cells matter when missed positives are costly.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13 minutes. Calculate the worksheet example: accuracy .820, precision .800, recall .667, specificity .906, and balanced accuracy .786.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Explain that threshold choice can change errors without retraining. Avoid claiming precision always rises; connect the choice to validation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20 minutes. Hide the result until predictions are recorded. Run python labs/week02_evaluation_numpy.py. The row-wise split lets nearest neighbor match rows from the same participants; grouped splitting evaluates new participants.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7 minutes. Discuss sampling variation and selection over many seeds. Mention intervals, repeated cross-validation when appropriate, subgroup analysis, and external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Students screen a candidate project dataset in pairs. Public availability alone does not establish permission, documentation quality, or suitability.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5 minutes. Collect the four answers. Flag access, target timing, grouping, and sample-count uncertainties for Week 3 problem-proposal feedback.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ade77fb04c45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e0c5fe192c4e11" /><Relationship Type="http://schemas.openxmlformats.org/officeDocument/2006/relationships/slideLayout" Target="/ppt/slideLayouts/slideLayout1.xml" Id="R5f69e74d149b4a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69e74d149b4a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aefde493943e5" /><Relationship Type="http://schemas.openxmlformats.org/officeDocument/2006/relationships/image" Target="/ppt/media/image.png" Id="Rc6dc7ee58ef24378" /><Relationship Type="http://schemas.openxmlformats.org/officeDocument/2006/relationships/notesSlide" Target="/ppt/notesSlides/notesSlide1.xml" Id="Rc3e3663338cb4b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0cc620e0494b1b" /><Relationship Type="http://schemas.openxmlformats.org/officeDocument/2006/relationships/notesSlide" Target="/ppt/notesSlides/notesSlide2.xml" Id="Rbbf22e67107e4b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7ac633f7a40b7" /><Relationship Type="http://schemas.openxmlformats.org/officeDocument/2006/relationships/notesSlide" Target="/ppt/notesSlides/notesSlide3.xml" Id="R93c1a422d86a47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d0e9822ab48de" /><Relationship Type="http://schemas.openxmlformats.org/officeDocument/2006/relationships/notesSlide" Target="/ppt/notesSlides/notesSlide4.xml" Id="R53fcd3f2e28545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806bfdfa64869" /><Relationship Type="http://schemas.openxmlformats.org/officeDocument/2006/relationships/notesSlide" Target="/ppt/notesSlides/notesSlide5.xml" Id="R962785f14b9f40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32b29d43d426c" /><Relationship Type="http://schemas.openxmlformats.org/officeDocument/2006/relationships/notesSlide" Target="/ppt/notesSlides/notesSlide6.xml" Id="Ra8dfb7cea2ff41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34b8ddfb5413d" /><Relationship Type="http://schemas.openxmlformats.org/officeDocument/2006/relationships/notesSlide" Target="/ppt/notesSlides/notesSlide7.xml" Id="Rfdc6a2bd043044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30e827584040fc" /><Relationship Type="http://schemas.openxmlformats.org/officeDocument/2006/relationships/notesSlide" Target="/ppt/notesSlides/notesSlide8.xml" Id="Rd6477cac32ed44a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149ecb4fbe4714" /><Relationship Type="http://schemas.openxmlformats.org/officeDocument/2006/relationships/notesSlide" Target="/ppt/notesSlides/notesSlide9.xml" Id="R9c1ee67dd59041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4d733f5e7947d8" /><Relationship Type="http://schemas.openxmlformats.org/officeDocument/2006/relationships/notesSlide" Target="/ppt/notesSlides/notesSlide10.xml" Id="Ra8f42b1506ae4c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050b70b8241ed" /><Relationship Type="http://schemas.openxmlformats.org/officeDocument/2006/relationships/notesSlide" Target="/ppt/notesSlides/notesSlide11.xml" Id="R2e746760c34146f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2eb16a46d4f45" /><Relationship Type="http://schemas.openxmlformats.org/officeDocument/2006/relationships/notesSlide" Target="/ppt/notesSlides/notesSlide12.xml" Id="Rc6fd7e0ed658433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b1e64a047946bc" /><Relationship Type="http://schemas.openxmlformats.org/officeDocument/2006/relationships/notesSlide" Target="/ppt/notesSlides/notesSlide13.xml" Id="R35cc0bf7cc5d434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a52d484e3e4383" /><Relationship Type="http://schemas.openxmlformats.org/officeDocument/2006/relationships/notesSlide" Target="/ppt/notesSlides/notesSlide14.xml" Id="R009aa572396b4e4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b27489035e447c" /><Relationship Type="http://schemas.openxmlformats.org/officeDocument/2006/relationships/notesSlide" Target="/ppt/notesSlides/notesSlide15.xml" Id="R9169af289cb54e8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8ba64f16284815" /><Relationship Type="http://schemas.openxmlformats.org/officeDocument/2006/relationships/notesSlide" Target="/ppt/notesSlides/notesSlide16.xml" Id="R2895a81c1a1e4b5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14fa4403d9418c" /><Relationship Type="http://schemas.openxmlformats.org/officeDocument/2006/relationships/notesSlide" Target="/ppt/notesSlides/notesSlide17.xml" Id="Rb79ea86517f643a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6072d32ee4e9d" /><Relationship Type="http://schemas.openxmlformats.org/officeDocument/2006/relationships/notesSlide" Target="/ppt/notesSlides/notesSlide18.xml" Id="R63eef4fc6ee24ee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c74e7f600b4ac4" /><Relationship Type="http://schemas.openxmlformats.org/officeDocument/2006/relationships/notesSlide" Target="/ppt/notesSlides/notesSlide19.xml" Id="Rff5afe6f0b53446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f34f4d919f46b9" /><Relationship Type="http://schemas.openxmlformats.org/officeDocument/2006/relationships/notesSlide" Target="/ppt/notesSlides/notesSlide20.xml" Id="R35806ec327014de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3b0a5077a46b6" /><Relationship Type="http://schemas.openxmlformats.org/officeDocument/2006/relationships/notesSlide" Target="/ppt/notesSlides/notesSlide21.xml" Id="R02041ec086e2413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dc7ee58ef2437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83995C-327D-4761-A593-1D454C76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00125"/>
            <a:ext cx="5334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CME705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CCCAD-7420-4643-AC31-13D00321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86075"/>
            <a:ext cx="533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6D7D1"/>
                </a:solidFill>
                <a:latin typeface="Arial"/>
                <a:ea typeface="Arial"/>
                <a:cs typeface="Arial"/>
              </a:rPr>
              <a:t>Neural Networks, Deep Learning,</a:t>
            </a:r>
          </a:p>
          <a:p xmlns:a="http://schemas.openxmlformats.org/drawingml/2006/main">
            <a:pPr algn="l">
              <a:defRPr sz="2100" b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76D7D1"/>
                </a:solidFill>
                <a:latin typeface="Arial"/>
                <a:ea typeface="Arial"/>
                <a:cs typeface="Arial"/>
              </a:rPr>
              <a:t>and Research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E53D9-6939-423A-AF55-D934A5DD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DB17AD-558B-46D3-A0E5-E9EFFAD8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338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WEEK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D23DBA-27AD-462F-AE70-5301FCFD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Generalization and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trustworthy evaluation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9051BC-3924-4E78-AD07-B0391713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CFD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9CFD8"/>
                </a:solidFill>
                <a:latin typeface="Arial"/>
                <a:ea typeface="Arial"/>
                <a:cs typeface="Arial"/>
              </a:rPr>
              <a:t>Karabuk University   Department of Computer Engineering</a:t>
            </a:r>
          </a:p>
        </p:txBody>
      </p:sp>
    </p:spTree>
    <p:extLst>
      <p:ext uri="{BB962C8B-B14F-4D97-AF65-F5344CB8AC3E}">
        <p14:creationId xmlns:p14="http://schemas.microsoft.com/office/powerpoint/2010/main" val="20348289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E11318-F303-4286-8CDC-B036A857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Today's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7E0205-B6A0-449D-A617-2826699B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57FC80-E28C-46EF-815C-565AD696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7BC737-181A-418F-8A05-55B29DC0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4116F1-2AD9-461A-BFF9-ACCB93F3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Each student will produce four visible results.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AE662B-8231-4BC4-94D4-C179A516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83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43AB0-C46F-431B-BDBD-A75D410F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8764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Split strategy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4E6EB2-B51E-43D1-BAC3-EBC34EC2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76425"/>
            <a:ext cx="590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A future-use claim, independent unit, and justified partition method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690871-6BCC-41F6-A37C-396B5E66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600325"/>
            <a:ext cx="919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BA0685-B0EA-4DF2-AE45-AD577C4F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83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29320A-4D88-4DAA-9C73-683261F4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8765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Leakage repair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96F950-AB4F-4972-9242-C2E25CAC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76550"/>
            <a:ext cx="590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A corrected workflow with the information boundary restored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44BAD4-2DB0-422F-AF43-769A4F28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600450"/>
            <a:ext cx="919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666332-85A9-4AD5-9809-8106CB65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83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7EFD2D-2CB1-4F94-BD0D-3B520694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87667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Metric 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0A1A44-F583-407A-A3C3-A8BE80C3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76675"/>
            <a:ext cx="590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A calculation connected to error cost rather than a score alone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EC4025-382A-4EC0-8DE5-42DD1F5C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600575"/>
            <a:ext cx="919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35E121-EF7A-4765-AFBF-BFEBB279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838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26D32B-C3CC-4AC0-9B97-F0CF063F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8768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Dataset screen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647E55-FE0E-4D42-9E61-9623DC72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76800"/>
            <a:ext cx="590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A continue, investigate, or replace decision for one candidate source</a:t>
            </a:r>
          </a:p>
        </p:txBody>
      </p:sp>
    </p:spTree>
    <p:extLst>
      <p:ext uri="{BB962C8B-B14F-4D97-AF65-F5344CB8AC3E}">
        <p14:creationId xmlns:p14="http://schemas.microsoft.com/office/powerpoint/2010/main" val="2616137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9E5CAF-B5FD-4EA3-8D89-0353B0E0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“The model achieved 95% accuracy.”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BBF25-FE2D-4270-90BF-B2A454D3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E8FC04-E431-464D-8727-89C05204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742A3F-1040-450E-AE6F-788AEF3A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250A7-BB85-4E84-987B-1410294C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4095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90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990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95%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2EA91F-8E26-4262-8479-BB15FFDB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8612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Is this strong evidence?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947E7F-E2E1-4D9F-8BAE-7CEE9678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476375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25E7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3139AC-5839-44EB-8FAD-9A91CA3B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7162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WHAT IS MISSING?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F675F6-8BE6-436C-B4BF-F4E712A2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00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5FA60A-92F9-45F3-88C6-A364F253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95500"/>
            <a:ext cx="449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 and population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D9C35C-72C8-476C-ABAB-C31D273A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47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126C4C-6E60-44E0-9C68-817F31C6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43200"/>
            <a:ext cx="449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Independent evaluation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BA1395-3C42-42BA-80A1-AC2885E3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95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747498-6CB3-4BD3-A0A6-ACB641FA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90900"/>
            <a:ext cx="449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Baseline comparison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6A4716-28D1-4725-AC82-2AEE658F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43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A3EBA1-0E16-4663-81A0-C423EE08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38600"/>
            <a:ext cx="449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Error consequences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6DA706-4CFF-4BA7-9633-A803D643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91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009862-C49E-4D6C-9FA9-0F047846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86300"/>
            <a:ext cx="4495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Intended future cases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DAB2AB-2570-40C2-A6C5-CD130216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8102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A score cannot define its own claim.</a:t>
            </a:r>
          </a:p>
        </p:txBody>
      </p:sp>
    </p:spTree>
    <p:extLst>
      <p:ext uri="{BB962C8B-B14F-4D97-AF65-F5344CB8AC3E}">
        <p14:creationId xmlns:p14="http://schemas.microsoft.com/office/powerpoint/2010/main" val="13384136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888894-2C27-4FF4-ABBE-A0C53269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Fitting and generalization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3D5BF6-87CA-4DE7-99ED-75A05223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6DFABC-29A1-452A-84A3-EFAF5B2D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6F572-CADD-438D-A69E-E8D64D21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BD5011-5C5B-4ECD-ABAD-63EE72A7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FITTING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8FB6B-CE69-40AA-A0BC-65C1A922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4429125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E58149-249E-422C-A1F5-C5F49635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43125"/>
            <a:ext cx="4010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Observed training examples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A6EA0B-C9D4-49EA-8E72-131F27B3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38425"/>
            <a:ext cx="401002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Parameters adapt to these examples.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A high score shows fit to the observed sample.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3028EA-A030-4876-BA85-5DEEF85E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5240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GENERALIZATION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BAB117-FBF4-4520-BF2D-A0ADE45A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52625"/>
            <a:ext cx="4429125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C359FF-660E-4E7B-8A15-FC114876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143125"/>
            <a:ext cx="4010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Relevant unseen cases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B1BB8D-A3EE-4320-9C9E-3B5E3B1B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638425"/>
            <a:ext cx="401002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Evaluation estimates behavior under a stated future-use condition.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679FF8-99C5-4B71-B551-286C95F0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048000"/>
            <a:ext cx="1428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9666CF-1E50-4EB2-AB27-CBD6F4EC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91125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284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The evaluation set must be independent and match the claim.</a:t>
            </a:r>
          </a:p>
        </p:txBody>
      </p:sp>
    </p:spTree>
    <p:extLst>
      <p:ext uri="{BB962C8B-B14F-4D97-AF65-F5344CB8AC3E}">
        <p14:creationId xmlns:p14="http://schemas.microsoft.com/office/powerpoint/2010/main" val="18452450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E64F75-42FB-459C-B8A5-5820F7E1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Complete the evaluation claim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E54043-3AB8-4D3D-B7D3-9D8FBDD6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0443F2-A5B6-45AE-A357-ED7B4DDB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ACC5A0-F763-425D-80A8-A3ADBC3A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458B8-258D-4AD7-BABD-DC836222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240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099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We want to estimate performance when the fitted system is applied to…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A8E4DE-3C4B-42CA-BE58-3D47252B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24765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00C854-7E1B-418F-BDCE-1F342B7A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221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Independent observations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3F0773-B479-4395-AEBA-A1C94AD3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52800"/>
            <a:ext cx="2057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same stable 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DD89B1-EFEC-4958-B447-4EB7D610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67000"/>
            <a:ext cx="24765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C853A1-C5CA-4AB5-B746-A47EF2F5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5750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New entities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B0B338-933C-447B-9D09-C4EB6FC4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52800"/>
            <a:ext cx="2057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people, machines, or sites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0B9DAF-DFE1-4EEC-8F6B-F488D0EB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67000"/>
            <a:ext cx="24765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AA59A2-690E-47D8-9A53-86969A37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5750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Future 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C782C0-7663-49DD-986B-8F30B8B0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52800"/>
            <a:ext cx="2057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after a fixed cutoff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CAED90-4D84-4F60-A86B-C5FA80E4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67000"/>
            <a:ext cx="247650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4AE38F-0D5F-45AF-9B24-F87CF7C3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5750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New setting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BE4123-A040-4358-B89F-09F61453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52800"/>
            <a:ext cx="20574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institution or operating condition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F1D184-1343-4183-A0EF-5991DF31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9112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621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The blank determines the split.</a:t>
            </a:r>
          </a:p>
        </p:txBody>
      </p:sp>
    </p:spTree>
    <p:extLst>
      <p:ext uri="{BB962C8B-B14F-4D97-AF65-F5344CB8AC3E}">
        <p14:creationId xmlns:p14="http://schemas.microsoft.com/office/powerpoint/2010/main" val="12753274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35ECB6-B2FC-489D-9E85-16F4934E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Three partitions, three roles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CD70C3-D3F2-46FF-BED6-E6472C27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E0D043-5157-43D5-971D-C12ABDB4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F9D648-3DF3-4D90-8BCA-4DC3157F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633052-6EF8-4A8D-A429-B11C2367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3238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28575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EE52B-E040-4580-B1DA-A905A97D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33625"/>
            <a:ext cx="2705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923626-FE8C-4970-AC1F-318A4E4A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5625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Fit preprocessing</a:t>
            </a:r>
          </a:p>
          <a:p xmlns:a="http://schemas.openxmlformats.org/drawingml/2006/main">
            <a:pPr algn="ctr">
              <a:defRPr sz="20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and model parameters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0BCC28-4B69-4274-8869-01281BFB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43250"/>
            <a:ext cx="4286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6D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22DC75-CE0C-47AF-9330-94B072CB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3238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28575">
            <a:solidFill>
              <a:srgbClr val="F2B8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0C10CB-8A11-40A7-AB85-0EAF3AFD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333625"/>
            <a:ext cx="2705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114075-DD21-4BEB-9F58-CA32EFBD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95625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354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Choose features, model,</a:t>
            </a:r>
          </a:p>
          <a:p xmlns:a="http://schemas.openxmlformats.org/drawingml/2006/main">
            <a:pPr algn="ctr">
              <a:defRPr sz="20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hyperparameters, and threshold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B59343-2F37-4EE7-8205-E1E16BA9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43250"/>
            <a:ext cx="42862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6D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1D9190-074E-4478-B758-57521C75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3238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B1F3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A8E18C-B76F-473A-8E15-509998FF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33625"/>
            <a:ext cx="2705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005587-FD2F-4014-8404-96BF75CE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95625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209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Estimate final performance</a:t>
            </a:r>
          </a:p>
          <a:p xmlns:a="http://schemas.openxmlformats.org/drawingml/2006/main">
            <a:pPr algn="ctr">
              <a:defRPr sz="20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after choices are fixed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EA86C4-5F19-44E8-BB84-C084D23E1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8162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A choice belongs before the final measurement.</a:t>
            </a:r>
          </a:p>
        </p:txBody>
      </p:sp>
    </p:spTree>
    <p:extLst>
      <p:ext uri="{BB962C8B-B14F-4D97-AF65-F5344CB8AC3E}">
        <p14:creationId xmlns:p14="http://schemas.microsoft.com/office/powerpoint/2010/main" val="18877382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E5B25E-B805-4764-9D22-55528B76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Protect the test 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23C202-DAD4-4520-8834-BC8D9578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A4E5A1-EA1D-43DE-88A6-19547B36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34A67A-A649-4E20-AAAC-EDFF3148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13CC9F-3F75-40E7-94E5-4FBE5C4B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4000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02A41"/>
          </a:solidFill>
          <a:ln xmlns:a="http://schemas.openxmlformats.org/drawingml/2006/main" w="28575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9A511B-C160-4471-B8BC-CF48CBD3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47875"/>
            <a:ext cx="295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94682F-1FB2-40A7-A3BE-C07AA32D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480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measurement</a:t>
            </a:r>
          </a:p>
          <a:p xmlns:a="http://schemas.openxmlformats.org/drawingml/2006/main">
            <a:pPr algn="ctr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instrument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89CB9-5EF9-4A75-AAF2-9182A476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DO NOT USE IT 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F890BB-9A4A-4B9E-9E51-67C640C3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FC862F-F244-4813-BC35-3350D40B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43125"/>
            <a:ext cx="459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 features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EB498F-BFEA-481D-B72F-3E91D5FB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38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0595A4-235C-4820-A729-89EFF232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33675"/>
            <a:ext cx="459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Choose a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9B225C-6901-41F6-985D-6A033F48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29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9FD592-35B2-48E9-9851-7E6D8FEC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24225"/>
            <a:ext cx="459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Tune a threshold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150BA2-9376-4608-AE68-2FFDB78F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19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6394F5-D872-4935-B3FB-154A88AF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14775"/>
            <a:ext cx="459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Stop training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75EB98-2900-46F5-A36A-A3EAF8A0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10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464547-2946-4458-AC43-6ED9D900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05325"/>
            <a:ext cx="4591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Pick a favorable seed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3BA49A-AC39-4845-A43A-AE2E5425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72125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207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Changing the model after a test result makes that result part of selection.</a:t>
            </a:r>
          </a:p>
        </p:txBody>
      </p:sp>
    </p:spTree>
    <p:extLst>
      <p:ext uri="{BB962C8B-B14F-4D97-AF65-F5344CB8AC3E}">
        <p14:creationId xmlns:p14="http://schemas.microsoft.com/office/powerpoint/2010/main" val="1472689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1A634A2-AB50-4FE6-92E3-37DD8388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 row is not always independent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B2B61-ACB1-4734-BC10-1C93E9E7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0DFBA-327D-46DE-8ED3-150B2122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B509C-C94D-4C15-9C30-72D99E8D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A4451A-7B2D-405B-A0BE-9DA0A28A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STORED ROWS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1C5881-DB42-4A46-9381-A241A4B6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Source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B1E6E0-993F-409D-9288-FB514E84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43125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44AE8C-1085-4764-AEAF-23A0B503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3050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D66396-62C4-47FF-970F-7F5295E8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43125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70FE44-85DA-4D71-82BF-FF2B9F5A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050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98CECE-5F64-4CF8-ABD2-6BE94FCD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143125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A35E36-D199-436D-A709-3B493D03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3050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C57D4B-16D5-44DE-A2DD-015ED984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43125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277BBB-47F8-4E40-8925-313E4357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050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E89EB9-73C7-4DCD-9D9D-FF2A5797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43125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8376E8-8ED8-40EF-8C2F-BCD0B01D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3050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773134-EB0D-4CBE-84C9-FF2803AB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Source 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98E540-1BCB-421E-A1D4-28D92E48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4325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1FB41C-E53F-451D-A8D3-EAF03E5F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051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09F5CE-4C76-426F-BB6E-F4465D83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4325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84E3E5-11F7-4CA7-9C17-15894817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3051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0B6F05-BDA7-4DC8-B2D2-FBC54AF1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4325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DF0A6D-8635-4019-AC30-EBD60015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051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3F55C3-FA8B-4B37-9BC7-BCFEB8CC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4325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471A60-40F5-4672-8EDB-B0F216F5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051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059995-87D5-4567-A134-40E0C645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4325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21753C-7FFE-43BD-9568-7C5E055F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051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60430D-9AD5-47AA-B6AE-234ACF72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23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Source 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553034-843C-4FDD-976F-1EAF9F12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43375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0B1F3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F070E8-2F6B-448E-8688-2B5D158F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305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9B22B7-FD0E-4724-BC15-FB71FB81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143375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0B1F3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FAEA61-C9FF-4C0F-B10A-23530E97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05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3799F1-CED8-4B7C-BD66-BD421406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143375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0B1F3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42EE5F-4866-4BC6-B2FB-CE56267C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305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515066-6A78-4FF9-886E-61DE0BCC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43375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0B1F3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21A2B4-1770-44DE-8D9F-3876DEE2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05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723C21-4C6B-4048-8974-16EA05BA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143375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0B1F3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6A4267-992B-40DF-A3F0-CD9AA4BF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3053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FBB76D-FCFE-477E-A880-96413E65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1143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CCDFF8E-51B9-4B88-B723-5E19BEE5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3333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F2B84B"/>
            </a:solidFill>
            <a:prstDash val="dash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A76D01F-C516-4082-8296-C819B8D6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7650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85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What must be new?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D9A051-69A4-47D6-B6E9-69C55D7F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219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57143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a row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a person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a site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a future time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A37513-3170-45D6-8D24-149004B7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476875"/>
            <a:ext cx="752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4436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Keep dependent rows together when the source must remain unseen.</a:t>
            </a:r>
          </a:p>
        </p:txBody>
      </p:sp>
    </p:spTree>
    <p:extLst>
      <p:ext uri="{BB962C8B-B14F-4D97-AF65-F5344CB8AC3E}">
        <p14:creationId xmlns:p14="http://schemas.microsoft.com/office/powerpoint/2010/main" val="7159812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CCF4D9-4F01-42DE-BA05-14C71692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Match the split to the claim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198974-DB52-4C97-A7D9-A202B6CB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3900C-A367-41BF-99E4-B2B2A1B0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250D29-F10E-4EB9-B79C-4D23E7EB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19125" y="1476375"/>
          <a:ext xmlns:a="http://schemas.openxmlformats.org/drawingml/2006/main" cx="1095375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5429250"/>
                <a:gridCol w="3429000"/>
              </a:tblGrid>
              <a:tr h="838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Split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Suitable question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Main protection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Random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Independent observations from one stable process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Representative holdout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Stratified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Independent observations with class imbalance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Class proportions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Grouped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Repeated rows share a source or entity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Entity leakage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Chronological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Future cases must be predicted from the past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Look-ahead leakage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156A2A-9A6D-4385-8D6F-4422570F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905500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The split simulates the intended use.</a:t>
            </a:r>
          </a:p>
        </p:txBody>
      </p:sp>
    </p:spTree>
    <p:extLst>
      <p:ext uri="{BB962C8B-B14F-4D97-AF65-F5344CB8AC3E}">
        <p14:creationId xmlns:p14="http://schemas.microsoft.com/office/powerpoint/2010/main" val="5054365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CC2A0B-504D-456B-9737-866541C5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Split-design activity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0DA871-BA18-4CCE-8DD9-6EB99E35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28E5E4-49FA-433B-B170-9FEBA8F1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B1CC66-810C-46CD-89A6-233C09A1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2F832F-F6A9-44A0-9F42-D7A68651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318118-3BD1-439D-AF60-D461B546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71625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Next-month</a:t>
            </a:r>
          </a:p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electricity demand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1AA665-46F1-4928-A04B-CB04EF5E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050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FC9D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FC9D4"/>
                </a:solidFill>
                <a:latin typeface="Arial"/>
                <a:ea typeface="Arial"/>
                <a:cs typeface="Arial"/>
              </a:rPr>
              <a:t>Protect: future 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A8037E-36FC-435B-BD43-4176A504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716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11E7AA-8AC9-4F1A-8708-19D1D900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571625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Rare defects in</a:t>
            </a:r>
          </a:p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independent parts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D92607-5BDB-4C15-A408-6A25C3AF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5050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FC9D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FC9D4"/>
                </a:solidFill>
                <a:latin typeface="Arial"/>
                <a:ea typeface="Arial"/>
                <a:cs typeface="Arial"/>
              </a:rPr>
              <a:t>Protect: class balance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ECF600-AFE5-473A-BE64-C3607906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21C079-8135-42D8-B712-1696D8F9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1000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Several images</a:t>
            </a:r>
          </a:p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 patient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A427BC-814F-4A67-B48F-47D198F7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43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FC9D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FC9D4"/>
                </a:solidFill>
                <a:latin typeface="Arial"/>
                <a:ea typeface="Arial"/>
                <a:cs typeface="Arial"/>
              </a:rPr>
              <a:t>Protect: shared person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BFF13C-2B9D-4848-8680-E31039C8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100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2A5EDD-13C4-456D-9683-015CA48C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1000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Independent documents</a:t>
            </a:r>
          </a:p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from one archive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08314D-16D1-437A-998A-53A47922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43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FC9D4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FC9D4"/>
                </a:solidFill>
                <a:latin typeface="Arial"/>
                <a:ea typeface="Arial"/>
                <a:cs typeface="Arial"/>
              </a:rPr>
              <a:t>Protect: stable source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DD1C52-6301-459D-9482-1CC3434A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428750"/>
            <a:ext cx="0" cy="428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59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66E60E-70E9-4A8C-B1D1-7AC470BB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810250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Choose • justify • name the independent unit</a:t>
            </a:r>
          </a:p>
        </p:txBody>
      </p:sp>
    </p:spTree>
    <p:extLst>
      <p:ext uri="{BB962C8B-B14F-4D97-AF65-F5344CB8AC3E}">
        <p14:creationId xmlns:p14="http://schemas.microsoft.com/office/powerpoint/2010/main" val="370287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C985AC-8DFC-4D80-BCFC-9DD31047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Leakage changes the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92256-DC2E-4BCA-A835-FDC2A325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B3761-F089-40A6-8794-8F8BB665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B1DE26-33B0-4212-A129-D06B663D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580D7-DAFD-4002-8895-00ABE339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763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B7A6D"/>
                </a:solidFill>
                <a:latin typeface="Arial"/>
                <a:ea typeface="Arial"/>
                <a:cs typeface="Arial"/>
              </a:rPr>
              <a:t>INTENDED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D8F0C-8938-4075-8BAE-7118ABD6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2571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DEEEA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C82C6A-2663-4F6C-9516-3FF4010C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143125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Available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2D2818-6990-4B00-BDFC-AF4641C3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638425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features and past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B55F85-686E-4F26-9350-2FDE4479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28875"/>
            <a:ext cx="9525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28E7B1-D32D-4095-89CC-7DF34D8F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52625"/>
            <a:ext cx="2571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31D628-E7BE-40F7-83BA-619B9CFC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143125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8A2DB2-6951-4AB2-84C3-2A1D7E06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638425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fitted procedure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7E4610-5A14-40F7-9969-485334F7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28875"/>
            <a:ext cx="9525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B7A6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A5FAAB-2990-46C4-A6CB-D12AF946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52625"/>
            <a:ext cx="2571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3FEC21-8B37-4038-9359-7F6EB67C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143125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Future outcome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86C345-5E8F-4392-A854-57BDBEA4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638425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measured later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CBCF6B-0140-4F51-82FD-42E518F5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14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65353"/>
                </a:solidFill>
                <a:latin typeface="Arial"/>
                <a:ea typeface="Arial"/>
                <a:cs typeface="Arial"/>
              </a:rPr>
              <a:t>LEAKY BOUNDARY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F7BCE0-8F52-4C9D-BFC6-307A33DE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91000"/>
            <a:ext cx="2952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DEDE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DDB3A9-596D-4BDB-87C5-92D79281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381500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015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Unavailable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7131CF-40EC-43E3-822A-53AF80C8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876800"/>
            <a:ext cx="2533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67034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test statistics, duplicate source, or future values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9BE478-87A7-4B03-B25D-9F943894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67250"/>
            <a:ext cx="11430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6535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16A3F6-8859-4722-8698-307D0AE3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91000"/>
            <a:ext cx="3143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3AA687-2AB0-4FE5-B954-AC38B66A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3815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Training process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0CA39E-A41B-42B9-AE94-8C2287B4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8768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6534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information crosses the evaluation boundary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9D2B84-10C0-43D9-B67A-737381F4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8102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853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65353"/>
                </a:solidFill>
                <a:latin typeface="Arial"/>
                <a:ea typeface="Arial"/>
                <a:cs typeface="Arial"/>
              </a:rPr>
              <a:t>The reported score now answers an easier question.</a:t>
            </a:r>
          </a:p>
        </p:txBody>
      </p:sp>
    </p:spTree>
    <p:extLst>
      <p:ext uri="{BB962C8B-B14F-4D97-AF65-F5344CB8AC3E}">
        <p14:creationId xmlns:p14="http://schemas.microsoft.com/office/powerpoint/2010/main" val="16266769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59831C-C03B-4FF9-B30D-D8B08F93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Four leakage patterns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0EC2AA-F987-4204-B3CE-5F1B1882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8E4BD9-6DC2-4F9D-B612-2AE9733B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683456-A358-4B6D-8324-5D169B4E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BBD422-4111-4204-B34E-0B26F815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51911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DEDE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D628E-3B39-4714-9745-8E88142E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762125"/>
            <a:ext cx="4772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65353"/>
                </a:solidFill>
                <a:latin typeface="Arial"/>
                <a:ea typeface="Arial"/>
                <a:cs typeface="Arial"/>
              </a:rPr>
              <a:t>Target leakage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9E9017-6E2F-4537-9C94-BB365402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257425"/>
            <a:ext cx="47720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A feature contains the outcome or a later consequence.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AECC4F-4860-48F9-B0CB-034E625F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71625"/>
            <a:ext cx="51911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86768E-9FB7-4B32-9C72-6DE35CA8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62125"/>
            <a:ext cx="4772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Preprocessing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D40E1F-DA10-4215-BA81-9C80956A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57425"/>
            <a:ext cx="47720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Scaling, imputation, vocabulary, or selection sees held-out data.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6EFE2D-8BDD-4444-9226-EF1EABCC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62375"/>
            <a:ext cx="51911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5D26EA-8EBA-427F-B97A-B0B2228D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952875"/>
            <a:ext cx="4772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Group or duplicate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2184BE-DFF2-4607-A3C3-81DEA0C2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448175"/>
            <a:ext cx="47720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One source, original, or entity appears in several partitions.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87E3B1-4F7F-4CF4-A5C0-FE6E0350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62375"/>
            <a:ext cx="51911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1F3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0D202F-F9B5-4B62-8BB9-AA45F7E9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52875"/>
            <a:ext cx="4772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Temporal leakage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E005C3-EAE4-4769-810A-454AB896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48175"/>
            <a:ext cx="47720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Future observations influence predictions about the past.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0E734C-6028-47C3-A8B8-AE16DBA7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90550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Name the information that crossed the boundary.</a:t>
            </a:r>
          </a:p>
        </p:txBody>
      </p:sp>
    </p:spTree>
    <p:extLst>
      <p:ext uri="{BB962C8B-B14F-4D97-AF65-F5344CB8AC3E}">
        <p14:creationId xmlns:p14="http://schemas.microsoft.com/office/powerpoint/2010/main" val="16775001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4E6FC8-2413-4770-8758-A8A84377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Fit preprocessing safely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105BB6-A24C-4F82-8F8D-BC9DCD21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A78B2-A11C-4AF0-93B0-A4A74D29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587CB2-7019-4395-B35F-1D4384CB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545451-4B08-47DF-B480-9AA2E128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809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28575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0201AC-B992-4B2A-956B-CB86C422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241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1FFE8D-532D-405B-98C9-0A043CBD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4325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Split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8358B9-20CC-4B9A-9DBF-97386277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289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708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A80625-8D21-40BE-8576-FF2C55C6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33625"/>
            <a:ext cx="1809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28575">
            <a:solidFill>
              <a:srgbClr val="F2B8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36B6AC-C205-4774-859C-AF50715C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241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101844-8DCC-49B5-8E17-64037B25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Fit transform</a:t>
            </a:r>
          </a:p>
          <a:p xmlns:a="http://schemas.openxmlformats.org/drawingml/2006/main">
            <a:pPr algn="ctr">
              <a:defRPr sz="17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on training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C68864-4192-4EE2-A912-2E84C3A5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289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708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289ED4-63C5-4C8C-BE31-933D9607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33625"/>
            <a:ext cx="1809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28575">
            <a:solidFill>
              <a:srgbClr val="10A7A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4C7752-46A4-4E86-8C5E-B4C929A6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5241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6C528A-FABF-4A30-8443-3A2BF28E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14325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Transform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all partitions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AC8AE6-7B79-48A8-A2EF-CF9DD185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289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708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9470A6-BB9C-4EC4-AC21-E014073B6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33625"/>
            <a:ext cx="1809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28575">
            <a:solidFill>
              <a:srgbClr val="10A7A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6DC1FD-ADD8-49BB-997C-DB8DB585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241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632D8C-5730-43C8-826D-98BAA08E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Fit model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 training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1D8F7A-B357-4918-B675-03AB16F0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028950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8708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1A5F39-3220-48D0-8FDB-A7942EC8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33625"/>
            <a:ext cx="180975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28575">
            <a:solidFill>
              <a:srgbClr val="10A7A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1D7555-B8CC-4446-8A8D-4CC44ACF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524125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F565CE-660A-4E9F-AD2C-01496D71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14325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Choose with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BD40C8-0922-4949-9F4E-372F4BA5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19625"/>
            <a:ext cx="64770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071521"/>
          </a:solidFill>
          <a:ln xmlns:a="http://schemas.openxmlformats.org/drawingml/2006/main" w="19050">
            <a:solidFill>
              <a:srgbClr val="28465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6C67A8-E2E8-41E2-968F-DDD85881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810125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z = (x − training_mean) / training_scale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3DCBBB-D093-4090-92D7-1F840180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810250"/>
            <a:ext cx="733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58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2B84B"/>
                </a:solidFill>
                <a:latin typeface="Arial"/>
                <a:ea typeface="Arial"/>
                <a:cs typeface="Arial"/>
              </a:rPr>
              <a:t>The test set may use a fitted transform; it may not fit the transform.</a:t>
            </a:r>
          </a:p>
        </p:txBody>
      </p:sp>
    </p:spTree>
    <p:extLst>
      <p:ext uri="{BB962C8B-B14F-4D97-AF65-F5344CB8AC3E}">
        <p14:creationId xmlns:p14="http://schemas.microsoft.com/office/powerpoint/2010/main" val="8766964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480CAF-3F54-4931-A4F9-D7A821AC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 baseline gives a score meaning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636BD-A032-4132-B8E9-F29FFE6B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3480E1-43AD-430F-8898-216DDF08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6A17D4-C7EC-4EF4-B2FF-413E2776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7D3247-83C8-49AE-8E90-B37214FB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4287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 model score becomes evidence through comparison.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BFCCE2-ADF0-4EE0-BE59-B5CD516A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19375"/>
            <a:ext cx="20478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418213-3432-4D88-958D-A3F27609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52750"/>
            <a:ext cx="1704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Majority class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DA07A-5D4E-4085-9D7A-87C4E098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67125"/>
            <a:ext cx="1704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classification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95ED15-F904-413D-B5FB-64DE1824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619375"/>
            <a:ext cx="20478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3A877C-8674-45A7-B852-C7D32604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952750"/>
            <a:ext cx="1704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11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Mean or median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15E061-C32C-4881-BA68-0FBA78620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667125"/>
            <a:ext cx="1704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regression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2E4811-AAA7-4680-9FCD-E5C20F20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619375"/>
            <a:ext cx="20478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421B60-C8BC-4D8D-AE5E-B4C548AB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952750"/>
            <a:ext cx="1704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Persistence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9F83E1-E63E-44CF-B126-3BC53EFA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667125"/>
            <a:ext cx="1704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forecasting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7ADFF4-E0AD-4662-AAB1-58BFFDA4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619375"/>
            <a:ext cx="20478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C06C1D-F411-48D2-B485-784B19E2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52750"/>
            <a:ext cx="1704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Simple linear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4556A6-C90D-4A29-A5BC-3DFEA2D3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67125"/>
            <a:ext cx="1704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learned baseline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81813B-6138-489D-BA06-C7E05B04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619375"/>
            <a:ext cx="20478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A1D7C8-3555-4716-BA29-509E4460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952750"/>
            <a:ext cx="1704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Current procedure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500541-1888-4E92-9C66-2C575AB4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667125"/>
            <a:ext cx="1704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operational reference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4D028C-93CA-4047-A448-98709AAF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43500"/>
            <a:ext cx="552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9974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Complexity needs a demonstrated benefit.</a:t>
            </a:r>
          </a:p>
        </p:txBody>
      </p:sp>
    </p:spTree>
    <p:extLst>
      <p:ext uri="{BB962C8B-B14F-4D97-AF65-F5344CB8AC3E}">
        <p14:creationId xmlns:p14="http://schemas.microsoft.com/office/powerpoint/2010/main" val="7425564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596129-A3D4-4852-89D1-A2571D44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The confusion matrix preserves the errors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0D6DCC-2AD0-48AC-AA30-FB830483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B70DEA-DD6C-45DB-AC42-C91E9A19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F549DC-30DF-4DCB-8D09-85570A84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1666875" y="1666875"/>
          <a:ext xmlns:a="http://schemas.openxmlformats.org/drawingml/2006/main" cx="885825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000375"/>
                <a:gridCol w="3000375"/>
              </a:tblGrid>
              <a:tr h="1047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Predicted positive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Predicted negative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Actually positive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2B7A6D"/>
                          </a:solidFill>
                          <a:latin typeface="Arial"/>
                          <a:ea typeface="Arial"/>
                          <a:cs typeface="Arial"/>
                        </a:rPr>
                        <a:t>True positive  TP</a:t>
                      </a:r>
                    </a:p>
                  </a:txBody>
                  <a:tcPr marL="91440" marR="91440" marT="45720" marB="45720">
                    <a:solidFill>
                      <a:srgbClr val="DDEE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B65353"/>
                          </a:solidFill>
                          <a:latin typeface="Arial"/>
                          <a:ea typeface="Arial"/>
                          <a:cs typeface="Arial"/>
                        </a:rPr>
                        <a:t>False negative  FN</a:t>
                      </a:r>
                    </a:p>
                  </a:txBody>
                  <a:tcPr marL="91440" marR="91440" marT="45720" marB="45720">
                    <a:solidFill>
                      <a:srgbClr val="F4DEDE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Actually negative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B65353"/>
                          </a:solidFill>
                          <a:latin typeface="Arial"/>
                          <a:ea typeface="Arial"/>
                          <a:cs typeface="Arial"/>
                        </a:rPr>
                        <a:t>False positive  FP</a:t>
                      </a:r>
                    </a:p>
                  </a:txBody>
                  <a:tcPr marL="91440" marR="91440" marT="45720" marB="45720">
                    <a:solidFill>
                      <a:srgbClr val="F4DE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2B7A6D"/>
                          </a:solidFill>
                          <a:latin typeface="Arial"/>
                          <a:ea typeface="Arial"/>
                          <a:cs typeface="Arial"/>
                        </a:rPr>
                        <a:t>True negative  TN</a:t>
                      </a:r>
                    </a:p>
                  </a:txBody>
                  <a:tcPr marL="91440" marR="91440" marT="45720" marB="45720">
                    <a:solidFill>
                      <a:srgbClr val="DDEEE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B4F8E1-A8FF-4134-BE8C-FFD64A56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29250"/>
            <a:ext cx="781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7082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Start with counts. Then choose the summary that matches the decision.</a:t>
            </a:r>
          </a:p>
        </p:txBody>
      </p:sp>
    </p:spTree>
    <p:extLst>
      <p:ext uri="{BB962C8B-B14F-4D97-AF65-F5344CB8AC3E}">
        <p14:creationId xmlns:p14="http://schemas.microsoft.com/office/powerpoint/2010/main" val="7448492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58C33D-DA84-4866-A0DD-084402D0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Same predictions, different questions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E3DDE7-D026-472B-AD57-A3BF016D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CB593B-D177-450E-804E-06647E1E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50D794-154F-49CC-9416-CF697AFB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C6A671-83A3-4FE9-A35C-7ACFD0C72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854066-C600-4C76-9BEE-7D1C8413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3811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(TP + TN) / all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173313-70F8-4103-BA9A-055FD9E9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81125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How often is the prediction correct?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E66DBC-B777-4DED-939D-83C002C8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83E3C-AB3E-4552-B68E-56FA2850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764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Precision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CA5D7D-EEEF-4B2E-B820-1FE8C18F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2764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TP / (TP + FP)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0A47E9-3C92-4547-AC95-E68A548D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76475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When positive is predicted, how often is it right?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C7A4E0-954A-4662-A955-C8077455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F533FD-C118-450E-8D78-4F381174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Recall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312917-48C6-46B3-B39F-50344833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1718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TP / (TP + FN)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72AA5A-4B7C-4C15-BC83-6F5C006A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71825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How many actual positives are detected?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539BC2-DF1D-4CA4-BC70-3458DB00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B05C84-3158-4123-849D-C8E8A1B1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671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Specificity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5A1B86-A5D6-470B-81C6-B91522CC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0671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TN / (TN + FP)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8A7F39-EC6B-42E0-AD12-ED4472FE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67175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How many actual negatives are rejected?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75F9CF-990A-4E5E-A262-1E4A6484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802360-9C74-47BD-BF0A-06C701C3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625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Balanced accuracy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4909A0-C7E7-41A9-A9FE-18C53E5D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9625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(recall + specificity) / 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9911D5-88D0-4694-AA96-6D1CED5C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62525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How well are the two classes handled equally?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169DCE-1DB8-48F5-BAC6-C41AD7D3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953125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425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The metric follows the cost and intended use.</a:t>
            </a:r>
          </a:p>
        </p:txBody>
      </p:sp>
    </p:spTree>
    <p:extLst>
      <p:ext uri="{BB962C8B-B14F-4D97-AF65-F5344CB8AC3E}">
        <p14:creationId xmlns:p14="http://schemas.microsoft.com/office/powerpoint/2010/main" val="148288895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FF86A6-E667-4A79-9F87-5F4EC576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Thresholds trade errors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B01AAD-E716-41E6-8CFE-FDCC862E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ACDFA3-A472-4093-AD5F-BA867FDE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48F331-CA1E-4342-A530-5A45A479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F51B8F-064E-4184-B520-159A6270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76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POSITIVE IF SCORE ≥ THRESHOLD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802492-91B6-4215-B8E2-B058FEDF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619625"/>
            <a:ext cx="542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960CE6-9814-46D1-A03C-E9700195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38375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1F3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ECE197-FC02-45BB-9F65-6216ECEF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57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low threshold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D2D101-FECF-41F2-9F31-7CDD270D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8577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high threshold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93851E-CF9E-4E18-8F2A-F9AA1FFB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224AFD-1B34-4029-A8C9-96AE9340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62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C2D05B-390C-4C76-9FE5-3BC4408C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47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358529-4104-4F72-878E-4B7FD330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28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96CFDD-0904-46AB-90F3-094DCA73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57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117EBC-DC41-4433-A2A2-386048D93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933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1CC715-C634-4DDE-A1AC-C1BF99E5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14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8005FC-046D-4623-B5C6-62AF38A3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67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A3E0B1-7E23-4B20-A974-517F8B16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933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2A0120-3574-4226-9ACE-023EE124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5052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8C3578-394C-47D2-AD43-B5CDE1DC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76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F5A09A-37DA-4B3B-A08F-0FC3EE34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47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CE8302-F447-4098-B6A5-55845B0D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14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63F3A8-E22E-41F8-ACAB-B44AE8C4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095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recall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08F288-A9A8-47B2-81CA-F19B4B7E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095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specificity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BF5965-F341-460B-BF8E-FD34BB3A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952625"/>
            <a:ext cx="3810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05FDB3-3CE2-42E4-BB06-74220C1B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143125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Lower threshold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19FA18-1544-4023-9857-417EF5BF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638425"/>
            <a:ext cx="3390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6547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More positive predictions; often more recall and false positives.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55C3C8-EAB4-4065-8DBE-538F5523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71875"/>
            <a:ext cx="3810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7A3690-658B-419E-B4B8-8F51F736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762375"/>
            <a:ext cx="339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Higher threshold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E82CDC-F4E5-4048-A7D8-50F5D49A5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257675"/>
            <a:ext cx="3390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6547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Fewer positive predictions; often more specificity and false negatives.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A63680-C080-4C25-A67B-5B0B3C24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619750"/>
            <a:ext cx="704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664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Choose with validation data and a stated cost or capacity.</a:t>
            </a:r>
          </a:p>
        </p:txBody>
      </p:sp>
    </p:spTree>
    <p:extLst>
      <p:ext uri="{BB962C8B-B14F-4D97-AF65-F5344CB8AC3E}">
        <p14:creationId xmlns:p14="http://schemas.microsoft.com/office/powerpoint/2010/main" val="101790407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D95B1F-A18E-4A17-917E-F080CEDA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Lab: repeated measurements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69B1E-DA03-40C0-A201-D953822A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ACA3B4-C009-4D85-BC45-D5EFE684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B01D4-836E-46E1-A765-0F7DB201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F1DE9-5222-4703-94D6-F6ACC9F0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EVALUATION CLAIM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156FCC-4D15-4D73-8975-15388EA1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Performance on participants unseen during fitting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DE5FC9-25CC-41E8-B333-0F54696D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14625"/>
            <a:ext cx="4762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02A41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ECA898-3CAF-465B-8089-C769D215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05125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65353"/>
                </a:solidFill>
                <a:latin typeface="Arial"/>
                <a:ea typeface="Arial"/>
                <a:cs typeface="Arial"/>
              </a:rPr>
              <a:t>Row-wise split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C3DFD2-E59E-4838-B4D6-39DB836A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0425"/>
            <a:ext cx="43434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36 train/test groups overlap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 balanced accuracy  0.913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BE4D8F-6F84-403B-AC44-54E24C99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14625"/>
            <a:ext cx="4762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02A41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172B2C-1012-44DC-84C5-91401474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05125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Grouped split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9D689A-610F-4578-A135-6551A610A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00425"/>
            <a:ext cx="43434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 train/test groups overlap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 balanced accuracy  0.504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920E17-5D63-4F7C-9DCE-D4868429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572125"/>
            <a:ext cx="676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Predict first • run second • explain the mechanism</a:t>
            </a:r>
          </a:p>
        </p:txBody>
      </p:sp>
    </p:spTree>
    <p:extLst>
      <p:ext uri="{BB962C8B-B14F-4D97-AF65-F5344CB8AC3E}">
        <p14:creationId xmlns:p14="http://schemas.microsoft.com/office/powerpoint/2010/main" val="137622564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93CE7D-77F6-49F6-9E9A-0B423ED1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One split is one estimate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B4DECE-0D53-450A-971D-260DDC28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226EF-2310-4ED2-8738-0A46839D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5BCD21-5A57-4073-870C-2C058F05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22CD37-B165-4FAB-9655-3A701F6A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638"/>
          </a:bodyPr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0.78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0B856E-D2E4-4DA8-B038-5E4CAC17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527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878"/>
                </a:solidFill>
                <a:latin typeface="Arial"/>
                <a:ea typeface="Arial"/>
                <a:cs typeface="Arial"/>
              </a:rPr>
              <a:t>test balanced accuracy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5CC4DF-68AD-4899-8153-2251DBD2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2400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55F6AF-F822-4413-9A22-67C02329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524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RECORD ENOUGH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99EE61-1167-42A8-B8F5-7FA59337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152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274C18-8054-4188-8387-D826448E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047875"/>
            <a:ext cx="5353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Counts and class composition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FB4F16-EE0E-4D8E-8622-831F4C36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771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6BDE62-4CD8-4EB3-BE3D-54A9E4C8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2667000"/>
            <a:ext cx="5353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Uncertainty or repeated estimates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DB84D5-45C7-4C3E-978A-A3C7137A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390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5D0142-0E2C-4804-9364-FE7A927D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286125"/>
            <a:ext cx="5353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Subgroup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573070-B17F-4AAF-ADF7-D8A5F80A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010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5FF622-9AC5-417E-83B1-89A5CD8D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905250"/>
            <a:ext cx="5353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Split seed and procedure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E7452A-2C0E-46E8-85CB-0FEFA658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629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EBD552-AD12-4AF6-978F-11F91707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524375"/>
            <a:ext cx="5353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B3A"/>
                </a:solidFill>
                <a:latin typeface="Arial"/>
                <a:ea typeface="Arial"/>
                <a:cs typeface="Arial"/>
              </a:rPr>
              <a:t>Complete selection 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A95DC3-1BFE-4F11-B0BE-5AAEDD1A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715000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057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 fixed seed repeats one draw; it does not prove robustness.</a:t>
            </a:r>
          </a:p>
        </p:txBody>
      </p:sp>
    </p:spTree>
    <p:extLst>
      <p:ext uri="{BB962C8B-B14F-4D97-AF65-F5344CB8AC3E}">
        <p14:creationId xmlns:p14="http://schemas.microsoft.com/office/powerpoint/2010/main" val="72446554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7960AD-5750-4742-8AB5-E0E6FD0A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Screen the dataset before modeling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5475B6-0FDC-4EEC-94A9-74FCD608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34554C-A1DD-4D25-959A-2692D739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A1CBD6-9236-49AA-88DE-E0A47134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878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B94BA8-1248-46BA-B2FE-C50049BF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87FE82-F17A-4122-B23A-A7CD2995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49542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Access and permitted 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ECD613-BDCA-4BA1-9FE3-66FA29EA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6692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1EFB10-AB8A-401D-82BD-7AA020B7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76375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68AC96-10E7-4B21-A6AD-A90C77ED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49542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Observation and target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280D1C-906E-4BC9-9FCF-AC2E9C78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6692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9AC5B7-C6EA-4234-BDEF-F0B20FAA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76500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028B1D-2258-4843-9B8A-CC3136F0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4955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Dependence and grouping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B4643F-8D08-4C71-879A-9C9B6416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06705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23FF7F-BDDE-4152-8F55-FAAC91B5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76500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5507F6-8238-44A5-BFB7-A46B94F3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955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Population coverage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AAB2AE-C596-444F-9EAB-DA98498F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06705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2B7FC1-E03A-4227-AFCE-A6B4A720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76625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0CF142-47F2-48F1-95C2-F758AF3F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9567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Class and subgroup counts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B34DDF-71CB-4504-AE3F-326C187B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6717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D21839-EB4B-48E0-BC52-94748A89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76625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A1453E-FB7E-45E2-AE5E-7AE458DF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9567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Baseline and metric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6BB9D0-4448-44E3-87CE-821B3BDF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06717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7ECB64-9D5B-4B11-BC71-5C17FC26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76750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61957E-5949-4695-8966-982944B2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4958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Reproducible preparation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400710-03E7-428E-BCF3-0BC618E4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6730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22D3B7-D510-4932-A07F-0939A9F4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76750"/>
            <a:ext cx="61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A7A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2BC316-18BE-4901-99D0-D2DA165C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958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F33"/>
                </a:solidFill>
                <a:latin typeface="Arial"/>
                <a:ea typeface="Arial"/>
                <a:cs typeface="Arial"/>
              </a:rPr>
              <a:t>Privacy and ethical limits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BAE6C5-2500-4BC1-8385-C650DAC8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06730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1BF1C3-3B9D-436B-97E5-6634838F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619750"/>
            <a:ext cx="590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A43597-1044-4BF1-BFEE-9680DA29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73405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CONTINUE   •   INVESTIGATE   •   REPLACE</a:t>
            </a:r>
          </a:p>
        </p:txBody>
      </p:sp>
    </p:spTree>
    <p:extLst>
      <p:ext uri="{BB962C8B-B14F-4D97-AF65-F5344CB8AC3E}">
        <p14:creationId xmlns:p14="http://schemas.microsoft.com/office/powerpoint/2010/main" val="7051442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A3045C-F8C9-493A-9BE9-BD6FB4AD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9BCFD4-D638-42F6-AB98-12AD07FC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BD389-E104-4949-A0C1-73B871AC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5C93C-D1B1-4EA3-8F6E-46130289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428AB-A985-4A83-8914-10B5A6CF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WRITE FOUR CONCISE ANSWERS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E5D2B-84EE-43F3-B9F1-D174B6BC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66A11-0D10-4786-80D0-565CD81F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028825"/>
            <a:ext cx="895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future cases should the project handle?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AD3F9D-5688-4ACD-B343-E25979C1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59080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5C61C5-746D-4264-8E0B-AE4952AF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7E607-F32B-4CAF-8662-A4B53D41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905125"/>
            <a:ext cx="895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Which split simulates that use?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03B047-C838-4E10-BD44-A0BCC4CD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46710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D286CF-B5F0-43CC-B35F-792F64F6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28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76D7D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5F4CC4-7C0E-4C65-9269-546E25FC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781425"/>
            <a:ext cx="895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leakage risk is most plausible?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A743FF-5798-442B-85F2-C8A185E0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34340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58FA1D-34C3-4C41-A2DC-1F890A9B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7A04C8-BF2A-45E2-88BD-6C0BDE0C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657725"/>
            <a:ext cx="895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evidence could make you reject the dataset?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43DF9F-D773-4A45-A8D1-E5F07A86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21970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9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D7DCD3-5CB2-42C8-93A1-EC59F8A1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57875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Next: data quality and model comparison</a:t>
            </a:r>
          </a:p>
        </p:txBody>
      </p:sp>
    </p:spTree>
    <p:extLst>
      <p:ext uri="{BB962C8B-B14F-4D97-AF65-F5344CB8AC3E}">
        <p14:creationId xmlns:p14="http://schemas.microsoft.com/office/powerpoint/2010/main" val="3779260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2026-09-04T23:10:10.8320000Z</dcterms:created>
  <dcterms:modified xsi:type="dcterms:W3CDTF">2026-09-04T23:10:10.8320000Z</dcterms:modified>
</coreProperties>
</file>