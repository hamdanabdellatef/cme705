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d845f8f48a462d" /><Relationship Type="http://schemas.openxmlformats.org/officeDocument/2006/relationships/extended-properties" Target="/docProps/app.xml" Id="R19823247504b4dd6" /><Relationship Type="http://schemas.openxmlformats.org/officeDocument/2006/relationships/officeDocument" Target="/ppt/presentation.xml" Id="R11e00fd527664996" /></Relationships>
</file>

<file path=ppt/presentation.xml><?xml version="1.0" encoding="utf-8"?>
<p:presentation xmlns:p="http://schemas.openxmlformats.org/presentationml/2006/main">
  <p:sldMasterIdLst>
    <p:sldMasterId xmlns:r="http://schemas.openxmlformats.org/officeDocument/2006/relationships" id="2147483648" r:id="R4633c79577564773"/>
  </p:sldMasterIdLst>
  <p:notesMasterIdLst>
    <p:notesMasterId xmlns:r="http://schemas.openxmlformats.org/officeDocument/2006/relationships" r:id="R15f88bbe4025470c"/>
  </p:notesMasterIdLst>
  <p:sldIdLst>
    <p:sldId xmlns:r="http://schemas.openxmlformats.org/officeDocument/2006/relationships" id="256" r:id="Ra5c9f35b559146c5"/>
    <p:sldId xmlns:r="http://schemas.openxmlformats.org/officeDocument/2006/relationships" id="257" r:id="Rcaac6a60792645c6"/>
    <p:sldId xmlns:r="http://schemas.openxmlformats.org/officeDocument/2006/relationships" id="258" r:id="R994072ce79e04e6e"/>
    <p:sldId xmlns:r="http://schemas.openxmlformats.org/officeDocument/2006/relationships" id="259" r:id="Ra0a7b6b009494b26"/>
    <p:sldId xmlns:r="http://schemas.openxmlformats.org/officeDocument/2006/relationships" id="260" r:id="R8de4ed741de4459a"/>
    <p:sldId xmlns:r="http://schemas.openxmlformats.org/officeDocument/2006/relationships" id="261" r:id="R47fdf48aef594242"/>
    <p:sldId xmlns:r="http://schemas.openxmlformats.org/officeDocument/2006/relationships" id="262" r:id="Rd954301e8e0f4eb6"/>
    <p:sldId xmlns:r="http://schemas.openxmlformats.org/officeDocument/2006/relationships" id="263" r:id="R5fe2eeae43f14223"/>
    <p:sldId xmlns:r="http://schemas.openxmlformats.org/officeDocument/2006/relationships" id="264" r:id="Re9540b702e1b4261"/>
    <p:sldId xmlns:r="http://schemas.openxmlformats.org/officeDocument/2006/relationships" id="265" r:id="R4ffd5a1fa29446df"/>
    <p:sldId xmlns:r="http://schemas.openxmlformats.org/officeDocument/2006/relationships" id="266" r:id="R4746faf18b194345"/>
    <p:sldId xmlns:r="http://schemas.openxmlformats.org/officeDocument/2006/relationships" id="267" r:id="Rf39e9120d84841ad"/>
    <p:sldId xmlns:r="http://schemas.openxmlformats.org/officeDocument/2006/relationships" id="268" r:id="R0e5437c7898447d9"/>
    <p:sldId xmlns:r="http://schemas.openxmlformats.org/officeDocument/2006/relationships" id="269" r:id="R70c7ba96c8774be4"/>
    <p:sldId xmlns:r="http://schemas.openxmlformats.org/officeDocument/2006/relationships" id="270" r:id="R5b061bdb13d54d6c"/>
    <p:sldId xmlns:r="http://schemas.openxmlformats.org/officeDocument/2006/relationships" id="271" r:id="R9c23f37bd66d4802"/>
    <p:sldId xmlns:r="http://schemas.openxmlformats.org/officeDocument/2006/relationships" id="272" r:id="R707db2321914412e"/>
    <p:sldId xmlns:r="http://schemas.openxmlformats.org/officeDocument/2006/relationships" id="273" r:id="R6be6f504d13c44db"/>
    <p:sldId xmlns:r="http://schemas.openxmlformats.org/officeDocument/2006/relationships" id="274" r:id="R692fb2ab5b04489a"/>
    <p:sldId xmlns:r="http://schemas.openxmlformats.org/officeDocument/2006/relationships" id="275" r:id="Rb7e5593078d6456d"/>
    <p:sldId xmlns:r="http://schemas.openxmlformats.org/officeDocument/2006/relationships" id="276" r:id="Rc033991a7ce14d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94e70148814f4e" /><Relationship Type="http://schemas.openxmlformats.org/officeDocument/2006/relationships/slideMaster" Target="/ppt/slideMasters/slideMaster1.xml" Id="R4633c79577564773" /><Relationship Type="http://schemas.openxmlformats.org/officeDocument/2006/relationships/notesMaster" Target="/ppt/notesMasters/notesMaster1.xml" Id="R15f88bbe4025470c" /><Relationship Type="http://schemas.openxmlformats.org/officeDocument/2006/relationships/presProps" Target="/ppt/presProps.xml" Id="R8ec86802c401406c" /><Relationship Type="http://schemas.openxmlformats.org/officeDocument/2006/relationships/tableStyles" Target="/ppt/tableStyles.xml" Id="R970356b1219f4f4e" /><Relationship Type="http://schemas.openxmlformats.org/officeDocument/2006/relationships/slide" Target="/ppt/slides/slide1.xml" Id="Ra5c9f35b559146c5" /><Relationship Type="http://schemas.openxmlformats.org/officeDocument/2006/relationships/slide" Target="/ppt/slides/slide2.xml" Id="Rcaac6a60792645c6" /><Relationship Type="http://schemas.openxmlformats.org/officeDocument/2006/relationships/slide" Target="/ppt/slides/slide3.xml" Id="R994072ce79e04e6e" /><Relationship Type="http://schemas.openxmlformats.org/officeDocument/2006/relationships/slide" Target="/ppt/slides/slide4.xml" Id="Ra0a7b6b009494b26" /><Relationship Type="http://schemas.openxmlformats.org/officeDocument/2006/relationships/slide" Target="/ppt/slides/slide5.xml" Id="R8de4ed741de4459a" /><Relationship Type="http://schemas.openxmlformats.org/officeDocument/2006/relationships/slide" Target="/ppt/slides/slide6.xml" Id="R47fdf48aef594242" /><Relationship Type="http://schemas.openxmlformats.org/officeDocument/2006/relationships/slide" Target="/ppt/slides/slide7.xml" Id="Rd954301e8e0f4eb6" /><Relationship Type="http://schemas.openxmlformats.org/officeDocument/2006/relationships/slide" Target="/ppt/slides/slide8.xml" Id="R5fe2eeae43f14223" /><Relationship Type="http://schemas.openxmlformats.org/officeDocument/2006/relationships/slide" Target="/ppt/slides/slide9.xml" Id="Re9540b702e1b4261" /><Relationship Type="http://schemas.openxmlformats.org/officeDocument/2006/relationships/slide" Target="/ppt/slides/slide10.xml" Id="R4ffd5a1fa29446df" /><Relationship Type="http://schemas.openxmlformats.org/officeDocument/2006/relationships/slide" Target="/ppt/slides/slide11.xml" Id="R4746faf18b194345" /><Relationship Type="http://schemas.openxmlformats.org/officeDocument/2006/relationships/slide" Target="/ppt/slides/slide12.xml" Id="Rf39e9120d84841ad" /><Relationship Type="http://schemas.openxmlformats.org/officeDocument/2006/relationships/slide" Target="/ppt/slides/slide13.xml" Id="R0e5437c7898447d9" /><Relationship Type="http://schemas.openxmlformats.org/officeDocument/2006/relationships/slide" Target="/ppt/slides/slide14.xml" Id="R70c7ba96c8774be4" /><Relationship Type="http://schemas.openxmlformats.org/officeDocument/2006/relationships/slide" Target="/ppt/slides/slide15.xml" Id="R5b061bdb13d54d6c" /><Relationship Type="http://schemas.openxmlformats.org/officeDocument/2006/relationships/slide" Target="/ppt/slides/slide16.xml" Id="R9c23f37bd66d4802" /><Relationship Type="http://schemas.openxmlformats.org/officeDocument/2006/relationships/slide" Target="/ppt/slides/slide17.xml" Id="R707db2321914412e" /><Relationship Type="http://schemas.openxmlformats.org/officeDocument/2006/relationships/slide" Target="/ppt/slides/slide18.xml" Id="R6be6f504d13c44db" /><Relationship Type="http://schemas.openxmlformats.org/officeDocument/2006/relationships/slide" Target="/ppt/slides/slide19.xml" Id="R692fb2ab5b04489a" /><Relationship Type="http://schemas.openxmlformats.org/officeDocument/2006/relationships/slide" Target="/ppt/slides/slide20.xml" Id="Rb7e5593078d6456d" /><Relationship Type="http://schemas.openxmlformats.org/officeDocument/2006/relationships/slide" Target="/ppt/slides/slide21.xml" Id="Rc033991a7ce14d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5b530ceb8741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8cd3258e1b48d5" /><Relationship Type="http://schemas.openxmlformats.org/officeDocument/2006/relationships/notesMaster" Target="/ppt/notesMasters/notesMaster1.xml" Id="R84d650d2b5d445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61b9111ba54675" /><Relationship Type="http://schemas.openxmlformats.org/officeDocument/2006/relationships/notesMaster" Target="/ppt/notesMasters/notesMaster1.xml" Id="Rbf48f30d95e349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254b08b4fb44da" /><Relationship Type="http://schemas.openxmlformats.org/officeDocument/2006/relationships/notesMaster" Target="/ppt/notesMasters/notesMaster1.xml" Id="R945167144c8047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38d1dc33174ba6" /><Relationship Type="http://schemas.openxmlformats.org/officeDocument/2006/relationships/notesMaster" Target="/ppt/notesMasters/notesMaster1.xml" Id="Rbcf1ae590e1045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a7dff0cb254d2a" /><Relationship Type="http://schemas.openxmlformats.org/officeDocument/2006/relationships/notesMaster" Target="/ppt/notesMasters/notesMaster1.xml" Id="R9dd8e49834d24e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5f0b4d54be48fb" /><Relationship Type="http://schemas.openxmlformats.org/officeDocument/2006/relationships/notesMaster" Target="/ppt/notesMasters/notesMaster1.xml" Id="R6268156a3da646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759dd9b3df4206" /><Relationship Type="http://schemas.openxmlformats.org/officeDocument/2006/relationships/notesMaster" Target="/ppt/notesMasters/notesMaster1.xml" Id="R294b53ba528a4a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ed42bab0a943da" /><Relationship Type="http://schemas.openxmlformats.org/officeDocument/2006/relationships/notesMaster" Target="/ppt/notesMasters/notesMaster1.xml" Id="Rbcf26dce89e441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cf150b894b43aa" /><Relationship Type="http://schemas.openxmlformats.org/officeDocument/2006/relationships/notesMaster" Target="/ppt/notesMasters/notesMaster1.xml" Id="R0bb36e772e6a4e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a65022e05348f2" /><Relationship Type="http://schemas.openxmlformats.org/officeDocument/2006/relationships/notesMaster" Target="/ppt/notesMasters/notesMaster1.xml" Id="R956a7ee2a15943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628a1229a14237" /><Relationship Type="http://schemas.openxmlformats.org/officeDocument/2006/relationships/notesMaster" Target="/ppt/notesMasters/notesMaster1.xml" Id="R30b745c4d49f45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d236eaead7497e" /><Relationship Type="http://schemas.openxmlformats.org/officeDocument/2006/relationships/notesMaster" Target="/ppt/notesMasters/notesMaster1.xml" Id="R061bb6e40ef444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11bee0286845ef" /><Relationship Type="http://schemas.openxmlformats.org/officeDocument/2006/relationships/notesMaster" Target="/ppt/notesMasters/notesMaster1.xml" Id="R66276e936dec4c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21394246164d27" /><Relationship Type="http://schemas.openxmlformats.org/officeDocument/2006/relationships/notesMaster" Target="/ppt/notesMasters/notesMaster1.xml" Id="Rddaa150dcf054d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fc500075e54361" /><Relationship Type="http://schemas.openxmlformats.org/officeDocument/2006/relationships/notesMaster" Target="/ppt/notesMasters/notesMaster1.xml" Id="Rf59640d89d6b48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da226b61ab46df" /><Relationship Type="http://schemas.openxmlformats.org/officeDocument/2006/relationships/notesMaster" Target="/ppt/notesMasters/notesMaster1.xml" Id="R03e26f669ba843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2816c101f943cc" /><Relationship Type="http://schemas.openxmlformats.org/officeDocument/2006/relationships/notesMaster" Target="/ppt/notesMasters/notesMaster1.xml" Id="R38ce1848b18a44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c9aee828514d8f" /><Relationship Type="http://schemas.openxmlformats.org/officeDocument/2006/relationships/notesMaster" Target="/ppt/notesMasters/notesMaster1.xml" Id="R32507074a6124b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34dfc65ff11469b" /><Relationship Type="http://schemas.openxmlformats.org/officeDocument/2006/relationships/notesMaster" Target="/ppt/notesMasters/notesMaster1.xml" Id="Rbc20b22b30214ab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052b952aec4791" /><Relationship Type="http://schemas.openxmlformats.org/officeDocument/2006/relationships/notesMaster" Target="/ppt/notesMasters/notesMaster1.xml" Id="R7517037c5a984cc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1d5a41edf24ffc" /><Relationship Type="http://schemas.openxmlformats.org/officeDocument/2006/relationships/notesMaster" Target="/ppt/notesMasters/notesMaster1.xml" Id="Redb3b489c6fb45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 State the guiding question: how do gradients, learning rates, and update schedules change model parameters and the evidence used to judge training? Explain that multilayer backpropagation begins in Week 6. The cover is an original generated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 minutes. Point students to the worksheet. The evidence moves from a hand calculation to a validation-controlled project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 minutes. Contrast a computed prediction with a learning procedure. Today adds an objective, gradient, and parameter update. Reserve multilayer chain rule for next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9 minutes. Ask which quantity supplies the gradient and which quantity reflects the research question. Validation selects a configuration; test evaluates the selected procedure.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 minutes. Trace the parabola and derivative signs at zero, three, and five. A derivative is local information and a zero derivative is not always a global minimum.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 minutes. The gradient points toward local increase. Subtraction reverses the direction. Stress that a descent direction does not guarantee a global solution on every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 minutes. Students substitute every value. The objective falls from nine to 5.76. This supports improvement for one step, not convergence.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 minutes. Name every symbol. Direction and step length are separate decisions. The same form will appear again when backpropagation supplies the gradient.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 minutes. Define predictions and residuals before the objective. Keep observations in rows. Ask students to annotate every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15 minutes. Derive one weight component, then stack the components into X transpose e. Require the gradient and parameter shapes to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 minutes. Compare the data used for each gradient estimate. Avoid ranking schedules without stating the compute budget, hardware, and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9 minutes. The final mini-batch contains 28 examples. Forty epochs imply 40 full-batch, 8,800 stochastic, or 280 mini-batch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 minutes. Students construct the three batches. A correct epoch uses every index exactly once and keeps the smaller final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12 minutes. Diagnose slow, useful, and unstable behavior. A small rate can be safe but insufficient within a fixed budget. A large rate can overshoot and diverge.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 minutes. The elongated contours show why one rate can overshoot in one direction and move slowly in another. Fit scaling statistics on training data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 minutes. Ask which split supplies each decision. Repeated test-guided tuning makes the test set another validation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9 minutes. A fixed budget is valid when declared. A flat curve needs context from scaling, gradients, update sizes, and validation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 minutes. Students predict first, run second, and record the two tables. Validation selects 0.010; only then is test MSE reported. The equal-epoch schedule comparison is descriptive because update counts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 minutes. Separate implementation checks, teaching-data observations, and future scientific claims. The lab does not establish that one schedule is universally best.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 minutes. Review one concrete student plan. Require one feasible validation-controlled decision and explicit interpretation rules before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 minutes. Collect four concise statements. Preview Week 6: the update rule remains, while the chain rule supplies gradients through multiple 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428abbefa34c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4625440e104adf" /><Relationship Type="http://schemas.openxmlformats.org/officeDocument/2006/relationships/slideLayout" Target="/ppt/slideLayouts/slideLayout1.xml" Id="R43e86258b23348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e86258b23348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1f318bda1e49fa" /><Relationship Type="http://schemas.openxmlformats.org/officeDocument/2006/relationships/image" Target="/ppt/media/image.png" Id="R2dfdd02809ea42e8" /><Relationship Type="http://schemas.openxmlformats.org/officeDocument/2006/relationships/notesSlide" Target="/ppt/notesSlides/notesSlide1.xml" Id="Rfe06b037f74340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06f6a52eaa44ca8" /><Relationship Type="http://schemas.openxmlformats.org/officeDocument/2006/relationships/notesSlide" Target="/ppt/notesSlides/notesSlide2.xml" Id="Rea237d5fddf349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2a576bdf764d80" /><Relationship Type="http://schemas.openxmlformats.org/officeDocument/2006/relationships/notesSlide" Target="/ppt/notesSlides/notesSlide3.xml" Id="Rc8c46786eaf749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ff3a6e55bd41b2" /><Relationship Type="http://schemas.openxmlformats.org/officeDocument/2006/relationships/notesSlide" Target="/ppt/notesSlides/notesSlide4.xml" Id="Rc3c70b5be82547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ebdbf9ec3b4eff" /><Relationship Type="http://schemas.openxmlformats.org/officeDocument/2006/relationships/notesSlide" Target="/ppt/notesSlides/notesSlide5.xml" Id="R73e7397c2bd843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0ff60b47324c27" /><Relationship Type="http://schemas.openxmlformats.org/officeDocument/2006/relationships/notesSlide" Target="/ppt/notesSlides/notesSlide6.xml" Id="R15cdbfc4642546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a4d05a5b9a4f02" /><Relationship Type="http://schemas.openxmlformats.org/officeDocument/2006/relationships/notesSlide" Target="/ppt/notesSlides/notesSlide7.xml" Id="R3a56eb76979e49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3e399f699f41b0" /><Relationship Type="http://schemas.openxmlformats.org/officeDocument/2006/relationships/notesSlide" Target="/ppt/notesSlides/notesSlide8.xml" Id="R39850909e8654f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9ecb44022f412c" /><Relationship Type="http://schemas.openxmlformats.org/officeDocument/2006/relationships/notesSlide" Target="/ppt/notesSlides/notesSlide9.xml" Id="R3564a9aa114e4b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633e22f13b4d83" /><Relationship Type="http://schemas.openxmlformats.org/officeDocument/2006/relationships/notesSlide" Target="/ppt/notesSlides/notesSlide10.xml" Id="R3ec05d86a0d74e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57c8ca3e274a8e" /><Relationship Type="http://schemas.openxmlformats.org/officeDocument/2006/relationships/notesSlide" Target="/ppt/notesSlides/notesSlide11.xml" Id="R7154156f722644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8af953ff1b845ed" /><Relationship Type="http://schemas.openxmlformats.org/officeDocument/2006/relationships/notesSlide" Target="/ppt/notesSlides/notesSlide12.xml" Id="R4ae9b3989e03408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c7e352548b42db" /><Relationship Type="http://schemas.openxmlformats.org/officeDocument/2006/relationships/notesSlide" Target="/ppt/notesSlides/notesSlide13.xml" Id="Rf15b6a5b002641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f5f0f08f4e4119" /><Relationship Type="http://schemas.openxmlformats.org/officeDocument/2006/relationships/notesSlide" Target="/ppt/notesSlides/notesSlide14.xml" Id="R7db108087eab47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f2aacfbe1524594" /><Relationship Type="http://schemas.openxmlformats.org/officeDocument/2006/relationships/notesSlide" Target="/ppt/notesSlides/notesSlide15.xml" Id="R0423a260f4a048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a196004e9e84190" /><Relationship Type="http://schemas.openxmlformats.org/officeDocument/2006/relationships/notesSlide" Target="/ppt/notesSlides/notesSlide16.xml" Id="Rbbcd842c9d1f439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1fa6126e034b6f" /><Relationship Type="http://schemas.openxmlformats.org/officeDocument/2006/relationships/notesSlide" Target="/ppt/notesSlides/notesSlide17.xml" Id="Rf5c2718f524e421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c0b59e8fbd24faa" /><Relationship Type="http://schemas.openxmlformats.org/officeDocument/2006/relationships/notesSlide" Target="/ppt/notesSlides/notesSlide18.xml" Id="R4eb33b80a7da44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58ba1b3a58d4208" /><Relationship Type="http://schemas.openxmlformats.org/officeDocument/2006/relationships/notesSlide" Target="/ppt/notesSlides/notesSlide19.xml" Id="R58a0c79ef7814cf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eadb839e6654689" /><Relationship Type="http://schemas.openxmlformats.org/officeDocument/2006/relationships/notesSlide" Target="/ppt/notesSlides/notesSlide20.xml" Id="R7da15e2da8dc41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3610170d10e4295" /><Relationship Type="http://schemas.openxmlformats.org/officeDocument/2006/relationships/notesSlide" Target="/ppt/notesSlides/notesSlide21.xml" Id="R36789c1911404e0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dfdd02809ea42e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4C4ABF-425E-4FA5-A263-32D4C17BA7C4}"/>
              </a:ext>
            </a:extLst>
          </p:cNvPr>
          <p:cNvSpPr>
            <a:spLocks xmlns:a="http://schemas.openxmlformats.org/drawingml/2006/main" noGrp="1"/>
          </p:cNvSpPr>
          <p:nvPr/>
        </p:nvSpPr>
        <p:spPr>
          <a:xfrm xmlns:a="http://schemas.openxmlformats.org/drawingml/2006/main">
            <a:off x="704850" y="876300"/>
            <a:ext cx="4953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i="0">
                <a:solidFill>
                  <a:srgbClr val="FFFFFF"/>
                </a:solidFill>
                <a:latin typeface="Arial"/>
                <a:ea typeface="Arial"/>
                <a:cs typeface="Arial"/>
              </a:defRPr>
            </a:pPr>
            <a:r>
              <a:rPr sz="4350" b="1" i="0">
                <a:solidFill>
                  <a:srgbClr val="FFFFFF"/>
                </a:solidFill>
                <a:latin typeface="Arial"/>
                <a:ea typeface="Arial"/>
                <a:cs typeface="Arial"/>
              </a:rPr>
              <a:t>CME705</a:t>
            </a:r>
          </a:p>
          <a:p xmlns:a="http://schemas.openxmlformats.org/drawingml/2006/main">
            <a:pPr algn="l">
              <a:defRPr sz="4350" b="1" i="0">
                <a:solidFill>
                  <a:srgbClr val="FFFFFF"/>
                </a:solidFill>
                <a:latin typeface="Arial"/>
                <a:ea typeface="Arial"/>
                <a:cs typeface="Arial"/>
              </a:defRPr>
            </a:pPr>
            <a:r>
              <a:rPr sz="4350" b="1" i="0">
                <a:solidFill>
                  <a:srgbClr val="FFFFFF"/>
                </a:solidFill>
                <a:latin typeface="Arial"/>
                <a:ea typeface="Arial"/>
                <a:cs typeface="Arial"/>
              </a:rPr>
              <a:t>Machine Learning</a:t>
            </a:r>
          </a:p>
        </p:txBody>
      </p:sp>
      <p:sp>
        <p:nvSpPr>
          <p:cNvPr id="3" name="">
            <a:extLst xmlns:a="http://schemas.openxmlformats.org/drawingml/2006/main">
              <a:ext uri="{FF2B5EF4-FFF2-40B4-BE49-F238E27FC236}">
                <a16:creationId xmlns:a16="http://schemas.microsoft.com/office/drawing/2014/main" id="{2FA65C75-1CD9-43FF-91F4-5942579BD7AA}"/>
              </a:ext>
            </a:extLst>
          </p:cNvPr>
          <p:cNvSpPr>
            <a:spLocks xmlns:a="http://schemas.openxmlformats.org/drawingml/2006/main" noGrp="1"/>
          </p:cNvSpPr>
          <p:nvPr/>
        </p:nvSpPr>
        <p:spPr>
          <a:xfrm xmlns:a="http://schemas.openxmlformats.org/drawingml/2006/main">
            <a:off x="733425" y="2724150"/>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i="0">
                <a:solidFill>
                  <a:srgbClr val="76D7D1"/>
                </a:solidFill>
                <a:latin typeface="Arial"/>
                <a:ea typeface="Arial"/>
                <a:cs typeface="Arial"/>
              </a:defRPr>
            </a:pPr>
            <a:r>
              <a:rPr sz="2100" b="0" i="0">
                <a:solidFill>
                  <a:srgbClr val="76D7D1"/>
                </a:solidFill>
                <a:latin typeface="Arial"/>
                <a:ea typeface="Arial"/>
                <a:cs typeface="Arial"/>
              </a:rPr>
              <a:t>Neural Networks, Deep Learning,</a:t>
            </a:r>
          </a:p>
          <a:p xmlns:a="http://schemas.openxmlformats.org/drawingml/2006/main">
            <a:pPr algn="l">
              <a:defRPr sz="2100" b="0" i="0">
                <a:solidFill>
                  <a:srgbClr val="76D7D1"/>
                </a:solidFill>
                <a:latin typeface="Arial"/>
                <a:ea typeface="Arial"/>
                <a:cs typeface="Arial"/>
              </a:defRPr>
            </a:pPr>
            <a:r>
              <a:rPr sz="2100" b="0" i="0">
                <a:solidFill>
                  <a:srgbClr val="76D7D1"/>
                </a:solidFill>
                <a:latin typeface="Arial"/>
                <a:ea typeface="Arial"/>
                <a:cs typeface="Arial"/>
              </a:rPr>
              <a:t>and Research Practice</a:t>
            </a:r>
          </a:p>
        </p:txBody>
      </p:sp>
      <p:sp>
        <p:nvSpPr>
          <p:cNvPr id="4" name="">
            <a:extLst xmlns:a="http://schemas.openxmlformats.org/drawingml/2006/main">
              <a:ext uri="{FF2B5EF4-FFF2-40B4-BE49-F238E27FC236}">
                <a16:creationId xmlns:a16="http://schemas.microsoft.com/office/drawing/2014/main" id="{8DA6637B-AE1D-4D3D-9BB2-1F7F0EA51CC6}"/>
              </a:ext>
            </a:extLst>
          </p:cNvPr>
          <p:cNvSpPr>
            <a:spLocks xmlns:a="http://schemas.openxmlformats.org/drawingml/2006/main" noGrp="1"/>
          </p:cNvSpPr>
          <p:nvPr/>
        </p:nvSpPr>
        <p:spPr>
          <a:xfrm xmlns:a="http://schemas.openxmlformats.org/drawingml/2006/main">
            <a:off x="742950" y="3943350"/>
            <a:ext cx="838200" cy="57150"/>
          </a:xfrm>
          <a:prstGeom xmlns:a="http://schemas.openxmlformats.org/drawingml/2006/main" prst="rect">
            <a:avLst/>
          </a:prstGeom>
          <a:solidFill xmlns:a="http://schemas.openxmlformats.org/drawingml/2006/main">
            <a:srgbClr val="F2B84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326FE9-792F-484E-9DAB-EA91912A3FB3}"/>
              </a:ext>
            </a:extLst>
          </p:cNvPr>
          <p:cNvSpPr>
            <a:spLocks xmlns:a="http://schemas.openxmlformats.org/drawingml/2006/main" noGrp="1"/>
          </p:cNvSpPr>
          <p:nvPr/>
        </p:nvSpPr>
        <p:spPr>
          <a:xfrm xmlns:a="http://schemas.openxmlformats.org/drawingml/2006/main">
            <a:off x="742950" y="4229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WEEK 5</a:t>
            </a:r>
          </a:p>
        </p:txBody>
      </p:sp>
      <p:sp>
        <p:nvSpPr>
          <p:cNvPr id="6" name="">
            <a:extLst xmlns:a="http://schemas.openxmlformats.org/drawingml/2006/main">
              <a:ext uri="{FF2B5EF4-FFF2-40B4-BE49-F238E27FC236}">
                <a16:creationId xmlns:a16="http://schemas.microsoft.com/office/drawing/2014/main" id="{D6609548-7583-4469-8A6E-C1C3245CB24D}"/>
              </a:ext>
            </a:extLst>
          </p:cNvPr>
          <p:cNvSpPr>
            <a:spLocks xmlns:a="http://schemas.openxmlformats.org/drawingml/2006/main" noGrp="1"/>
          </p:cNvSpPr>
          <p:nvPr/>
        </p:nvSpPr>
        <p:spPr>
          <a:xfrm xmlns:a="http://schemas.openxmlformats.org/drawingml/2006/main">
            <a:off x="742950" y="45529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FFFFFF"/>
                </a:solidFill>
                <a:latin typeface="Arial"/>
                <a:ea typeface="Arial"/>
                <a:cs typeface="Arial"/>
              </a:defRPr>
            </a:pPr>
            <a:r>
              <a:rPr sz="2850" b="1" i="0">
                <a:solidFill>
                  <a:srgbClr val="FFFFFF"/>
                </a:solidFill>
                <a:latin typeface="Arial"/>
                <a:ea typeface="Arial"/>
                <a:cs typeface="Arial"/>
              </a:rPr>
              <a:t>Gradient-based</a:t>
            </a:r>
          </a:p>
          <a:p xmlns:a="http://schemas.openxmlformats.org/drawingml/2006/main">
            <a:pPr algn="l">
              <a:defRPr sz="2850" b="1" i="0">
                <a:solidFill>
                  <a:srgbClr val="FFFFFF"/>
                </a:solidFill>
                <a:latin typeface="Arial"/>
                <a:ea typeface="Arial"/>
                <a:cs typeface="Arial"/>
              </a:defRPr>
            </a:pPr>
            <a:r>
              <a:rPr sz="2850" b="1" i="0">
                <a:solidFill>
                  <a:srgbClr val="FFFFFF"/>
                </a:solidFill>
                <a:latin typeface="Arial"/>
                <a:ea typeface="Arial"/>
                <a:cs typeface="Arial"/>
              </a:rPr>
              <a:t>optimization</a:t>
            </a:r>
          </a:p>
        </p:txBody>
      </p:sp>
      <p:sp>
        <p:nvSpPr>
          <p:cNvPr id="7" name="">
            <a:extLst xmlns:a="http://schemas.openxmlformats.org/drawingml/2006/main">
              <a:ext uri="{FF2B5EF4-FFF2-40B4-BE49-F238E27FC236}">
                <a16:creationId xmlns:a16="http://schemas.microsoft.com/office/drawing/2014/main" id="{99E16C08-9227-435A-A40E-204046B8AD50}"/>
              </a:ext>
            </a:extLst>
          </p:cNvPr>
          <p:cNvSpPr>
            <a:spLocks xmlns:a="http://schemas.openxmlformats.org/drawingml/2006/main" noGrp="1"/>
          </p:cNvSpPr>
          <p:nvPr/>
        </p:nvSpPr>
        <p:spPr>
          <a:xfrm xmlns:a="http://schemas.openxmlformats.org/drawingml/2006/main">
            <a:off x="742950" y="62865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B9CFD8"/>
                </a:solidFill>
                <a:latin typeface="Arial"/>
                <a:ea typeface="Arial"/>
                <a:cs typeface="Arial"/>
              </a:defRPr>
            </a:pPr>
            <a:r>
              <a:rPr sz="1200" b="0" i="0">
                <a:solidFill>
                  <a:srgbClr val="B9CFD8"/>
                </a:solidFill>
                <a:latin typeface="Arial"/>
                <a:ea typeface="Arial"/>
                <a:cs typeface="Arial"/>
              </a:rPr>
              <a:t>Karabuk University   Department of Computer Engineering</a:t>
            </a:r>
          </a:p>
        </p:txBody>
      </p:sp>
    </p:spTree>
    <p:extLst>
      <p:ext uri="{BB962C8B-B14F-4D97-AF65-F5344CB8AC3E}">
        <p14:creationId xmlns:p14="http://schemas.microsoft.com/office/powerpoint/2010/main" val="553542535"/>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45BBBB4-0B8B-4620-89DA-7E527C67D3DE}"/>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Today's evidence</a:t>
            </a:r>
          </a:p>
        </p:txBody>
      </p:sp>
      <p:sp>
        <p:nvSpPr>
          <p:cNvPr id="2" name="">
            <a:extLst xmlns:a="http://schemas.openxmlformats.org/drawingml/2006/main">
              <a:ext uri="{FF2B5EF4-FFF2-40B4-BE49-F238E27FC236}">
                <a16:creationId xmlns:a16="http://schemas.microsoft.com/office/drawing/2014/main" id="{410D0F19-A830-431B-80B3-00847055BF56}"/>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1E8D25-6D55-4059-8783-DFAAB148A2A4}"/>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FFCAA78A-CB2D-4348-8745-C3472EDD4CCA}"/>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286E4CA-BD01-4BD4-8041-CDA7B4EBA0CC}"/>
              </a:ext>
            </a:extLst>
          </p:cNvPr>
          <p:cNvSpPr>
            <a:spLocks xmlns:a="http://schemas.openxmlformats.org/drawingml/2006/main" noGrp="1"/>
          </p:cNvSpPr>
          <p:nvPr/>
        </p:nvSpPr>
        <p:spPr>
          <a:xfrm xmlns:a="http://schemas.openxmlformats.org/drawingml/2006/main">
            <a:off x="685800" y="135255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i="0">
                <a:solidFill>
                  <a:srgbClr val="536878"/>
                </a:solidFill>
                <a:latin typeface="Arial"/>
                <a:ea typeface="Arial"/>
                <a:cs typeface="Arial"/>
              </a:defRPr>
            </a:pPr>
            <a:r>
              <a:rPr sz="2025" b="0" i="0">
                <a:solidFill>
                  <a:srgbClr val="536878"/>
                </a:solidFill>
                <a:latin typeface="Arial"/>
                <a:ea typeface="Arial"/>
                <a:cs typeface="Arial"/>
              </a:rPr>
              <a:t>Six visible products connect a parameter update to a research protocol.</a:t>
            </a:r>
          </a:p>
        </p:txBody>
      </p:sp>
      <p:sp>
        <p:nvSpPr>
          <p:cNvPr id="6" name="">
            <a:extLst xmlns:a="http://schemas.openxmlformats.org/drawingml/2006/main">
              <a:ext uri="{FF2B5EF4-FFF2-40B4-BE49-F238E27FC236}">
                <a16:creationId xmlns:a16="http://schemas.microsoft.com/office/drawing/2014/main" id="{5D150A46-84FB-4866-BC62-3EF4C39F72F2}"/>
              </a:ext>
            </a:extLst>
          </p:cNvPr>
          <p:cNvSpPr>
            <a:spLocks xmlns:a="http://schemas.openxmlformats.org/drawingml/2006/main" noGrp="1"/>
          </p:cNvSpPr>
          <p:nvPr/>
        </p:nvSpPr>
        <p:spPr>
          <a:xfrm xmlns:a="http://schemas.openxmlformats.org/drawingml/2006/main">
            <a:off x="781050" y="19240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0A7A5"/>
                </a:solidFill>
                <a:latin typeface="Arial"/>
                <a:ea typeface="Arial"/>
                <a:cs typeface="Arial"/>
              </a:defRPr>
            </a:pPr>
            <a:r>
              <a:rPr sz="1875" b="1" i="0">
                <a:solidFill>
                  <a:srgbClr val="10A7A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014CD2C-B38D-426A-91CE-594725BFDFA8}"/>
              </a:ext>
            </a:extLst>
          </p:cNvPr>
          <p:cNvSpPr>
            <a:spLocks xmlns:a="http://schemas.openxmlformats.org/drawingml/2006/main" noGrp="1"/>
          </p:cNvSpPr>
          <p:nvPr/>
        </p:nvSpPr>
        <p:spPr>
          <a:xfrm xmlns:a="http://schemas.openxmlformats.org/drawingml/2006/main">
            <a:off x="1619250" y="19240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Manual update</a:t>
            </a:r>
          </a:p>
        </p:txBody>
      </p:sp>
      <p:sp>
        <p:nvSpPr>
          <p:cNvPr id="8" name="">
            <a:extLst xmlns:a="http://schemas.openxmlformats.org/drawingml/2006/main">
              <a:ext uri="{FF2B5EF4-FFF2-40B4-BE49-F238E27FC236}">
                <a16:creationId xmlns:a16="http://schemas.microsoft.com/office/drawing/2014/main" id="{39F7D853-2709-4EE3-995C-6840619CD021}"/>
              </a:ext>
            </a:extLst>
          </p:cNvPr>
          <p:cNvSpPr>
            <a:spLocks xmlns:a="http://schemas.openxmlformats.org/drawingml/2006/main" noGrp="1"/>
          </p:cNvSpPr>
          <p:nvPr/>
        </p:nvSpPr>
        <p:spPr>
          <a:xfrm xmlns:a="http://schemas.openxmlformats.org/drawingml/2006/main">
            <a:off x="4905375" y="19431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878"/>
                </a:solidFill>
                <a:latin typeface="Arial"/>
                <a:ea typeface="Arial"/>
                <a:cs typeface="Arial"/>
              </a:defRPr>
            </a:pPr>
            <a:r>
              <a:rPr sz="1650" b="0" i="0">
                <a:solidFill>
                  <a:srgbClr val="536878"/>
                </a:solidFill>
                <a:latin typeface="Arial"/>
                <a:ea typeface="Arial"/>
                <a:cs typeface="Arial"/>
              </a:rPr>
              <a:t>gradient, step, new parameter, new objective</a:t>
            </a:r>
          </a:p>
        </p:txBody>
      </p:sp>
      <p:sp>
        <p:nvSpPr>
          <p:cNvPr id="9" name="">
            <a:extLst xmlns:a="http://schemas.openxmlformats.org/drawingml/2006/main">
              <a:ext uri="{FF2B5EF4-FFF2-40B4-BE49-F238E27FC236}">
                <a16:creationId xmlns:a16="http://schemas.microsoft.com/office/drawing/2014/main" id="{0B87B32B-2A24-4056-837D-9CEABC03C5C1}"/>
              </a:ext>
            </a:extLst>
          </p:cNvPr>
          <p:cNvSpPr>
            <a:spLocks xmlns:a="http://schemas.openxmlformats.org/drawingml/2006/main" noGrp="1"/>
          </p:cNvSpPr>
          <p:nvPr/>
        </p:nvSpPr>
        <p:spPr>
          <a:xfrm xmlns:a="http://schemas.openxmlformats.org/drawingml/2006/main">
            <a:off x="1619250" y="2400300"/>
            <a:ext cx="9477375"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10" name="">
            <a:extLst xmlns:a="http://schemas.openxmlformats.org/drawingml/2006/main">
              <a:ext uri="{FF2B5EF4-FFF2-40B4-BE49-F238E27FC236}">
                <a16:creationId xmlns:a16="http://schemas.microsoft.com/office/drawing/2014/main" id="{F7399119-D3F5-4FED-A65B-C3D8387A0BA8}"/>
              </a:ext>
            </a:extLst>
          </p:cNvPr>
          <p:cNvSpPr>
            <a:spLocks xmlns:a="http://schemas.openxmlformats.org/drawingml/2006/main" noGrp="1"/>
          </p:cNvSpPr>
          <p:nvPr/>
        </p:nvSpPr>
        <p:spPr>
          <a:xfrm xmlns:a="http://schemas.openxmlformats.org/drawingml/2006/main">
            <a:off x="781050" y="25908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F2B84B"/>
                </a:solidFill>
                <a:latin typeface="Arial"/>
                <a:ea typeface="Arial"/>
                <a:cs typeface="Arial"/>
              </a:defRPr>
            </a:pPr>
            <a:r>
              <a:rPr sz="1875" b="1" i="0">
                <a:solidFill>
                  <a:srgbClr val="F2B84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96AA051-A94E-4706-B186-80497EC79BB3}"/>
              </a:ext>
            </a:extLst>
          </p:cNvPr>
          <p:cNvSpPr>
            <a:spLocks xmlns:a="http://schemas.openxmlformats.org/drawingml/2006/main" noGrp="1"/>
          </p:cNvSpPr>
          <p:nvPr/>
        </p:nvSpPr>
        <p:spPr>
          <a:xfrm xmlns:a="http://schemas.openxmlformats.org/drawingml/2006/main">
            <a:off x="1619250" y="25908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Gradient derivation</a:t>
            </a:r>
          </a:p>
        </p:txBody>
      </p:sp>
      <p:sp>
        <p:nvSpPr>
          <p:cNvPr id="12" name="">
            <a:extLst xmlns:a="http://schemas.openxmlformats.org/drawingml/2006/main">
              <a:ext uri="{FF2B5EF4-FFF2-40B4-BE49-F238E27FC236}">
                <a16:creationId xmlns:a16="http://schemas.microsoft.com/office/drawing/2014/main" id="{5FFD2665-F27F-4BB2-A226-AC2BF486B548}"/>
              </a:ext>
            </a:extLst>
          </p:cNvPr>
          <p:cNvSpPr>
            <a:spLocks xmlns:a="http://schemas.openxmlformats.org/drawingml/2006/main" noGrp="1"/>
          </p:cNvSpPr>
          <p:nvPr/>
        </p:nvSpPr>
        <p:spPr>
          <a:xfrm xmlns:a="http://schemas.openxmlformats.org/drawingml/2006/main">
            <a:off x="4905375" y="26098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878"/>
                </a:solidFill>
                <a:latin typeface="Arial"/>
                <a:ea typeface="Arial"/>
                <a:cs typeface="Arial"/>
              </a:defRPr>
            </a:pPr>
            <a:r>
              <a:rPr sz="1650" b="0" i="0">
                <a:solidFill>
                  <a:srgbClr val="536878"/>
                </a:solidFill>
                <a:latin typeface="Arial"/>
                <a:ea typeface="Arial"/>
                <a:cs typeface="Arial"/>
              </a:rPr>
              <a:t>weight and bias expressions with shapes</a:t>
            </a:r>
          </a:p>
        </p:txBody>
      </p:sp>
      <p:sp>
        <p:nvSpPr>
          <p:cNvPr id="13" name="">
            <a:extLst xmlns:a="http://schemas.openxmlformats.org/drawingml/2006/main">
              <a:ext uri="{FF2B5EF4-FFF2-40B4-BE49-F238E27FC236}">
                <a16:creationId xmlns:a16="http://schemas.microsoft.com/office/drawing/2014/main" id="{67480BA0-EB42-4AE8-AFCE-7357A83E10E3}"/>
              </a:ext>
            </a:extLst>
          </p:cNvPr>
          <p:cNvSpPr>
            <a:spLocks xmlns:a="http://schemas.openxmlformats.org/drawingml/2006/main" noGrp="1"/>
          </p:cNvSpPr>
          <p:nvPr/>
        </p:nvSpPr>
        <p:spPr>
          <a:xfrm xmlns:a="http://schemas.openxmlformats.org/drawingml/2006/main">
            <a:off x="1619250" y="3067050"/>
            <a:ext cx="9477375"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14" name="">
            <a:extLst xmlns:a="http://schemas.openxmlformats.org/drawingml/2006/main">
              <a:ext uri="{FF2B5EF4-FFF2-40B4-BE49-F238E27FC236}">
                <a16:creationId xmlns:a16="http://schemas.microsoft.com/office/drawing/2014/main" id="{347EA5F9-20AD-42A8-B258-FFF603EC8AFC}"/>
              </a:ext>
            </a:extLst>
          </p:cNvPr>
          <p:cNvSpPr>
            <a:spLocks xmlns:a="http://schemas.openxmlformats.org/drawingml/2006/main" noGrp="1"/>
          </p:cNvSpPr>
          <p:nvPr/>
        </p:nvSpPr>
        <p:spPr>
          <a:xfrm xmlns:a="http://schemas.openxmlformats.org/drawingml/2006/main">
            <a:off x="781050" y="32575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0A7A5"/>
                </a:solidFill>
                <a:latin typeface="Arial"/>
                <a:ea typeface="Arial"/>
                <a:cs typeface="Arial"/>
              </a:defRPr>
            </a:pPr>
            <a:r>
              <a:rPr sz="1875" b="1" i="0">
                <a:solidFill>
                  <a:srgbClr val="10A7A5"/>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0CBB945E-5B6F-4A97-8029-0741815EECFA}"/>
              </a:ext>
            </a:extLst>
          </p:cNvPr>
          <p:cNvSpPr>
            <a:spLocks xmlns:a="http://schemas.openxmlformats.org/drawingml/2006/main" noGrp="1"/>
          </p:cNvSpPr>
          <p:nvPr/>
        </p:nvSpPr>
        <p:spPr>
          <a:xfrm xmlns:a="http://schemas.openxmlformats.org/drawingml/2006/main">
            <a:off x="1619250" y="32575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Schedule count</a:t>
            </a:r>
          </a:p>
        </p:txBody>
      </p:sp>
      <p:sp>
        <p:nvSpPr>
          <p:cNvPr id="16" name="">
            <a:extLst xmlns:a="http://schemas.openxmlformats.org/drawingml/2006/main">
              <a:ext uri="{FF2B5EF4-FFF2-40B4-BE49-F238E27FC236}">
                <a16:creationId xmlns:a16="http://schemas.microsoft.com/office/drawing/2014/main" id="{F58A8200-031F-4943-8FA4-270AC9A19C93}"/>
              </a:ext>
            </a:extLst>
          </p:cNvPr>
          <p:cNvSpPr>
            <a:spLocks xmlns:a="http://schemas.openxmlformats.org/drawingml/2006/main" noGrp="1"/>
          </p:cNvSpPr>
          <p:nvPr/>
        </p:nvSpPr>
        <p:spPr>
          <a:xfrm xmlns:a="http://schemas.openxmlformats.org/drawingml/2006/main">
            <a:off x="4905375" y="32766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878"/>
                </a:solidFill>
                <a:latin typeface="Arial"/>
                <a:ea typeface="Arial"/>
                <a:cs typeface="Arial"/>
              </a:defRPr>
            </a:pPr>
            <a:r>
              <a:rPr sz="1650" b="0" i="0">
                <a:solidFill>
                  <a:srgbClr val="536878"/>
                </a:solidFill>
                <a:latin typeface="Arial"/>
                <a:ea typeface="Arial"/>
                <a:cs typeface="Arial"/>
              </a:rPr>
              <a:t>examples, batches, epochs, and updates</a:t>
            </a:r>
          </a:p>
        </p:txBody>
      </p:sp>
      <p:sp>
        <p:nvSpPr>
          <p:cNvPr id="17" name="">
            <a:extLst xmlns:a="http://schemas.openxmlformats.org/drawingml/2006/main">
              <a:ext uri="{FF2B5EF4-FFF2-40B4-BE49-F238E27FC236}">
                <a16:creationId xmlns:a16="http://schemas.microsoft.com/office/drawing/2014/main" id="{87E0CDA2-1A5E-47D4-8F35-6D426EBFBA99}"/>
              </a:ext>
            </a:extLst>
          </p:cNvPr>
          <p:cNvSpPr>
            <a:spLocks xmlns:a="http://schemas.openxmlformats.org/drawingml/2006/main" noGrp="1"/>
          </p:cNvSpPr>
          <p:nvPr/>
        </p:nvSpPr>
        <p:spPr>
          <a:xfrm xmlns:a="http://schemas.openxmlformats.org/drawingml/2006/main">
            <a:off x="1619250" y="3733800"/>
            <a:ext cx="9477375"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18" name="">
            <a:extLst xmlns:a="http://schemas.openxmlformats.org/drawingml/2006/main">
              <a:ext uri="{FF2B5EF4-FFF2-40B4-BE49-F238E27FC236}">
                <a16:creationId xmlns:a16="http://schemas.microsoft.com/office/drawing/2014/main" id="{EB8AB801-4DFF-42C6-B3EB-49583653CF13}"/>
              </a:ext>
            </a:extLst>
          </p:cNvPr>
          <p:cNvSpPr>
            <a:spLocks xmlns:a="http://schemas.openxmlformats.org/drawingml/2006/main" noGrp="1"/>
          </p:cNvSpPr>
          <p:nvPr/>
        </p:nvSpPr>
        <p:spPr>
          <a:xfrm xmlns:a="http://schemas.openxmlformats.org/drawingml/2006/main">
            <a:off x="781050" y="39243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F2B84B"/>
                </a:solidFill>
                <a:latin typeface="Arial"/>
                <a:ea typeface="Arial"/>
                <a:cs typeface="Arial"/>
              </a:defRPr>
            </a:pPr>
            <a:r>
              <a:rPr sz="1875" b="1" i="0">
                <a:solidFill>
                  <a:srgbClr val="F2B84B"/>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FABCB802-C56A-4AE1-8717-B982F2ECA961}"/>
              </a:ext>
            </a:extLst>
          </p:cNvPr>
          <p:cNvSpPr>
            <a:spLocks xmlns:a="http://schemas.openxmlformats.org/drawingml/2006/main" noGrp="1"/>
          </p:cNvSpPr>
          <p:nvPr/>
        </p:nvSpPr>
        <p:spPr>
          <a:xfrm xmlns:a="http://schemas.openxmlformats.org/drawingml/2006/main">
            <a:off x="1619250" y="39243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Learning-rate diagnosis</a:t>
            </a:r>
          </a:p>
        </p:txBody>
      </p:sp>
      <p:sp>
        <p:nvSpPr>
          <p:cNvPr id="20" name="">
            <a:extLst xmlns:a="http://schemas.openxmlformats.org/drawingml/2006/main">
              <a:ext uri="{FF2B5EF4-FFF2-40B4-BE49-F238E27FC236}">
                <a16:creationId xmlns:a16="http://schemas.microsoft.com/office/drawing/2014/main" id="{8566BC0F-6148-47D6-8413-E78DBE2F6ACA}"/>
              </a:ext>
            </a:extLst>
          </p:cNvPr>
          <p:cNvSpPr>
            <a:spLocks xmlns:a="http://schemas.openxmlformats.org/drawingml/2006/main" noGrp="1"/>
          </p:cNvSpPr>
          <p:nvPr/>
        </p:nvSpPr>
        <p:spPr>
          <a:xfrm xmlns:a="http://schemas.openxmlformats.org/drawingml/2006/main">
            <a:off x="4905375" y="39433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878"/>
                </a:solidFill>
                <a:latin typeface="Arial"/>
                <a:ea typeface="Arial"/>
                <a:cs typeface="Arial"/>
              </a:defRPr>
            </a:pPr>
            <a:r>
              <a:rPr sz="1650" b="0" i="0">
                <a:solidFill>
                  <a:srgbClr val="536878"/>
                </a:solidFill>
                <a:latin typeface="Arial"/>
                <a:ea typeface="Arial"/>
                <a:cs typeface="Arial"/>
              </a:rPr>
              <a:t>slow, useful, and unstable histories</a:t>
            </a:r>
          </a:p>
        </p:txBody>
      </p:sp>
      <p:sp>
        <p:nvSpPr>
          <p:cNvPr id="21" name="">
            <a:extLst xmlns:a="http://schemas.openxmlformats.org/drawingml/2006/main">
              <a:ext uri="{FF2B5EF4-FFF2-40B4-BE49-F238E27FC236}">
                <a16:creationId xmlns:a16="http://schemas.microsoft.com/office/drawing/2014/main" id="{D2599AD6-4512-48E7-950B-B16E2B495A74}"/>
              </a:ext>
            </a:extLst>
          </p:cNvPr>
          <p:cNvSpPr>
            <a:spLocks xmlns:a="http://schemas.openxmlformats.org/drawingml/2006/main" noGrp="1"/>
          </p:cNvSpPr>
          <p:nvPr/>
        </p:nvSpPr>
        <p:spPr>
          <a:xfrm xmlns:a="http://schemas.openxmlformats.org/drawingml/2006/main">
            <a:off x="1619250" y="4400550"/>
            <a:ext cx="9477375"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22" name="">
            <a:extLst xmlns:a="http://schemas.openxmlformats.org/drawingml/2006/main">
              <a:ext uri="{FF2B5EF4-FFF2-40B4-BE49-F238E27FC236}">
                <a16:creationId xmlns:a16="http://schemas.microsoft.com/office/drawing/2014/main" id="{D6906E57-03A0-41CF-B99D-5FD7394FE790}"/>
              </a:ext>
            </a:extLst>
          </p:cNvPr>
          <p:cNvSpPr>
            <a:spLocks xmlns:a="http://schemas.openxmlformats.org/drawingml/2006/main" noGrp="1"/>
          </p:cNvSpPr>
          <p:nvPr/>
        </p:nvSpPr>
        <p:spPr>
          <a:xfrm xmlns:a="http://schemas.openxmlformats.org/drawingml/2006/main">
            <a:off x="781050" y="459105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10A7A5"/>
                </a:solidFill>
                <a:latin typeface="Arial"/>
                <a:ea typeface="Arial"/>
                <a:cs typeface="Arial"/>
              </a:defRPr>
            </a:pPr>
            <a:r>
              <a:rPr sz="1875" b="1" i="0">
                <a:solidFill>
                  <a:srgbClr val="10A7A5"/>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16D53029-E1C9-49CF-ADF8-A37A04F5D828}"/>
              </a:ext>
            </a:extLst>
          </p:cNvPr>
          <p:cNvSpPr>
            <a:spLocks xmlns:a="http://schemas.openxmlformats.org/drawingml/2006/main" noGrp="1"/>
          </p:cNvSpPr>
          <p:nvPr/>
        </p:nvSpPr>
        <p:spPr>
          <a:xfrm xmlns:a="http://schemas.openxmlformats.org/drawingml/2006/main">
            <a:off x="1619250" y="45910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Validation record</a:t>
            </a:r>
          </a:p>
        </p:txBody>
      </p:sp>
      <p:sp>
        <p:nvSpPr>
          <p:cNvPr id="24" name="">
            <a:extLst xmlns:a="http://schemas.openxmlformats.org/drawingml/2006/main">
              <a:ext uri="{FF2B5EF4-FFF2-40B4-BE49-F238E27FC236}">
                <a16:creationId xmlns:a16="http://schemas.microsoft.com/office/drawing/2014/main" id="{FFD9467B-10B2-40F0-86AF-E3FD869DBDB1}"/>
              </a:ext>
            </a:extLst>
          </p:cNvPr>
          <p:cNvSpPr>
            <a:spLocks xmlns:a="http://schemas.openxmlformats.org/drawingml/2006/main" noGrp="1"/>
          </p:cNvSpPr>
          <p:nvPr/>
        </p:nvSpPr>
        <p:spPr>
          <a:xfrm xmlns:a="http://schemas.openxmlformats.org/drawingml/2006/main">
            <a:off x="4905375" y="46101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878"/>
                </a:solidFill>
                <a:latin typeface="Arial"/>
                <a:ea typeface="Arial"/>
                <a:cs typeface="Arial"/>
              </a:defRPr>
            </a:pPr>
            <a:r>
              <a:rPr sz="1650" b="0" i="0">
                <a:solidFill>
                  <a:srgbClr val="536878"/>
                </a:solidFill>
                <a:latin typeface="Arial"/>
                <a:ea typeface="Arial"/>
                <a:cs typeface="Arial"/>
              </a:rPr>
              <a:t>selection among declared candidates</a:t>
            </a:r>
          </a:p>
        </p:txBody>
      </p:sp>
      <p:sp>
        <p:nvSpPr>
          <p:cNvPr id="25" name="">
            <a:extLst xmlns:a="http://schemas.openxmlformats.org/drawingml/2006/main">
              <a:ext uri="{FF2B5EF4-FFF2-40B4-BE49-F238E27FC236}">
                <a16:creationId xmlns:a16="http://schemas.microsoft.com/office/drawing/2014/main" id="{F839E975-0A85-4B6D-926E-8A5D62D7B446}"/>
              </a:ext>
            </a:extLst>
          </p:cNvPr>
          <p:cNvSpPr>
            <a:spLocks xmlns:a="http://schemas.openxmlformats.org/drawingml/2006/main" noGrp="1"/>
          </p:cNvSpPr>
          <p:nvPr/>
        </p:nvSpPr>
        <p:spPr>
          <a:xfrm xmlns:a="http://schemas.openxmlformats.org/drawingml/2006/main">
            <a:off x="1619250" y="5067300"/>
            <a:ext cx="9477375"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26" name="">
            <a:extLst xmlns:a="http://schemas.openxmlformats.org/drawingml/2006/main">
              <a:ext uri="{FF2B5EF4-FFF2-40B4-BE49-F238E27FC236}">
                <a16:creationId xmlns:a16="http://schemas.microsoft.com/office/drawing/2014/main" id="{54499F53-66AF-47CE-8958-6501F9200CC1}"/>
              </a:ext>
            </a:extLst>
          </p:cNvPr>
          <p:cNvSpPr>
            <a:spLocks xmlns:a="http://schemas.openxmlformats.org/drawingml/2006/main" noGrp="1"/>
          </p:cNvSpPr>
          <p:nvPr/>
        </p:nvSpPr>
        <p:spPr>
          <a:xfrm xmlns:a="http://schemas.openxmlformats.org/drawingml/2006/main">
            <a:off x="781050" y="52578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F2B84B"/>
                </a:solidFill>
                <a:latin typeface="Arial"/>
                <a:ea typeface="Arial"/>
                <a:cs typeface="Arial"/>
              </a:defRPr>
            </a:pPr>
            <a:r>
              <a:rPr sz="1875" b="1" i="0">
                <a:solidFill>
                  <a:srgbClr val="F2B84B"/>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853F2379-68BF-4BE1-B274-4EBDF5D654D1}"/>
              </a:ext>
            </a:extLst>
          </p:cNvPr>
          <p:cNvSpPr>
            <a:spLocks xmlns:a="http://schemas.openxmlformats.org/drawingml/2006/main" noGrp="1"/>
          </p:cNvSpPr>
          <p:nvPr/>
        </p:nvSpPr>
        <p:spPr>
          <a:xfrm xmlns:a="http://schemas.openxmlformats.org/drawingml/2006/main">
            <a:off x="1619250" y="52578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Baseline plan</a:t>
            </a:r>
          </a:p>
        </p:txBody>
      </p:sp>
      <p:sp>
        <p:nvSpPr>
          <p:cNvPr id="28" name="">
            <a:extLst xmlns:a="http://schemas.openxmlformats.org/drawingml/2006/main">
              <a:ext uri="{FF2B5EF4-FFF2-40B4-BE49-F238E27FC236}">
                <a16:creationId xmlns:a16="http://schemas.microsoft.com/office/drawing/2014/main" id="{1AB62C54-C95F-4D15-B487-AB9CF1205CD7}"/>
              </a:ext>
            </a:extLst>
          </p:cNvPr>
          <p:cNvSpPr>
            <a:spLocks xmlns:a="http://schemas.openxmlformats.org/drawingml/2006/main" noGrp="1"/>
          </p:cNvSpPr>
          <p:nvPr/>
        </p:nvSpPr>
        <p:spPr>
          <a:xfrm xmlns:a="http://schemas.openxmlformats.org/drawingml/2006/main">
            <a:off x="4905375" y="52768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36878"/>
                </a:solidFill>
                <a:latin typeface="Arial"/>
                <a:ea typeface="Arial"/>
                <a:cs typeface="Arial"/>
              </a:defRPr>
            </a:pPr>
            <a:r>
              <a:rPr sz="1650" b="0" i="0">
                <a:solidFill>
                  <a:srgbClr val="536878"/>
                </a:solidFill>
                <a:latin typeface="Arial"/>
                <a:ea typeface="Arial"/>
                <a:cs typeface="Arial"/>
              </a:rPr>
              <a:t>split, objective, metric, command, stopping rule</a:t>
            </a:r>
          </a:p>
        </p:txBody>
      </p:sp>
    </p:spTree>
    <p:extLst>
      <p:ext uri="{BB962C8B-B14F-4D97-AF65-F5344CB8AC3E}">
        <p14:creationId xmlns:p14="http://schemas.microsoft.com/office/powerpoint/2010/main" val="1527527050"/>
      </p:ext>
    </p:extLst>
  </p:cSld>
</p:sld>
</file>

<file path=ppt/slides/slide3.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BB786B9-A32C-49A9-B8BD-2CA21A90B60F}"/>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From computation to learning</a:t>
            </a:r>
          </a:p>
        </p:txBody>
      </p:sp>
      <p:sp>
        <p:nvSpPr>
          <p:cNvPr id="2" name="">
            <a:extLst xmlns:a="http://schemas.openxmlformats.org/drawingml/2006/main">
              <a:ext uri="{FF2B5EF4-FFF2-40B4-BE49-F238E27FC236}">
                <a16:creationId xmlns:a16="http://schemas.microsoft.com/office/drawing/2014/main" id="{7F6371E4-5C7D-4C8F-8F5F-D2E630D1F8BA}"/>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F2B84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7BFC75-76D6-4B5C-8623-4E72CA511859}"/>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76D7D1"/>
                </a:solidFill>
                <a:latin typeface="Arial"/>
                <a:ea typeface="Arial"/>
                <a:cs typeface="Arial"/>
              </a:defRPr>
            </a:pPr>
            <a:r>
              <a:rPr sz="1200" b="1" i="0">
                <a:solidFill>
                  <a:srgbClr val="76D7D1"/>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9217CC48-F889-47F0-8DC2-65C979434B55}"/>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76D7D1"/>
                </a:solidFill>
                <a:latin typeface="Arial"/>
                <a:ea typeface="Arial"/>
                <a:cs typeface="Arial"/>
              </a:defRPr>
            </a:pPr>
            <a:r>
              <a:rPr sz="1200" b="1" i="0">
                <a:solidFill>
                  <a:srgbClr val="76D7D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7F9EC18B-7A52-4952-9159-B7CC5F95442B}"/>
              </a:ext>
            </a:extLst>
          </p:cNvPr>
          <p:cNvSpPr>
            <a:spLocks xmlns:a="http://schemas.openxmlformats.org/drawingml/2006/main" noGrp="1"/>
          </p:cNvSpPr>
          <p:nvPr/>
        </p:nvSpPr>
        <p:spPr>
          <a:xfrm xmlns:a="http://schemas.openxmlformats.org/drawingml/2006/main">
            <a:off x="809625" y="14763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76D7D1"/>
                </a:solidFill>
                <a:latin typeface="Arial"/>
                <a:ea typeface="Arial"/>
                <a:cs typeface="Arial"/>
              </a:defRPr>
            </a:pPr>
            <a:r>
              <a:rPr sz="1350" b="1" i="0">
                <a:solidFill>
                  <a:srgbClr val="76D7D1"/>
                </a:solidFill>
                <a:latin typeface="Arial"/>
                <a:ea typeface="Arial"/>
                <a:cs typeface="Arial"/>
              </a:rPr>
              <a:t>WEEK 4</a:t>
            </a:r>
          </a:p>
        </p:txBody>
      </p:sp>
      <p:sp>
        <p:nvSpPr>
          <p:cNvPr id="6" name="">
            <a:extLst xmlns:a="http://schemas.openxmlformats.org/drawingml/2006/main">
              <a:ext uri="{FF2B5EF4-FFF2-40B4-BE49-F238E27FC236}">
                <a16:creationId xmlns:a16="http://schemas.microsoft.com/office/drawing/2014/main" id="{8E51201D-0D67-4478-B8B5-3CD14A4B0A55}"/>
              </a:ext>
            </a:extLst>
          </p:cNvPr>
          <p:cNvSpPr>
            <a:spLocks xmlns:a="http://schemas.openxmlformats.org/drawingml/2006/main" noGrp="1"/>
          </p:cNvSpPr>
          <p:nvPr/>
        </p:nvSpPr>
        <p:spPr>
          <a:xfrm xmlns:a="http://schemas.openxmlformats.org/drawingml/2006/main">
            <a:off x="809625" y="1952625"/>
            <a:ext cx="3714750" cy="2428875"/>
          </a:xfrm>
          <a:prstGeom xmlns:a="http://schemas.openxmlformats.org/drawingml/2006/main" prst="roundRect">
            <a:avLst>
              <a:gd name="adj" fmla="val 3137"/>
            </a:avLst>
          </a:prstGeom>
          <a:solidFill xmlns:a="http://schemas.openxmlformats.org/drawingml/2006/main">
            <a:srgbClr val="163149"/>
          </a:solidFill>
          <a:ln xmlns:a="http://schemas.openxmlformats.org/drawingml/2006/main" w="19050">
            <a:solidFill>
              <a:srgbClr val="76D7D1"/>
            </a:solidFill>
            <a:prstDash val="solid"/>
          </a:ln>
        </p:spPr>
      </p:sp>
      <p:sp>
        <p:nvSpPr>
          <p:cNvPr id="7" name="">
            <a:extLst xmlns:a="http://schemas.openxmlformats.org/drawingml/2006/main">
              <a:ext uri="{FF2B5EF4-FFF2-40B4-BE49-F238E27FC236}">
                <a16:creationId xmlns:a16="http://schemas.microsoft.com/office/drawing/2014/main" id="{9FFD7E2B-860E-45AB-8934-3D64D970BEA4}"/>
              </a:ext>
            </a:extLst>
          </p:cNvPr>
          <p:cNvSpPr>
            <a:spLocks xmlns:a="http://schemas.openxmlformats.org/drawingml/2006/main" noGrp="1"/>
          </p:cNvSpPr>
          <p:nvPr/>
        </p:nvSpPr>
        <p:spPr>
          <a:xfrm xmlns:a="http://schemas.openxmlformats.org/drawingml/2006/main">
            <a:off x="1238250" y="22383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FFFFFF"/>
                </a:solidFill>
                <a:latin typeface="Arial"/>
                <a:ea typeface="Arial"/>
                <a:cs typeface="Arial"/>
              </a:defRPr>
            </a:pPr>
            <a:r>
              <a:rPr sz="2550" b="1" i="0">
                <a:solidFill>
                  <a:srgbClr val="FFFFFF"/>
                </a:solidFill>
                <a:latin typeface="Arial"/>
                <a:ea typeface="Arial"/>
                <a:cs typeface="Arial"/>
              </a:rPr>
              <a:t>Forward pass</a:t>
            </a:r>
          </a:p>
        </p:txBody>
      </p:sp>
      <p:sp>
        <p:nvSpPr>
          <p:cNvPr id="8" name="">
            <a:extLst xmlns:a="http://schemas.openxmlformats.org/drawingml/2006/main">
              <a:ext uri="{FF2B5EF4-FFF2-40B4-BE49-F238E27FC236}">
                <a16:creationId xmlns:a16="http://schemas.microsoft.com/office/drawing/2014/main" id="{18A02160-13AC-41B4-93DF-F01BB7B101A8}"/>
              </a:ext>
            </a:extLst>
          </p:cNvPr>
          <p:cNvSpPr>
            <a:spLocks xmlns:a="http://schemas.openxmlformats.org/drawingml/2006/main" noGrp="1"/>
          </p:cNvSpPr>
          <p:nvPr/>
        </p:nvSpPr>
        <p:spPr>
          <a:xfrm xmlns:a="http://schemas.openxmlformats.org/drawingml/2006/main">
            <a:off x="1238250" y="30480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225" b="1" i="0">
                <a:solidFill>
                  <a:srgbClr val="76D7D1"/>
                </a:solidFill>
                <a:latin typeface="Arial"/>
                <a:ea typeface="Arial"/>
                <a:cs typeface="Arial"/>
              </a:defRPr>
            </a:pPr>
            <a:r>
              <a:rPr sz="3225" b="1" i="0">
                <a:solidFill>
                  <a:srgbClr val="76D7D1"/>
                </a:solidFill>
                <a:latin typeface="Arial"/>
                <a:ea typeface="Arial"/>
                <a:cs typeface="Arial"/>
              </a:rPr>
              <a:t>ŷ = f(X; θ)</a:t>
            </a:r>
          </a:p>
        </p:txBody>
      </p:sp>
      <p:sp>
        <p:nvSpPr>
          <p:cNvPr id="9" name="">
            <a:extLst xmlns:a="http://schemas.openxmlformats.org/drawingml/2006/main">
              <a:ext uri="{FF2B5EF4-FFF2-40B4-BE49-F238E27FC236}">
                <a16:creationId xmlns:a16="http://schemas.microsoft.com/office/drawing/2014/main" id="{03D46EE2-A54D-4EEE-8773-707166B7FCE9}"/>
              </a:ext>
            </a:extLst>
          </p:cNvPr>
          <p:cNvSpPr>
            <a:spLocks xmlns:a="http://schemas.openxmlformats.org/drawingml/2006/main" noGrp="1"/>
          </p:cNvSpPr>
          <p:nvPr/>
        </p:nvSpPr>
        <p:spPr>
          <a:xfrm xmlns:a="http://schemas.openxmlformats.org/drawingml/2006/main">
            <a:off x="1238250" y="38576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FFFFFF"/>
                </a:solidFill>
                <a:latin typeface="Arial"/>
                <a:ea typeface="Arial"/>
                <a:cs typeface="Arial"/>
              </a:defRPr>
            </a:pPr>
            <a:r>
              <a:rPr sz="1800" b="0" i="0">
                <a:solidFill>
                  <a:srgbClr val="FFFFFF"/>
                </a:solidFill>
                <a:latin typeface="Arial"/>
                <a:ea typeface="Arial"/>
                <a:cs typeface="Arial"/>
              </a:rPr>
              <a:t>parameters fixed</a:t>
            </a:r>
          </a:p>
        </p:txBody>
      </p:sp>
      <p:sp>
        <p:nvSpPr>
          <p:cNvPr id="10" name="">
            <a:extLst xmlns:a="http://schemas.openxmlformats.org/drawingml/2006/main">
              <a:ext uri="{FF2B5EF4-FFF2-40B4-BE49-F238E27FC236}">
                <a16:creationId xmlns:a16="http://schemas.microsoft.com/office/drawing/2014/main" id="{A105C345-83C7-4C83-B66D-8D84CE205166}"/>
              </a:ext>
            </a:extLst>
          </p:cNvPr>
          <p:cNvSpPr>
            <a:spLocks xmlns:a="http://schemas.openxmlformats.org/drawingml/2006/main" noGrp="1"/>
          </p:cNvSpPr>
          <p:nvPr/>
        </p:nvSpPr>
        <p:spPr>
          <a:xfrm xmlns:a="http://schemas.openxmlformats.org/drawingml/2006/main">
            <a:off x="4953000" y="3000375"/>
            <a:ext cx="1047750" cy="228600"/>
          </a:xfrm>
          <a:prstGeom xmlns:a="http://schemas.openxmlformats.org/drawingml/2006/main" prst="rightArrow">
            <a:avLst/>
          </a:prstGeom>
          <a:solidFill xmlns:a="http://schemas.openxmlformats.org/drawingml/2006/main">
            <a:srgbClr val="F2B84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7ED513E-B0B4-4B5E-9108-4B73F1569775}"/>
              </a:ext>
            </a:extLst>
          </p:cNvPr>
          <p:cNvSpPr>
            <a:spLocks xmlns:a="http://schemas.openxmlformats.org/drawingml/2006/main" noGrp="1"/>
          </p:cNvSpPr>
          <p:nvPr/>
        </p:nvSpPr>
        <p:spPr>
          <a:xfrm xmlns:a="http://schemas.openxmlformats.org/drawingml/2006/main">
            <a:off x="6572250" y="14763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WEEK 5</a:t>
            </a:r>
          </a:p>
        </p:txBody>
      </p:sp>
      <p:sp>
        <p:nvSpPr>
          <p:cNvPr id="12" name="">
            <a:extLst xmlns:a="http://schemas.openxmlformats.org/drawingml/2006/main">
              <a:ext uri="{FF2B5EF4-FFF2-40B4-BE49-F238E27FC236}">
                <a16:creationId xmlns:a16="http://schemas.microsoft.com/office/drawing/2014/main" id="{2F6F308F-E982-4B35-8047-4DC3206556CF}"/>
              </a:ext>
            </a:extLst>
          </p:cNvPr>
          <p:cNvSpPr>
            <a:spLocks xmlns:a="http://schemas.openxmlformats.org/drawingml/2006/main" noGrp="1"/>
          </p:cNvSpPr>
          <p:nvPr/>
        </p:nvSpPr>
        <p:spPr>
          <a:xfrm xmlns:a="http://schemas.openxmlformats.org/drawingml/2006/main">
            <a:off x="6572250" y="1952625"/>
            <a:ext cx="4762500" cy="2428875"/>
          </a:xfrm>
          <a:prstGeom xmlns:a="http://schemas.openxmlformats.org/drawingml/2006/main" prst="roundRect">
            <a:avLst>
              <a:gd name="adj" fmla="val 3137"/>
            </a:avLst>
          </a:prstGeom>
          <a:solidFill xmlns:a="http://schemas.openxmlformats.org/drawingml/2006/main">
            <a:srgbClr val="163149"/>
          </a:solidFill>
          <a:ln xmlns:a="http://schemas.openxmlformats.org/drawingml/2006/main" w="19050">
            <a:solidFill>
              <a:srgbClr val="F2B84B"/>
            </a:solidFill>
            <a:prstDash val="solid"/>
          </a:ln>
        </p:spPr>
      </p:sp>
      <p:sp>
        <p:nvSpPr>
          <p:cNvPr id="13" name="">
            <a:extLst xmlns:a="http://schemas.openxmlformats.org/drawingml/2006/main">
              <a:ext uri="{FF2B5EF4-FFF2-40B4-BE49-F238E27FC236}">
                <a16:creationId xmlns:a16="http://schemas.microsoft.com/office/drawing/2014/main" id="{95CD0427-C995-4526-9AB5-45375F98FA70}"/>
              </a:ext>
            </a:extLst>
          </p:cNvPr>
          <p:cNvSpPr>
            <a:spLocks xmlns:a="http://schemas.openxmlformats.org/drawingml/2006/main" noGrp="1"/>
          </p:cNvSpPr>
          <p:nvPr/>
        </p:nvSpPr>
        <p:spPr>
          <a:xfrm xmlns:a="http://schemas.openxmlformats.org/drawingml/2006/main">
            <a:off x="6953250" y="22383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i="0">
                <a:solidFill>
                  <a:srgbClr val="FFFFFF"/>
                </a:solidFill>
                <a:latin typeface="Arial"/>
                <a:ea typeface="Arial"/>
                <a:cs typeface="Arial"/>
              </a:defRPr>
            </a:pPr>
            <a:r>
              <a:rPr sz="2100" b="1" i="0">
                <a:solidFill>
                  <a:srgbClr val="FFFFFF"/>
                </a:solidFill>
                <a:latin typeface="Arial"/>
                <a:ea typeface="Arial"/>
                <a:cs typeface="Arial"/>
              </a:rPr>
              <a:t>Objective   Gradient   Update</a:t>
            </a:r>
          </a:p>
        </p:txBody>
      </p:sp>
      <p:sp>
        <p:nvSpPr>
          <p:cNvPr id="14" name="">
            <a:extLst xmlns:a="http://schemas.openxmlformats.org/drawingml/2006/main">
              <a:ext uri="{FF2B5EF4-FFF2-40B4-BE49-F238E27FC236}">
                <a16:creationId xmlns:a16="http://schemas.microsoft.com/office/drawing/2014/main" id="{9DBCE766-A460-425D-B4EB-7680E5F4F047}"/>
              </a:ext>
            </a:extLst>
          </p:cNvPr>
          <p:cNvSpPr>
            <a:spLocks xmlns:a="http://schemas.openxmlformats.org/drawingml/2006/main" noGrp="1"/>
          </p:cNvSpPr>
          <p:nvPr/>
        </p:nvSpPr>
        <p:spPr>
          <a:xfrm xmlns:a="http://schemas.openxmlformats.org/drawingml/2006/main">
            <a:off x="6905625" y="30480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F2B84B"/>
                </a:solidFill>
                <a:latin typeface="Arial"/>
                <a:ea typeface="Arial"/>
                <a:cs typeface="Arial"/>
              </a:defRPr>
            </a:pPr>
            <a:r>
              <a:rPr sz="2550" b="1" i="0">
                <a:solidFill>
                  <a:srgbClr val="F2B84B"/>
                </a:solidFill>
                <a:latin typeface="Arial"/>
                <a:ea typeface="Arial"/>
                <a:cs typeface="Arial"/>
              </a:rPr>
              <a:t>J(θ)   ∇J(θ)   θ ← θ − η∇J</a:t>
            </a:r>
          </a:p>
        </p:txBody>
      </p:sp>
      <p:sp>
        <p:nvSpPr>
          <p:cNvPr id="15" name="">
            <a:extLst xmlns:a="http://schemas.openxmlformats.org/drawingml/2006/main">
              <a:ext uri="{FF2B5EF4-FFF2-40B4-BE49-F238E27FC236}">
                <a16:creationId xmlns:a16="http://schemas.microsoft.com/office/drawing/2014/main" id="{D4574D45-A989-4835-81B6-03DFEE2321EE}"/>
              </a:ext>
            </a:extLst>
          </p:cNvPr>
          <p:cNvSpPr>
            <a:spLocks xmlns:a="http://schemas.openxmlformats.org/drawingml/2006/main" noGrp="1"/>
          </p:cNvSpPr>
          <p:nvPr/>
        </p:nvSpPr>
        <p:spPr>
          <a:xfrm xmlns:a="http://schemas.openxmlformats.org/drawingml/2006/main">
            <a:off x="7191375" y="385762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FFFFFF"/>
                </a:solidFill>
                <a:latin typeface="Arial"/>
                <a:ea typeface="Arial"/>
                <a:cs typeface="Arial"/>
              </a:defRPr>
            </a:pPr>
            <a:r>
              <a:rPr sz="1800" b="0" i="0">
                <a:solidFill>
                  <a:srgbClr val="FFFFFF"/>
                </a:solidFill>
                <a:latin typeface="Arial"/>
                <a:ea typeface="Arial"/>
                <a:cs typeface="Arial"/>
              </a:rPr>
              <a:t>parameters change</a:t>
            </a:r>
          </a:p>
        </p:txBody>
      </p:sp>
      <p:sp>
        <p:nvSpPr>
          <p:cNvPr id="16" name="">
            <a:extLst xmlns:a="http://schemas.openxmlformats.org/drawingml/2006/main">
              <a:ext uri="{FF2B5EF4-FFF2-40B4-BE49-F238E27FC236}">
                <a16:creationId xmlns:a16="http://schemas.microsoft.com/office/drawing/2014/main" id="{B38C9D54-C4D0-43A5-985A-F6CC6CB56853}"/>
              </a:ext>
            </a:extLst>
          </p:cNvPr>
          <p:cNvSpPr>
            <a:spLocks xmlns:a="http://schemas.openxmlformats.org/drawingml/2006/main" noGrp="1"/>
          </p:cNvSpPr>
          <p:nvPr/>
        </p:nvSpPr>
        <p:spPr>
          <a:xfrm xmlns:a="http://schemas.openxmlformats.org/drawingml/2006/main">
            <a:off x="2667000" y="538162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474"/>
          </a:bodyPr>
          <a:lstStyle xmlns:a="http://schemas.openxmlformats.org/drawingml/2006/main"/>
          <a:p xmlns:a="http://schemas.openxmlformats.org/drawingml/2006/main">
            <a:pPr algn="ctr">
              <a:defRPr sz="2175" b="1" i="0">
                <a:solidFill>
                  <a:srgbClr val="76D7D1"/>
                </a:solidFill>
                <a:latin typeface="Arial"/>
                <a:ea typeface="Arial"/>
                <a:cs typeface="Arial"/>
              </a:defRPr>
            </a:pPr>
            <a:r>
              <a:rPr sz="2175" b="1" i="0">
                <a:solidFill>
                  <a:srgbClr val="76D7D1"/>
                </a:solidFill>
                <a:latin typeface="Arial"/>
                <a:ea typeface="Arial"/>
                <a:cs typeface="Arial"/>
              </a:rPr>
              <a:t>Week 6 will propagate gradients through multiple layers.</a:t>
            </a:r>
          </a:p>
        </p:txBody>
      </p:sp>
    </p:spTree>
    <p:extLst>
      <p:ext uri="{BB962C8B-B14F-4D97-AF65-F5344CB8AC3E}">
        <p14:creationId xmlns:p14="http://schemas.microsoft.com/office/powerpoint/2010/main" val="918493594"/>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A5BFD6A-6A1A-408D-9EAA-B2DCCACE7FA9}"/>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Objective, metric, and evidence roles</a:t>
            </a:r>
          </a:p>
        </p:txBody>
      </p:sp>
      <p:sp>
        <p:nvSpPr>
          <p:cNvPr id="2" name="">
            <a:extLst xmlns:a="http://schemas.openxmlformats.org/drawingml/2006/main">
              <a:ext uri="{FF2B5EF4-FFF2-40B4-BE49-F238E27FC236}">
                <a16:creationId xmlns:a16="http://schemas.microsoft.com/office/drawing/2014/main" id="{5406F680-AE02-4542-BDA8-BB1D4066F3C0}"/>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B8A8BA-43D5-40B3-85F0-9287C937C9D3}"/>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211589B2-6E4E-4AF7-BFB3-EEE2DFF8493A}"/>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060A94E-37A5-48C6-BBF8-10A22D232AF0}"/>
              </a:ext>
            </a:extLst>
          </p:cNvPr>
          <p:cNvSpPr>
            <a:spLocks xmlns:a="http://schemas.openxmlformats.org/drawingml/2006/main" noGrp="1"/>
          </p:cNvSpPr>
          <p:nvPr/>
        </p:nvSpPr>
        <p:spPr>
          <a:xfrm xmlns:a="http://schemas.openxmlformats.org/drawingml/2006/main">
            <a:off x="523875" y="1571625"/>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0A7A5"/>
                </a:solidFill>
                <a:latin typeface="Arial"/>
                <a:ea typeface="Arial"/>
                <a:cs typeface="Arial"/>
              </a:defRPr>
            </a:pPr>
            <a:r>
              <a:rPr sz="1350" b="1" i="0">
                <a:solidFill>
                  <a:srgbClr val="10A7A5"/>
                </a:solidFill>
                <a:latin typeface="Arial"/>
                <a:ea typeface="Arial"/>
                <a:cs typeface="Arial"/>
              </a:rPr>
              <a:t>TRAIN</a:t>
            </a:r>
          </a:p>
        </p:txBody>
      </p:sp>
      <p:sp>
        <p:nvSpPr>
          <p:cNvPr id="6" name="">
            <a:extLst xmlns:a="http://schemas.openxmlformats.org/drawingml/2006/main">
              <a:ext uri="{FF2B5EF4-FFF2-40B4-BE49-F238E27FC236}">
                <a16:creationId xmlns:a16="http://schemas.microsoft.com/office/drawing/2014/main" id="{99E81D98-47CF-4F9A-BA48-69B1E19D58AB}"/>
              </a:ext>
            </a:extLst>
          </p:cNvPr>
          <p:cNvSpPr>
            <a:spLocks xmlns:a="http://schemas.openxmlformats.org/drawingml/2006/main" noGrp="1"/>
          </p:cNvSpPr>
          <p:nvPr/>
        </p:nvSpPr>
        <p:spPr>
          <a:xfrm xmlns:a="http://schemas.openxmlformats.org/drawingml/2006/main">
            <a:off x="523875" y="2047875"/>
            <a:ext cx="3381375"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19050">
            <a:solidFill>
              <a:srgbClr val="10A7A5"/>
            </a:solidFill>
            <a:prstDash val="solid"/>
          </a:ln>
        </p:spPr>
      </p:sp>
      <p:sp>
        <p:nvSpPr>
          <p:cNvPr id="7" name="">
            <a:extLst xmlns:a="http://schemas.openxmlformats.org/drawingml/2006/main">
              <a:ext uri="{FF2B5EF4-FFF2-40B4-BE49-F238E27FC236}">
                <a16:creationId xmlns:a16="http://schemas.microsoft.com/office/drawing/2014/main" id="{9BAE8CFC-F5ED-4865-BE58-A046FDBA08B6}"/>
              </a:ext>
            </a:extLst>
          </p:cNvPr>
          <p:cNvSpPr>
            <a:spLocks xmlns:a="http://schemas.openxmlformats.org/drawingml/2006/main" noGrp="1"/>
          </p:cNvSpPr>
          <p:nvPr/>
        </p:nvSpPr>
        <p:spPr>
          <a:xfrm xmlns:a="http://schemas.openxmlformats.org/drawingml/2006/main">
            <a:off x="809625" y="2333625"/>
            <a:ext cx="2809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0B1F33"/>
                </a:solidFill>
                <a:latin typeface="Arial"/>
                <a:ea typeface="Arial"/>
                <a:cs typeface="Arial"/>
              </a:defRPr>
            </a:pPr>
            <a:r>
              <a:rPr sz="2550" b="1" i="0">
                <a:solidFill>
                  <a:srgbClr val="0B1F33"/>
                </a:solidFill>
                <a:latin typeface="Arial"/>
                <a:ea typeface="Arial"/>
                <a:cs typeface="Arial"/>
              </a:rPr>
              <a:t>Objective</a:t>
            </a:r>
          </a:p>
        </p:txBody>
      </p:sp>
      <p:sp>
        <p:nvSpPr>
          <p:cNvPr id="8" name="">
            <a:extLst xmlns:a="http://schemas.openxmlformats.org/drawingml/2006/main">
              <a:ext uri="{FF2B5EF4-FFF2-40B4-BE49-F238E27FC236}">
                <a16:creationId xmlns:a16="http://schemas.microsoft.com/office/drawing/2014/main" id="{CF268551-9A98-4D22-AA63-9E49E2ED0E37}"/>
              </a:ext>
            </a:extLst>
          </p:cNvPr>
          <p:cNvSpPr>
            <a:spLocks xmlns:a="http://schemas.openxmlformats.org/drawingml/2006/main" noGrp="1"/>
          </p:cNvSpPr>
          <p:nvPr/>
        </p:nvSpPr>
        <p:spPr>
          <a:xfrm xmlns:a="http://schemas.openxmlformats.org/drawingml/2006/main">
            <a:off x="857250" y="309562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10A7A5"/>
                </a:solidFill>
                <a:latin typeface="Arial"/>
                <a:ea typeface="Arial"/>
                <a:cs typeface="Arial"/>
              </a:defRPr>
            </a:pPr>
            <a:r>
              <a:rPr sz="2025" b="1" i="0">
                <a:solidFill>
                  <a:srgbClr val="10A7A5"/>
                </a:solidFill>
                <a:latin typeface="Arial"/>
                <a:ea typeface="Arial"/>
                <a:cs typeface="Arial"/>
              </a:rPr>
              <a:t>supplies the gradient</a:t>
            </a:r>
          </a:p>
        </p:txBody>
      </p:sp>
      <p:sp>
        <p:nvSpPr>
          <p:cNvPr id="9" name="">
            <a:extLst xmlns:a="http://schemas.openxmlformats.org/drawingml/2006/main">
              <a:ext uri="{FF2B5EF4-FFF2-40B4-BE49-F238E27FC236}">
                <a16:creationId xmlns:a16="http://schemas.microsoft.com/office/drawing/2014/main" id="{59AB20B0-5481-40A9-8BF6-E1E396548124}"/>
              </a:ext>
            </a:extLst>
          </p:cNvPr>
          <p:cNvSpPr>
            <a:spLocks xmlns:a="http://schemas.openxmlformats.org/drawingml/2006/main" noGrp="1"/>
          </p:cNvSpPr>
          <p:nvPr/>
        </p:nvSpPr>
        <p:spPr>
          <a:xfrm xmlns:a="http://schemas.openxmlformats.org/drawingml/2006/main">
            <a:off x="3981450" y="3143250"/>
            <a:ext cx="361950" cy="228600"/>
          </a:xfrm>
          <a:prstGeom xmlns:a="http://schemas.openxmlformats.org/drawingml/2006/main" prst="rightArrow">
            <a:avLst/>
          </a:prstGeom>
          <a:solidFill xmlns:a="http://schemas.openxmlformats.org/drawingml/2006/main">
            <a:srgbClr val="C9D6D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0704BFA-B86F-4A23-8E35-86F5F3CC5C31}"/>
              </a:ext>
            </a:extLst>
          </p:cNvPr>
          <p:cNvSpPr>
            <a:spLocks xmlns:a="http://schemas.openxmlformats.org/drawingml/2006/main" noGrp="1"/>
          </p:cNvSpPr>
          <p:nvPr/>
        </p:nvSpPr>
        <p:spPr>
          <a:xfrm xmlns:a="http://schemas.openxmlformats.org/drawingml/2006/main">
            <a:off x="4429125" y="1571625"/>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VALIDATE</a:t>
            </a:r>
          </a:p>
        </p:txBody>
      </p:sp>
      <p:sp>
        <p:nvSpPr>
          <p:cNvPr id="11" name="">
            <a:extLst xmlns:a="http://schemas.openxmlformats.org/drawingml/2006/main">
              <a:ext uri="{FF2B5EF4-FFF2-40B4-BE49-F238E27FC236}">
                <a16:creationId xmlns:a16="http://schemas.microsoft.com/office/drawing/2014/main" id="{9B4B0CB8-1743-403E-AFF9-731D72BB38C2}"/>
              </a:ext>
            </a:extLst>
          </p:cNvPr>
          <p:cNvSpPr>
            <a:spLocks xmlns:a="http://schemas.openxmlformats.org/drawingml/2006/main" noGrp="1"/>
          </p:cNvSpPr>
          <p:nvPr/>
        </p:nvSpPr>
        <p:spPr>
          <a:xfrm xmlns:a="http://schemas.openxmlformats.org/drawingml/2006/main">
            <a:off x="4429125" y="2047875"/>
            <a:ext cx="3381375" cy="2476500"/>
          </a:xfrm>
          <a:prstGeom xmlns:a="http://schemas.openxmlformats.org/drawingml/2006/main" prst="roundRect">
            <a:avLst>
              <a:gd name="adj" fmla="val 3077"/>
            </a:avLst>
          </a:prstGeom>
          <a:solidFill xmlns:a="http://schemas.openxmlformats.org/drawingml/2006/main">
            <a:srgbClr val="F9E3AE"/>
          </a:solidFill>
          <a:ln xmlns:a="http://schemas.openxmlformats.org/drawingml/2006/main" w="19050">
            <a:solidFill>
              <a:srgbClr val="F2B84B"/>
            </a:solidFill>
            <a:prstDash val="solid"/>
          </a:ln>
        </p:spPr>
      </p:sp>
      <p:sp>
        <p:nvSpPr>
          <p:cNvPr id="12" name="">
            <a:extLst xmlns:a="http://schemas.openxmlformats.org/drawingml/2006/main">
              <a:ext uri="{FF2B5EF4-FFF2-40B4-BE49-F238E27FC236}">
                <a16:creationId xmlns:a16="http://schemas.microsoft.com/office/drawing/2014/main" id="{17775582-F976-4A64-BE97-797E332EE765}"/>
              </a:ext>
            </a:extLst>
          </p:cNvPr>
          <p:cNvSpPr>
            <a:spLocks xmlns:a="http://schemas.openxmlformats.org/drawingml/2006/main" noGrp="1"/>
          </p:cNvSpPr>
          <p:nvPr/>
        </p:nvSpPr>
        <p:spPr>
          <a:xfrm xmlns:a="http://schemas.openxmlformats.org/drawingml/2006/main">
            <a:off x="4714875" y="2333625"/>
            <a:ext cx="2809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0B1F33"/>
                </a:solidFill>
                <a:latin typeface="Arial"/>
                <a:ea typeface="Arial"/>
                <a:cs typeface="Arial"/>
              </a:defRPr>
            </a:pPr>
            <a:r>
              <a:rPr sz="2550" b="1" i="0">
                <a:solidFill>
                  <a:srgbClr val="0B1F33"/>
                </a:solidFill>
                <a:latin typeface="Arial"/>
                <a:ea typeface="Arial"/>
                <a:cs typeface="Arial"/>
              </a:rPr>
              <a:t>Metric</a:t>
            </a:r>
          </a:p>
        </p:txBody>
      </p:sp>
      <p:sp>
        <p:nvSpPr>
          <p:cNvPr id="13" name="">
            <a:extLst xmlns:a="http://schemas.openxmlformats.org/drawingml/2006/main">
              <a:ext uri="{FF2B5EF4-FFF2-40B4-BE49-F238E27FC236}">
                <a16:creationId xmlns:a16="http://schemas.microsoft.com/office/drawing/2014/main" id="{1D9A7045-B5C8-4F41-8B1F-6B08DB92F996}"/>
              </a:ext>
            </a:extLst>
          </p:cNvPr>
          <p:cNvSpPr>
            <a:spLocks xmlns:a="http://schemas.openxmlformats.org/drawingml/2006/main" noGrp="1"/>
          </p:cNvSpPr>
          <p:nvPr/>
        </p:nvSpPr>
        <p:spPr>
          <a:xfrm xmlns:a="http://schemas.openxmlformats.org/drawingml/2006/main">
            <a:off x="4762500" y="309562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F2B84B"/>
                </a:solidFill>
                <a:latin typeface="Arial"/>
                <a:ea typeface="Arial"/>
                <a:cs typeface="Arial"/>
              </a:defRPr>
            </a:pPr>
            <a:r>
              <a:rPr sz="2025" b="1" i="0">
                <a:solidFill>
                  <a:srgbClr val="F2B84B"/>
                </a:solidFill>
                <a:latin typeface="Arial"/>
                <a:ea typeface="Arial"/>
                <a:cs typeface="Arial"/>
              </a:rPr>
              <a:t>selects a planned choice</a:t>
            </a:r>
          </a:p>
        </p:txBody>
      </p:sp>
      <p:sp>
        <p:nvSpPr>
          <p:cNvPr id="14" name="">
            <a:extLst xmlns:a="http://schemas.openxmlformats.org/drawingml/2006/main">
              <a:ext uri="{FF2B5EF4-FFF2-40B4-BE49-F238E27FC236}">
                <a16:creationId xmlns:a16="http://schemas.microsoft.com/office/drawing/2014/main" id="{CC215EC6-DF95-4038-B576-26CC4C82C267}"/>
              </a:ext>
            </a:extLst>
          </p:cNvPr>
          <p:cNvSpPr>
            <a:spLocks xmlns:a="http://schemas.openxmlformats.org/drawingml/2006/main" noGrp="1"/>
          </p:cNvSpPr>
          <p:nvPr/>
        </p:nvSpPr>
        <p:spPr>
          <a:xfrm xmlns:a="http://schemas.openxmlformats.org/drawingml/2006/main">
            <a:off x="7886700" y="3143250"/>
            <a:ext cx="361950" cy="228600"/>
          </a:xfrm>
          <a:prstGeom xmlns:a="http://schemas.openxmlformats.org/drawingml/2006/main" prst="rightArrow">
            <a:avLst/>
          </a:prstGeom>
          <a:solidFill xmlns:a="http://schemas.openxmlformats.org/drawingml/2006/main">
            <a:srgbClr val="C9D6D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86153F6-EEB2-418A-ADA8-B65210A9986A}"/>
              </a:ext>
            </a:extLst>
          </p:cNvPr>
          <p:cNvSpPr>
            <a:spLocks xmlns:a="http://schemas.openxmlformats.org/drawingml/2006/main" noGrp="1"/>
          </p:cNvSpPr>
          <p:nvPr/>
        </p:nvSpPr>
        <p:spPr>
          <a:xfrm xmlns:a="http://schemas.openxmlformats.org/drawingml/2006/main">
            <a:off x="8334375" y="1571625"/>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B7A6D"/>
                </a:solidFill>
                <a:latin typeface="Arial"/>
                <a:ea typeface="Arial"/>
                <a:cs typeface="Arial"/>
              </a:defRPr>
            </a:pPr>
            <a:r>
              <a:rPr sz="1350" b="1" i="0">
                <a:solidFill>
                  <a:srgbClr val="2B7A6D"/>
                </a:solidFill>
                <a:latin typeface="Arial"/>
                <a:ea typeface="Arial"/>
                <a:cs typeface="Arial"/>
              </a:rPr>
              <a:t>TEST</a:t>
            </a:r>
          </a:p>
        </p:txBody>
      </p:sp>
      <p:sp>
        <p:nvSpPr>
          <p:cNvPr id="16" name="">
            <a:extLst xmlns:a="http://schemas.openxmlformats.org/drawingml/2006/main">
              <a:ext uri="{FF2B5EF4-FFF2-40B4-BE49-F238E27FC236}">
                <a16:creationId xmlns:a16="http://schemas.microsoft.com/office/drawing/2014/main" id="{EB3557C0-55E4-4C8E-A780-D8B164FE292D}"/>
              </a:ext>
            </a:extLst>
          </p:cNvPr>
          <p:cNvSpPr>
            <a:spLocks xmlns:a="http://schemas.openxmlformats.org/drawingml/2006/main" noGrp="1"/>
          </p:cNvSpPr>
          <p:nvPr/>
        </p:nvSpPr>
        <p:spPr>
          <a:xfrm xmlns:a="http://schemas.openxmlformats.org/drawingml/2006/main">
            <a:off x="8334375" y="2047875"/>
            <a:ext cx="3381375"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19050">
            <a:solidFill>
              <a:srgbClr val="2B7A6D"/>
            </a:solidFill>
            <a:prstDash val="solid"/>
          </a:ln>
        </p:spPr>
      </p:sp>
      <p:sp>
        <p:nvSpPr>
          <p:cNvPr id="17" name="">
            <a:extLst xmlns:a="http://schemas.openxmlformats.org/drawingml/2006/main">
              <a:ext uri="{FF2B5EF4-FFF2-40B4-BE49-F238E27FC236}">
                <a16:creationId xmlns:a16="http://schemas.microsoft.com/office/drawing/2014/main" id="{C11A94F6-2F25-4F34-9F61-CDB98B6EBCF6}"/>
              </a:ext>
            </a:extLst>
          </p:cNvPr>
          <p:cNvSpPr>
            <a:spLocks xmlns:a="http://schemas.openxmlformats.org/drawingml/2006/main" noGrp="1"/>
          </p:cNvSpPr>
          <p:nvPr/>
        </p:nvSpPr>
        <p:spPr>
          <a:xfrm xmlns:a="http://schemas.openxmlformats.org/drawingml/2006/main">
            <a:off x="8620125" y="2333625"/>
            <a:ext cx="2809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0B1F33"/>
                </a:solidFill>
                <a:latin typeface="Arial"/>
                <a:ea typeface="Arial"/>
                <a:cs typeface="Arial"/>
              </a:defRPr>
            </a:pPr>
            <a:r>
              <a:rPr sz="2550" b="1" i="0">
                <a:solidFill>
                  <a:srgbClr val="0B1F33"/>
                </a:solidFill>
                <a:latin typeface="Arial"/>
                <a:ea typeface="Arial"/>
                <a:cs typeface="Arial"/>
              </a:rPr>
              <a:t>Metric</a:t>
            </a:r>
          </a:p>
        </p:txBody>
      </p:sp>
      <p:sp>
        <p:nvSpPr>
          <p:cNvPr id="18" name="">
            <a:extLst xmlns:a="http://schemas.openxmlformats.org/drawingml/2006/main">
              <a:ext uri="{FF2B5EF4-FFF2-40B4-BE49-F238E27FC236}">
                <a16:creationId xmlns:a16="http://schemas.microsoft.com/office/drawing/2014/main" id="{4AE595C3-1E97-4710-A33E-240E40F9E3C6}"/>
              </a:ext>
            </a:extLst>
          </p:cNvPr>
          <p:cNvSpPr>
            <a:spLocks xmlns:a="http://schemas.openxmlformats.org/drawingml/2006/main" noGrp="1"/>
          </p:cNvSpPr>
          <p:nvPr/>
        </p:nvSpPr>
        <p:spPr>
          <a:xfrm xmlns:a="http://schemas.openxmlformats.org/drawingml/2006/main">
            <a:off x="8667750" y="309562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2B7A6D"/>
                </a:solidFill>
                <a:latin typeface="Arial"/>
                <a:ea typeface="Arial"/>
                <a:cs typeface="Arial"/>
              </a:defRPr>
            </a:pPr>
            <a:r>
              <a:rPr sz="2025" b="1" i="0">
                <a:solidFill>
                  <a:srgbClr val="2B7A6D"/>
                </a:solidFill>
                <a:latin typeface="Arial"/>
                <a:ea typeface="Arial"/>
                <a:cs typeface="Arial"/>
              </a:rPr>
              <a:t>evaluates the selected procedure</a:t>
            </a:r>
          </a:p>
        </p:txBody>
      </p:sp>
      <p:sp>
        <p:nvSpPr>
          <p:cNvPr id="19" name="">
            <a:extLst xmlns:a="http://schemas.openxmlformats.org/drawingml/2006/main">
              <a:ext uri="{FF2B5EF4-FFF2-40B4-BE49-F238E27FC236}">
                <a16:creationId xmlns:a16="http://schemas.microsoft.com/office/drawing/2014/main" id="{8B577093-A38B-4400-8A86-C8EEBF9E687E}"/>
              </a:ext>
            </a:extLst>
          </p:cNvPr>
          <p:cNvSpPr>
            <a:spLocks xmlns:a="http://schemas.openxmlformats.org/drawingml/2006/main" noGrp="1"/>
          </p:cNvSpPr>
          <p:nvPr/>
        </p:nvSpPr>
        <p:spPr>
          <a:xfrm xmlns:a="http://schemas.openxmlformats.org/drawingml/2006/main">
            <a:off x="2190750" y="5143500"/>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411"/>
          </a:bodyPr>
          <a:lstStyle xmlns:a="http://schemas.openxmlformats.org/drawingml/2006/main"/>
          <a:p xmlns:a="http://schemas.openxmlformats.org/drawingml/2006/main">
            <a:pPr algn="ctr">
              <a:defRPr sz="2325" b="1" i="0">
                <a:solidFill>
                  <a:srgbClr val="0B1F33"/>
                </a:solidFill>
                <a:latin typeface="Arial"/>
                <a:ea typeface="Arial"/>
                <a:cs typeface="Arial"/>
              </a:defRPr>
            </a:pPr>
            <a:r>
              <a:rPr sz="2325" b="1" i="0">
                <a:solidFill>
                  <a:srgbClr val="0B1F33"/>
                </a:solidFill>
                <a:latin typeface="Arial"/>
                <a:ea typeface="Arial"/>
                <a:cs typeface="Arial"/>
              </a:rPr>
              <a:t>The training objective and evaluation metric may be different.</a:t>
            </a:r>
          </a:p>
        </p:txBody>
      </p:sp>
      <p:sp>
        <p:nvSpPr>
          <p:cNvPr id="20" name="">
            <a:extLst xmlns:a="http://schemas.openxmlformats.org/drawingml/2006/main">
              <a:ext uri="{FF2B5EF4-FFF2-40B4-BE49-F238E27FC236}">
                <a16:creationId xmlns:a16="http://schemas.microsoft.com/office/drawing/2014/main" id="{76DB4C67-CD49-495D-BED9-F498225DB4F6}"/>
              </a:ext>
            </a:extLst>
          </p:cNvPr>
          <p:cNvSpPr>
            <a:spLocks xmlns:a="http://schemas.openxmlformats.org/drawingml/2006/main" noGrp="1"/>
          </p:cNvSpPr>
          <p:nvPr/>
        </p:nvSpPr>
        <p:spPr>
          <a:xfrm xmlns:a="http://schemas.openxmlformats.org/drawingml/2006/main">
            <a:off x="2762250" y="58102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536878"/>
                </a:solidFill>
                <a:latin typeface="Arial"/>
                <a:ea typeface="Arial"/>
                <a:cs typeface="Arial"/>
              </a:defRPr>
            </a:pPr>
            <a:r>
              <a:rPr sz="1800" b="0" i="0">
                <a:solidFill>
                  <a:srgbClr val="536878"/>
                </a:solidFill>
                <a:latin typeface="Arial"/>
                <a:ea typeface="Arial"/>
                <a:cs typeface="Arial"/>
              </a:rPr>
              <a:t>Repeated test-guided choices remove test independence.</a:t>
            </a:r>
          </a:p>
        </p:txBody>
      </p:sp>
    </p:spTree>
    <p:extLst>
      <p:ext uri="{BB962C8B-B14F-4D97-AF65-F5344CB8AC3E}">
        <p14:creationId xmlns:p14="http://schemas.microsoft.com/office/powerpoint/2010/main" val="70678483"/>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75CE4FFB-DEC6-4571-B564-75682EA0895D}"/>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A one-parameter loss surface</a:t>
            </a:r>
          </a:p>
        </p:txBody>
      </p:sp>
      <p:sp>
        <p:nvSpPr>
          <p:cNvPr id="2" name="">
            <a:extLst xmlns:a="http://schemas.openxmlformats.org/drawingml/2006/main">
              <a:ext uri="{FF2B5EF4-FFF2-40B4-BE49-F238E27FC236}">
                <a16:creationId xmlns:a16="http://schemas.microsoft.com/office/drawing/2014/main" id="{919BD777-A202-428B-A826-4D0015A8DFE5}"/>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96B0E9-0704-4CA3-AE6C-69417C5FBEF9}"/>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ED571D78-F657-46AD-9AB9-856ED12F7C8C}"/>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0F03CC0-9D7A-4431-96C9-2ECAD7D579B9}"/>
              </a:ext>
            </a:extLst>
          </p:cNvPr>
          <p:cNvSpPr>
            <a:spLocks xmlns:a="http://schemas.openxmlformats.org/drawingml/2006/main" noGrp="1"/>
          </p:cNvSpPr>
          <p:nvPr/>
        </p:nvSpPr>
        <p:spPr>
          <a:xfrm xmlns:a="http://schemas.openxmlformats.org/drawingml/2006/main">
            <a:off x="7667625" y="16668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i="0">
                <a:solidFill>
                  <a:srgbClr val="0B1F33"/>
                </a:solidFill>
                <a:latin typeface="Arial"/>
                <a:ea typeface="Arial"/>
                <a:cs typeface="Arial"/>
              </a:defRPr>
            </a:pPr>
            <a:r>
              <a:rPr sz="3000" b="1" i="0">
                <a:solidFill>
                  <a:srgbClr val="0B1F33"/>
                </a:solidFill>
                <a:latin typeface="Arial"/>
                <a:ea typeface="Arial"/>
                <a:cs typeface="Arial"/>
              </a:rPr>
              <a:t>J(w) = (w − 3)²</a:t>
            </a:r>
          </a:p>
        </p:txBody>
      </p:sp>
      <p:sp>
        <p:nvSpPr>
          <p:cNvPr id="6" name="">
            <a:extLst xmlns:a="http://schemas.openxmlformats.org/drawingml/2006/main">
              <a:ext uri="{FF2B5EF4-FFF2-40B4-BE49-F238E27FC236}">
                <a16:creationId xmlns:a16="http://schemas.microsoft.com/office/drawing/2014/main" id="{7455A189-D5B8-400D-8053-6D79B199C339}"/>
              </a:ext>
            </a:extLst>
          </p:cNvPr>
          <p:cNvSpPr>
            <a:spLocks xmlns:a="http://schemas.openxmlformats.org/drawingml/2006/main" noGrp="1"/>
          </p:cNvSpPr>
          <p:nvPr/>
        </p:nvSpPr>
        <p:spPr>
          <a:xfrm xmlns:a="http://schemas.openxmlformats.org/drawingml/2006/main">
            <a:off x="7524750" y="2428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10A7A5"/>
                </a:solidFill>
                <a:latin typeface="Arial"/>
                <a:ea typeface="Arial"/>
                <a:cs typeface="Arial"/>
              </a:defRPr>
            </a:pPr>
            <a:r>
              <a:rPr sz="2400" b="1" i="0">
                <a:solidFill>
                  <a:srgbClr val="10A7A5"/>
                </a:solidFill>
                <a:latin typeface="Arial"/>
                <a:ea typeface="Arial"/>
                <a:cs typeface="Arial"/>
              </a:rPr>
              <a:t>dJ/dw = 2(w − 3)</a:t>
            </a:r>
          </a:p>
        </p:txBody>
      </p:sp>
      <p:sp>
        <p:nvSpPr>
          <p:cNvPr id="7" name="">
            <a:extLst xmlns:a="http://schemas.openxmlformats.org/drawingml/2006/main">
              <a:ext uri="{FF2B5EF4-FFF2-40B4-BE49-F238E27FC236}">
                <a16:creationId xmlns:a16="http://schemas.microsoft.com/office/drawing/2014/main" id="{DCB5ECBD-A7DF-421D-9D00-C9EBDD188641}"/>
              </a:ext>
            </a:extLst>
          </p:cNvPr>
          <p:cNvSpPr>
            <a:spLocks xmlns:a="http://schemas.openxmlformats.org/drawingml/2006/main" noGrp="1"/>
          </p:cNvSpPr>
          <p:nvPr/>
        </p:nvSpPr>
        <p:spPr>
          <a:xfrm xmlns:a="http://schemas.openxmlformats.org/drawingml/2006/main">
            <a:off x="952500" y="5334000"/>
            <a:ext cx="5715000" cy="0"/>
          </a:xfrm>
          <a:prstGeom xmlns:a="http://schemas.openxmlformats.org/drawingml/2006/main" prst="line">
            <a:avLst/>
          </a:prstGeom>
          <a:noFill xmlns:a="http://schemas.openxmlformats.org/drawingml/2006/main"/>
          <a:ln xmlns:a="http://schemas.openxmlformats.org/drawingml/2006/main" w="19050">
            <a:solidFill>
              <a:srgbClr val="536878"/>
            </a:solidFill>
            <a:prstDash val="solid"/>
          </a:ln>
        </p:spPr>
      </p:sp>
      <p:sp>
        <p:nvSpPr>
          <p:cNvPr id="8" name="">
            <a:extLst xmlns:a="http://schemas.openxmlformats.org/drawingml/2006/main">
              <a:ext uri="{FF2B5EF4-FFF2-40B4-BE49-F238E27FC236}">
                <a16:creationId xmlns:a16="http://schemas.microsoft.com/office/drawing/2014/main" id="{EB9642FB-E3BD-461E-AACA-184D358DE81E}"/>
              </a:ext>
            </a:extLst>
          </p:cNvPr>
          <p:cNvSpPr>
            <a:spLocks xmlns:a="http://schemas.openxmlformats.org/drawingml/2006/main" noGrp="1"/>
          </p:cNvSpPr>
          <p:nvPr/>
        </p:nvSpPr>
        <p:spPr>
          <a:xfrm xmlns:a="http://schemas.openxmlformats.org/drawingml/2006/main">
            <a:off x="1619250" y="1619250"/>
            <a:ext cx="0" cy="3714750"/>
          </a:xfrm>
          <a:prstGeom xmlns:a="http://schemas.openxmlformats.org/drawingml/2006/main" prst="line">
            <a:avLst/>
          </a:prstGeom>
          <a:noFill xmlns:a="http://schemas.openxmlformats.org/drawingml/2006/main"/>
          <a:ln xmlns:a="http://schemas.openxmlformats.org/drawingml/2006/main" w="19050">
            <a:solidFill>
              <a:srgbClr val="536878"/>
            </a:solidFill>
            <a:prstDash val="solid"/>
          </a:ln>
        </p:spPr>
      </p:sp>
      <p:sp>
        <p:nvSpPr>
          <p:cNvPr id="9" name="">
            <a:extLst xmlns:a="http://schemas.openxmlformats.org/drawingml/2006/main">
              <a:ext uri="{FF2B5EF4-FFF2-40B4-BE49-F238E27FC236}">
                <a16:creationId xmlns:a16="http://schemas.microsoft.com/office/drawing/2014/main" id="{99796ADA-1441-47E8-ACCA-116274E1AFF9}"/>
              </a:ext>
            </a:extLst>
          </p:cNvPr>
          <p:cNvSpPr>
            <a:spLocks xmlns:a="http://schemas.openxmlformats.org/drawingml/2006/main" noGrp="1"/>
          </p:cNvSpPr>
          <p:nvPr/>
        </p:nvSpPr>
        <p:spPr>
          <a:xfrm xmlns:a="http://schemas.openxmlformats.org/drawingml/2006/main">
            <a:off x="1571625" y="179070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9B4B29F-5B4B-4D92-93D9-74F67B2FBA51}"/>
              </a:ext>
            </a:extLst>
          </p:cNvPr>
          <p:cNvSpPr>
            <a:spLocks xmlns:a="http://schemas.openxmlformats.org/drawingml/2006/main" noGrp="1"/>
          </p:cNvSpPr>
          <p:nvPr/>
        </p:nvSpPr>
        <p:spPr>
          <a:xfrm xmlns:a="http://schemas.openxmlformats.org/drawingml/2006/main">
            <a:off x="1706563" y="2155972"/>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56EB96A-E5B9-474C-9464-1A57EAF1AFE6}"/>
              </a:ext>
            </a:extLst>
          </p:cNvPr>
          <p:cNvSpPr>
            <a:spLocks xmlns:a="http://schemas.openxmlformats.org/drawingml/2006/main" noGrp="1"/>
          </p:cNvSpPr>
          <p:nvPr/>
        </p:nvSpPr>
        <p:spPr>
          <a:xfrm xmlns:a="http://schemas.openxmlformats.org/drawingml/2006/main">
            <a:off x="1841500" y="2500371"/>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559C01A-FC98-42E4-8462-93E29BF16897}"/>
              </a:ext>
            </a:extLst>
          </p:cNvPr>
          <p:cNvSpPr>
            <a:spLocks xmlns:a="http://schemas.openxmlformats.org/drawingml/2006/main" noGrp="1"/>
          </p:cNvSpPr>
          <p:nvPr/>
        </p:nvSpPr>
        <p:spPr>
          <a:xfrm xmlns:a="http://schemas.openxmlformats.org/drawingml/2006/main">
            <a:off x="1976438" y="2823898"/>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1E9CA5-A70F-45A4-8575-B426B9719F8E}"/>
              </a:ext>
            </a:extLst>
          </p:cNvPr>
          <p:cNvSpPr>
            <a:spLocks xmlns:a="http://schemas.openxmlformats.org/drawingml/2006/main" noGrp="1"/>
          </p:cNvSpPr>
          <p:nvPr/>
        </p:nvSpPr>
        <p:spPr>
          <a:xfrm xmlns:a="http://schemas.openxmlformats.org/drawingml/2006/main">
            <a:off x="2111375" y="3126552"/>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1B0F3F8-9A76-41A9-9F0F-3555EA7272B4}"/>
              </a:ext>
            </a:extLst>
          </p:cNvPr>
          <p:cNvSpPr>
            <a:spLocks xmlns:a="http://schemas.openxmlformats.org/drawingml/2006/main" noGrp="1"/>
          </p:cNvSpPr>
          <p:nvPr/>
        </p:nvSpPr>
        <p:spPr>
          <a:xfrm xmlns:a="http://schemas.openxmlformats.org/drawingml/2006/main">
            <a:off x="2246313" y="3408333"/>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41569EF-D6FF-4879-BB18-2BF8CB24CB9E}"/>
              </a:ext>
            </a:extLst>
          </p:cNvPr>
          <p:cNvSpPr>
            <a:spLocks xmlns:a="http://schemas.openxmlformats.org/drawingml/2006/main" noGrp="1"/>
          </p:cNvSpPr>
          <p:nvPr/>
        </p:nvSpPr>
        <p:spPr>
          <a:xfrm xmlns:a="http://schemas.openxmlformats.org/drawingml/2006/main">
            <a:off x="2381250" y="3669242"/>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A0655B8-A22B-4986-8CF1-8CC5ADDE6641}"/>
              </a:ext>
            </a:extLst>
          </p:cNvPr>
          <p:cNvSpPr>
            <a:spLocks xmlns:a="http://schemas.openxmlformats.org/drawingml/2006/main" noGrp="1"/>
          </p:cNvSpPr>
          <p:nvPr/>
        </p:nvSpPr>
        <p:spPr>
          <a:xfrm xmlns:a="http://schemas.openxmlformats.org/drawingml/2006/main">
            <a:off x="2516188" y="3909278"/>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94D5E0A-5705-48F6-BD79-BD3FCD44DC84}"/>
              </a:ext>
            </a:extLst>
          </p:cNvPr>
          <p:cNvSpPr>
            <a:spLocks xmlns:a="http://schemas.openxmlformats.org/drawingml/2006/main" noGrp="1"/>
          </p:cNvSpPr>
          <p:nvPr/>
        </p:nvSpPr>
        <p:spPr>
          <a:xfrm xmlns:a="http://schemas.openxmlformats.org/drawingml/2006/main">
            <a:off x="2651125" y="4128441"/>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1E66F10-2A46-414F-B854-F3412BBFC570}"/>
              </a:ext>
            </a:extLst>
          </p:cNvPr>
          <p:cNvSpPr>
            <a:spLocks xmlns:a="http://schemas.openxmlformats.org/drawingml/2006/main" noGrp="1"/>
          </p:cNvSpPr>
          <p:nvPr/>
        </p:nvSpPr>
        <p:spPr>
          <a:xfrm xmlns:a="http://schemas.openxmlformats.org/drawingml/2006/main">
            <a:off x="2786063" y="4326731"/>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19D82B8-0A4D-4DE9-B579-9D991CAC8F84}"/>
              </a:ext>
            </a:extLst>
          </p:cNvPr>
          <p:cNvSpPr>
            <a:spLocks xmlns:a="http://schemas.openxmlformats.org/drawingml/2006/main" noGrp="1"/>
          </p:cNvSpPr>
          <p:nvPr/>
        </p:nvSpPr>
        <p:spPr>
          <a:xfrm xmlns:a="http://schemas.openxmlformats.org/drawingml/2006/main">
            <a:off x="2921000" y="4504149"/>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ABFEAE-D4B3-4D56-8AD2-3E676CFA5B1A}"/>
              </a:ext>
            </a:extLst>
          </p:cNvPr>
          <p:cNvSpPr>
            <a:spLocks xmlns:a="http://schemas.openxmlformats.org/drawingml/2006/main" noGrp="1"/>
          </p:cNvSpPr>
          <p:nvPr/>
        </p:nvSpPr>
        <p:spPr>
          <a:xfrm xmlns:a="http://schemas.openxmlformats.org/drawingml/2006/main">
            <a:off x="3055938" y="4660694"/>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6303EDA-1FDA-4D90-A36F-71E0EEB850D2}"/>
              </a:ext>
            </a:extLst>
          </p:cNvPr>
          <p:cNvSpPr>
            <a:spLocks xmlns:a="http://schemas.openxmlformats.org/drawingml/2006/main" noGrp="1"/>
          </p:cNvSpPr>
          <p:nvPr/>
        </p:nvSpPr>
        <p:spPr>
          <a:xfrm xmlns:a="http://schemas.openxmlformats.org/drawingml/2006/main">
            <a:off x="3190875" y="4796367"/>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163D780-55D0-4FF2-A4A8-629F8669FD56}"/>
              </a:ext>
            </a:extLst>
          </p:cNvPr>
          <p:cNvSpPr>
            <a:spLocks xmlns:a="http://schemas.openxmlformats.org/drawingml/2006/main" noGrp="1"/>
          </p:cNvSpPr>
          <p:nvPr/>
        </p:nvSpPr>
        <p:spPr>
          <a:xfrm xmlns:a="http://schemas.openxmlformats.org/drawingml/2006/main">
            <a:off x="3325812" y="4911166"/>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14DB312-5EDB-44CA-AE0C-8C6FA0C38068}"/>
              </a:ext>
            </a:extLst>
          </p:cNvPr>
          <p:cNvSpPr>
            <a:spLocks xmlns:a="http://schemas.openxmlformats.org/drawingml/2006/main" noGrp="1"/>
          </p:cNvSpPr>
          <p:nvPr/>
        </p:nvSpPr>
        <p:spPr>
          <a:xfrm xmlns:a="http://schemas.openxmlformats.org/drawingml/2006/main">
            <a:off x="3460750" y="5005094"/>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CA79FEC-A2E2-4612-8E79-5C18E1A66FC3}"/>
              </a:ext>
            </a:extLst>
          </p:cNvPr>
          <p:cNvSpPr>
            <a:spLocks xmlns:a="http://schemas.openxmlformats.org/drawingml/2006/main" noGrp="1"/>
          </p:cNvSpPr>
          <p:nvPr/>
        </p:nvSpPr>
        <p:spPr>
          <a:xfrm xmlns:a="http://schemas.openxmlformats.org/drawingml/2006/main">
            <a:off x="3595688" y="5078148"/>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6937B0B-9E89-4ADC-B65C-25734BE8CFAD}"/>
              </a:ext>
            </a:extLst>
          </p:cNvPr>
          <p:cNvSpPr>
            <a:spLocks xmlns:a="http://schemas.openxmlformats.org/drawingml/2006/main" noGrp="1"/>
          </p:cNvSpPr>
          <p:nvPr/>
        </p:nvSpPr>
        <p:spPr>
          <a:xfrm xmlns:a="http://schemas.openxmlformats.org/drawingml/2006/main">
            <a:off x="3730625" y="513033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57154EC-35A3-4F54-9F83-66356697E6B2}"/>
              </a:ext>
            </a:extLst>
          </p:cNvPr>
          <p:cNvSpPr>
            <a:spLocks xmlns:a="http://schemas.openxmlformats.org/drawingml/2006/main" noGrp="1"/>
          </p:cNvSpPr>
          <p:nvPr/>
        </p:nvSpPr>
        <p:spPr>
          <a:xfrm xmlns:a="http://schemas.openxmlformats.org/drawingml/2006/main">
            <a:off x="3865563" y="5161639"/>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5DD5BEA-D7D6-41A0-A9A2-344BB9EDF82E}"/>
              </a:ext>
            </a:extLst>
          </p:cNvPr>
          <p:cNvSpPr>
            <a:spLocks xmlns:a="http://schemas.openxmlformats.org/drawingml/2006/main" noGrp="1"/>
          </p:cNvSpPr>
          <p:nvPr/>
        </p:nvSpPr>
        <p:spPr>
          <a:xfrm xmlns:a="http://schemas.openxmlformats.org/drawingml/2006/main">
            <a:off x="4000500" y="51720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3F99D60-AD53-45AD-9F7E-13DCD4BA71A8}"/>
              </a:ext>
            </a:extLst>
          </p:cNvPr>
          <p:cNvSpPr>
            <a:spLocks xmlns:a="http://schemas.openxmlformats.org/drawingml/2006/main" noGrp="1"/>
          </p:cNvSpPr>
          <p:nvPr/>
        </p:nvSpPr>
        <p:spPr>
          <a:xfrm xmlns:a="http://schemas.openxmlformats.org/drawingml/2006/main">
            <a:off x="4135438" y="5161639"/>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659CCD2-5CE2-4B6B-A6E2-1D13F6CF02C9}"/>
              </a:ext>
            </a:extLst>
          </p:cNvPr>
          <p:cNvSpPr>
            <a:spLocks xmlns:a="http://schemas.openxmlformats.org/drawingml/2006/main" noGrp="1"/>
          </p:cNvSpPr>
          <p:nvPr/>
        </p:nvSpPr>
        <p:spPr>
          <a:xfrm xmlns:a="http://schemas.openxmlformats.org/drawingml/2006/main">
            <a:off x="4270375" y="513033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2E6EC5E-CF5C-4282-9367-14992BC79535}"/>
              </a:ext>
            </a:extLst>
          </p:cNvPr>
          <p:cNvSpPr>
            <a:spLocks xmlns:a="http://schemas.openxmlformats.org/drawingml/2006/main" noGrp="1"/>
          </p:cNvSpPr>
          <p:nvPr/>
        </p:nvSpPr>
        <p:spPr>
          <a:xfrm xmlns:a="http://schemas.openxmlformats.org/drawingml/2006/main">
            <a:off x="4405313" y="5078148"/>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668EA1C-D305-42A3-902A-7C1CA1490E26}"/>
              </a:ext>
            </a:extLst>
          </p:cNvPr>
          <p:cNvSpPr>
            <a:spLocks xmlns:a="http://schemas.openxmlformats.org/drawingml/2006/main" noGrp="1"/>
          </p:cNvSpPr>
          <p:nvPr/>
        </p:nvSpPr>
        <p:spPr>
          <a:xfrm xmlns:a="http://schemas.openxmlformats.org/drawingml/2006/main">
            <a:off x="4540250" y="5005094"/>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F186E26-1940-4E84-A827-3A51403DB981}"/>
              </a:ext>
            </a:extLst>
          </p:cNvPr>
          <p:cNvSpPr>
            <a:spLocks xmlns:a="http://schemas.openxmlformats.org/drawingml/2006/main" noGrp="1"/>
          </p:cNvSpPr>
          <p:nvPr/>
        </p:nvSpPr>
        <p:spPr>
          <a:xfrm xmlns:a="http://schemas.openxmlformats.org/drawingml/2006/main">
            <a:off x="4675188" y="4911166"/>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3CF53DB-0559-4168-AD31-ED0A51318E3B}"/>
              </a:ext>
            </a:extLst>
          </p:cNvPr>
          <p:cNvSpPr>
            <a:spLocks xmlns:a="http://schemas.openxmlformats.org/drawingml/2006/main" noGrp="1"/>
          </p:cNvSpPr>
          <p:nvPr/>
        </p:nvSpPr>
        <p:spPr>
          <a:xfrm xmlns:a="http://schemas.openxmlformats.org/drawingml/2006/main">
            <a:off x="4810125" y="4796367"/>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D910AEC-CF9D-4DF4-9A5D-383FC46BD5A7}"/>
              </a:ext>
            </a:extLst>
          </p:cNvPr>
          <p:cNvSpPr>
            <a:spLocks xmlns:a="http://schemas.openxmlformats.org/drawingml/2006/main" noGrp="1"/>
          </p:cNvSpPr>
          <p:nvPr/>
        </p:nvSpPr>
        <p:spPr>
          <a:xfrm xmlns:a="http://schemas.openxmlformats.org/drawingml/2006/main">
            <a:off x="4945063" y="4660694"/>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642321D-DE54-410A-9756-7267437D4EC1}"/>
              </a:ext>
            </a:extLst>
          </p:cNvPr>
          <p:cNvSpPr>
            <a:spLocks xmlns:a="http://schemas.openxmlformats.org/drawingml/2006/main" noGrp="1"/>
          </p:cNvSpPr>
          <p:nvPr/>
        </p:nvSpPr>
        <p:spPr>
          <a:xfrm xmlns:a="http://schemas.openxmlformats.org/drawingml/2006/main">
            <a:off x="5080000" y="4504149"/>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2F96D30-5AAA-477B-845D-3A2512203C60}"/>
              </a:ext>
            </a:extLst>
          </p:cNvPr>
          <p:cNvSpPr>
            <a:spLocks xmlns:a="http://schemas.openxmlformats.org/drawingml/2006/main" noGrp="1"/>
          </p:cNvSpPr>
          <p:nvPr/>
        </p:nvSpPr>
        <p:spPr>
          <a:xfrm xmlns:a="http://schemas.openxmlformats.org/drawingml/2006/main">
            <a:off x="5214938" y="4326731"/>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47D8A19-994F-4078-B412-E9AEE17DE537}"/>
              </a:ext>
            </a:extLst>
          </p:cNvPr>
          <p:cNvSpPr>
            <a:spLocks xmlns:a="http://schemas.openxmlformats.org/drawingml/2006/main" noGrp="1"/>
          </p:cNvSpPr>
          <p:nvPr/>
        </p:nvSpPr>
        <p:spPr>
          <a:xfrm xmlns:a="http://schemas.openxmlformats.org/drawingml/2006/main">
            <a:off x="5349875" y="4128441"/>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634BFB5-D84B-41BB-BC17-192938B35CD0}"/>
              </a:ext>
            </a:extLst>
          </p:cNvPr>
          <p:cNvSpPr>
            <a:spLocks xmlns:a="http://schemas.openxmlformats.org/drawingml/2006/main" noGrp="1"/>
          </p:cNvSpPr>
          <p:nvPr/>
        </p:nvSpPr>
        <p:spPr>
          <a:xfrm xmlns:a="http://schemas.openxmlformats.org/drawingml/2006/main">
            <a:off x="5484813" y="3909278"/>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FC17B4F-91A7-48DD-967B-BC77A406FC69}"/>
              </a:ext>
            </a:extLst>
          </p:cNvPr>
          <p:cNvSpPr>
            <a:spLocks xmlns:a="http://schemas.openxmlformats.org/drawingml/2006/main" noGrp="1"/>
          </p:cNvSpPr>
          <p:nvPr/>
        </p:nvSpPr>
        <p:spPr>
          <a:xfrm xmlns:a="http://schemas.openxmlformats.org/drawingml/2006/main">
            <a:off x="5619750" y="3669242"/>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48FDFE9F-80CD-4D44-B2EE-FF736AE78C39}"/>
              </a:ext>
            </a:extLst>
          </p:cNvPr>
          <p:cNvSpPr>
            <a:spLocks xmlns:a="http://schemas.openxmlformats.org/drawingml/2006/main" noGrp="1"/>
          </p:cNvSpPr>
          <p:nvPr/>
        </p:nvSpPr>
        <p:spPr>
          <a:xfrm xmlns:a="http://schemas.openxmlformats.org/drawingml/2006/main">
            <a:off x="5754688" y="3408333"/>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A2886A0-3146-4AA3-B57C-0107D7790AF8}"/>
              </a:ext>
            </a:extLst>
          </p:cNvPr>
          <p:cNvSpPr>
            <a:spLocks xmlns:a="http://schemas.openxmlformats.org/drawingml/2006/main" noGrp="1"/>
          </p:cNvSpPr>
          <p:nvPr/>
        </p:nvSpPr>
        <p:spPr>
          <a:xfrm xmlns:a="http://schemas.openxmlformats.org/drawingml/2006/main">
            <a:off x="5889625" y="3126552"/>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AAE2A29-E7B7-4837-AC74-E7874B145D1F}"/>
              </a:ext>
            </a:extLst>
          </p:cNvPr>
          <p:cNvSpPr>
            <a:spLocks xmlns:a="http://schemas.openxmlformats.org/drawingml/2006/main" noGrp="1"/>
          </p:cNvSpPr>
          <p:nvPr/>
        </p:nvSpPr>
        <p:spPr>
          <a:xfrm xmlns:a="http://schemas.openxmlformats.org/drawingml/2006/main">
            <a:off x="6024563" y="2823898"/>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5BE99D0-9287-43D0-8F59-3BDB646059AA}"/>
              </a:ext>
            </a:extLst>
          </p:cNvPr>
          <p:cNvSpPr>
            <a:spLocks xmlns:a="http://schemas.openxmlformats.org/drawingml/2006/main" noGrp="1"/>
          </p:cNvSpPr>
          <p:nvPr/>
        </p:nvSpPr>
        <p:spPr>
          <a:xfrm xmlns:a="http://schemas.openxmlformats.org/drawingml/2006/main">
            <a:off x="6159500" y="2500371"/>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A34B0338-4C41-4D84-9642-9FCFBA99D246}"/>
              </a:ext>
            </a:extLst>
          </p:cNvPr>
          <p:cNvSpPr>
            <a:spLocks xmlns:a="http://schemas.openxmlformats.org/drawingml/2006/main" noGrp="1"/>
          </p:cNvSpPr>
          <p:nvPr/>
        </p:nvSpPr>
        <p:spPr>
          <a:xfrm xmlns:a="http://schemas.openxmlformats.org/drawingml/2006/main">
            <a:off x="6294437" y="2155972"/>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92EA7E2B-B8AC-435C-9709-C0D6F6DE36A0}"/>
              </a:ext>
            </a:extLst>
          </p:cNvPr>
          <p:cNvSpPr>
            <a:spLocks xmlns:a="http://schemas.openxmlformats.org/drawingml/2006/main" noGrp="1"/>
          </p:cNvSpPr>
          <p:nvPr/>
        </p:nvSpPr>
        <p:spPr>
          <a:xfrm xmlns:a="http://schemas.openxmlformats.org/drawingml/2006/main">
            <a:off x="6429375" y="179070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9C37783-A7FE-4290-ADC9-02E563EF0001}"/>
              </a:ext>
            </a:extLst>
          </p:cNvPr>
          <p:cNvSpPr>
            <a:spLocks xmlns:a="http://schemas.openxmlformats.org/drawingml/2006/main" noGrp="1"/>
          </p:cNvSpPr>
          <p:nvPr/>
        </p:nvSpPr>
        <p:spPr>
          <a:xfrm xmlns:a="http://schemas.openxmlformats.org/drawingml/2006/main">
            <a:off x="3952875" y="5124450"/>
            <a:ext cx="190500" cy="19050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5AC3648-9937-4647-8CCC-06469F306134}"/>
              </a:ext>
            </a:extLst>
          </p:cNvPr>
          <p:cNvSpPr>
            <a:spLocks xmlns:a="http://schemas.openxmlformats.org/drawingml/2006/main" noGrp="1"/>
          </p:cNvSpPr>
          <p:nvPr/>
        </p:nvSpPr>
        <p:spPr>
          <a:xfrm xmlns:a="http://schemas.openxmlformats.org/drawingml/2006/main">
            <a:off x="6619875" y="5410200"/>
            <a:ext cx="238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536878"/>
                </a:solidFill>
                <a:latin typeface="Arial"/>
                <a:ea typeface="Arial"/>
                <a:cs typeface="Arial"/>
              </a:defRPr>
            </a:pPr>
            <a:r>
              <a:rPr sz="1350" b="1" i="0">
                <a:solidFill>
                  <a:srgbClr val="536878"/>
                </a:solidFill>
                <a:latin typeface="Arial"/>
                <a:ea typeface="Arial"/>
                <a:cs typeface="Arial"/>
              </a:rPr>
              <a:t>w</a:t>
            </a:r>
          </a:p>
        </p:txBody>
      </p:sp>
      <p:sp>
        <p:nvSpPr>
          <p:cNvPr id="48" name="">
            <a:extLst xmlns:a="http://schemas.openxmlformats.org/drawingml/2006/main">
              <a:ext uri="{FF2B5EF4-FFF2-40B4-BE49-F238E27FC236}">
                <a16:creationId xmlns:a16="http://schemas.microsoft.com/office/drawing/2014/main" id="{6EEA970D-9D22-40B2-8852-6207C973A6AB}"/>
              </a:ext>
            </a:extLst>
          </p:cNvPr>
          <p:cNvSpPr>
            <a:spLocks xmlns:a="http://schemas.openxmlformats.org/drawingml/2006/main" noGrp="1"/>
          </p:cNvSpPr>
          <p:nvPr/>
        </p:nvSpPr>
        <p:spPr>
          <a:xfrm xmlns:a="http://schemas.openxmlformats.org/drawingml/2006/main">
            <a:off x="1285875" y="1571625"/>
            <a:ext cx="238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536878"/>
                </a:solidFill>
                <a:latin typeface="Arial"/>
                <a:ea typeface="Arial"/>
                <a:cs typeface="Arial"/>
              </a:defRPr>
            </a:pPr>
            <a:r>
              <a:rPr sz="1350" b="1" i="0">
                <a:solidFill>
                  <a:srgbClr val="536878"/>
                </a:solidFill>
                <a:latin typeface="Arial"/>
                <a:ea typeface="Arial"/>
                <a:cs typeface="Arial"/>
              </a:rPr>
              <a:t>J</a:t>
            </a:r>
          </a:p>
        </p:txBody>
      </p:sp>
      <p:sp>
        <p:nvSpPr>
          <p:cNvPr id="49" name="">
            <a:extLst xmlns:a="http://schemas.openxmlformats.org/drawingml/2006/main">
              <a:ext uri="{FF2B5EF4-FFF2-40B4-BE49-F238E27FC236}">
                <a16:creationId xmlns:a16="http://schemas.microsoft.com/office/drawing/2014/main" id="{94F5F821-BA99-402E-9CF7-5DB358E0467B}"/>
              </a:ext>
            </a:extLst>
          </p:cNvPr>
          <p:cNvSpPr>
            <a:spLocks xmlns:a="http://schemas.openxmlformats.org/drawingml/2006/main" noGrp="1"/>
          </p:cNvSpPr>
          <p:nvPr/>
        </p:nvSpPr>
        <p:spPr>
          <a:xfrm xmlns:a="http://schemas.openxmlformats.org/drawingml/2006/main">
            <a:off x="7667625" y="34766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F2B84B"/>
                </a:solidFill>
                <a:latin typeface="Arial"/>
                <a:ea typeface="Arial"/>
                <a:cs typeface="Arial"/>
              </a:defRPr>
            </a:pPr>
            <a:r>
              <a:rPr sz="2175" b="1" i="0">
                <a:solidFill>
                  <a:srgbClr val="F2B84B"/>
                </a:solidFill>
                <a:latin typeface="Arial"/>
                <a:ea typeface="Arial"/>
                <a:cs typeface="Arial"/>
              </a:rPr>
              <a:t>minimum at w = 3</a:t>
            </a:r>
          </a:p>
        </p:txBody>
      </p:sp>
      <p:sp>
        <p:nvSpPr>
          <p:cNvPr id="50" name="">
            <a:extLst xmlns:a="http://schemas.openxmlformats.org/drawingml/2006/main">
              <a:ext uri="{FF2B5EF4-FFF2-40B4-BE49-F238E27FC236}">
                <a16:creationId xmlns:a16="http://schemas.microsoft.com/office/drawing/2014/main" id="{1FBCB205-5D74-4914-870B-256EB55A6235}"/>
              </a:ext>
            </a:extLst>
          </p:cNvPr>
          <p:cNvSpPr>
            <a:spLocks xmlns:a="http://schemas.openxmlformats.org/drawingml/2006/main" noGrp="1"/>
          </p:cNvSpPr>
          <p:nvPr/>
        </p:nvSpPr>
        <p:spPr>
          <a:xfrm xmlns:a="http://schemas.openxmlformats.org/drawingml/2006/main">
            <a:off x="6953250" y="4429125"/>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0" i="0">
                <a:solidFill>
                  <a:srgbClr val="536878"/>
                </a:solidFill>
                <a:latin typeface="Arial"/>
                <a:ea typeface="Arial"/>
                <a:cs typeface="Arial"/>
              </a:defRPr>
            </a:pPr>
            <a:r>
              <a:rPr sz="2100" b="0" i="0">
                <a:solidFill>
                  <a:srgbClr val="536878"/>
                </a:solidFill>
                <a:latin typeface="Arial"/>
                <a:ea typeface="Arial"/>
                <a:cs typeface="Arial"/>
              </a:rPr>
              <a:t>The derivative gives the local slope at the current value.</a:t>
            </a:r>
          </a:p>
        </p:txBody>
      </p:sp>
    </p:spTree>
    <p:extLst>
      <p:ext uri="{BB962C8B-B14F-4D97-AF65-F5344CB8AC3E}">
        <p14:creationId xmlns:p14="http://schemas.microsoft.com/office/powerpoint/2010/main" val="2062460303"/>
      </p:ext>
    </p:extLst>
  </p:cSld>
</p:sld>
</file>

<file path=ppt/slides/slide6.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B3E8BA1-EEA6-48C9-BEF8-4A79F1176152}"/>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The negative gradient gives a descent direction</a:t>
            </a:r>
          </a:p>
        </p:txBody>
      </p:sp>
      <p:sp>
        <p:nvSpPr>
          <p:cNvPr id="2" name="">
            <a:extLst xmlns:a="http://schemas.openxmlformats.org/drawingml/2006/main">
              <a:ext uri="{FF2B5EF4-FFF2-40B4-BE49-F238E27FC236}">
                <a16:creationId xmlns:a16="http://schemas.microsoft.com/office/drawing/2014/main" id="{F88AFB0E-76CD-48C8-8AC4-09E8F09F5595}"/>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F2B84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9D015DE-3BC6-41B3-A158-91FB101282AB}"/>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76D7D1"/>
                </a:solidFill>
                <a:latin typeface="Arial"/>
                <a:ea typeface="Arial"/>
                <a:cs typeface="Arial"/>
              </a:defRPr>
            </a:pPr>
            <a:r>
              <a:rPr sz="1200" b="1" i="0">
                <a:solidFill>
                  <a:srgbClr val="76D7D1"/>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AABD0140-1A7A-410A-B9ED-E32B87016807}"/>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76D7D1"/>
                </a:solidFill>
                <a:latin typeface="Arial"/>
                <a:ea typeface="Arial"/>
                <a:cs typeface="Arial"/>
              </a:defRPr>
            </a:pPr>
            <a:r>
              <a:rPr sz="1200" b="1" i="0">
                <a:solidFill>
                  <a:srgbClr val="76D7D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ED7C2A8-DA2B-4975-B19A-C58077A35DEF}"/>
              </a:ext>
            </a:extLst>
          </p:cNvPr>
          <p:cNvSpPr>
            <a:spLocks xmlns:a="http://schemas.openxmlformats.org/drawingml/2006/main" noGrp="1"/>
          </p:cNvSpPr>
          <p:nvPr/>
        </p:nvSpPr>
        <p:spPr>
          <a:xfrm xmlns:a="http://schemas.openxmlformats.org/drawingml/2006/main">
            <a:off x="714375" y="1809750"/>
            <a:ext cx="3333750" cy="2952750"/>
          </a:xfrm>
          <a:prstGeom xmlns:a="http://schemas.openxmlformats.org/drawingml/2006/main" prst="roundRect">
            <a:avLst>
              <a:gd name="adj" fmla="val 2581"/>
            </a:avLst>
          </a:prstGeom>
          <a:solidFill xmlns:a="http://schemas.openxmlformats.org/drawingml/2006/main">
            <a:srgbClr val="163149"/>
          </a:solidFill>
          <a:ln xmlns:a="http://schemas.openxmlformats.org/drawingml/2006/main" w="19050">
            <a:solidFill>
              <a:srgbClr val="76D7D1"/>
            </a:solidFill>
            <a:prstDash val="solid"/>
          </a:ln>
        </p:spPr>
      </p:sp>
      <p:sp>
        <p:nvSpPr>
          <p:cNvPr id="6" name="">
            <a:extLst xmlns:a="http://schemas.openxmlformats.org/drawingml/2006/main">
              <a:ext uri="{FF2B5EF4-FFF2-40B4-BE49-F238E27FC236}">
                <a16:creationId xmlns:a16="http://schemas.microsoft.com/office/drawing/2014/main" id="{110CED34-C8E3-4E3E-B5AD-6AB55EADE2E8}"/>
              </a:ext>
            </a:extLst>
          </p:cNvPr>
          <p:cNvSpPr>
            <a:spLocks xmlns:a="http://schemas.openxmlformats.org/drawingml/2006/main" noGrp="1"/>
          </p:cNvSpPr>
          <p:nvPr/>
        </p:nvSpPr>
        <p:spPr>
          <a:xfrm xmlns:a="http://schemas.openxmlformats.org/drawingml/2006/main">
            <a:off x="1047750" y="20955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FFFFFF"/>
                </a:solidFill>
                <a:latin typeface="Arial"/>
                <a:ea typeface="Arial"/>
                <a:cs typeface="Arial"/>
              </a:defRPr>
            </a:pPr>
            <a:r>
              <a:rPr sz="2550" b="1" i="0">
                <a:solidFill>
                  <a:srgbClr val="FFFFFF"/>
                </a:solidFill>
                <a:latin typeface="Arial"/>
                <a:ea typeface="Arial"/>
                <a:cs typeface="Arial"/>
              </a:rPr>
              <a:t>w = 0</a:t>
            </a:r>
          </a:p>
        </p:txBody>
      </p:sp>
      <p:sp>
        <p:nvSpPr>
          <p:cNvPr id="7" name="">
            <a:extLst xmlns:a="http://schemas.openxmlformats.org/drawingml/2006/main">
              <a:ext uri="{FF2B5EF4-FFF2-40B4-BE49-F238E27FC236}">
                <a16:creationId xmlns:a16="http://schemas.microsoft.com/office/drawing/2014/main" id="{D1E0637A-10B9-48ED-9418-C8963E3D2A68}"/>
              </a:ext>
            </a:extLst>
          </p:cNvPr>
          <p:cNvSpPr>
            <a:spLocks xmlns:a="http://schemas.openxmlformats.org/drawingml/2006/main" noGrp="1"/>
          </p:cNvSpPr>
          <p:nvPr/>
        </p:nvSpPr>
        <p:spPr>
          <a:xfrm xmlns:a="http://schemas.openxmlformats.org/drawingml/2006/main">
            <a:off x="1047750" y="27146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76D7D1"/>
                </a:solidFill>
                <a:latin typeface="Arial"/>
                <a:ea typeface="Arial"/>
                <a:cs typeface="Arial"/>
              </a:defRPr>
            </a:pPr>
            <a:r>
              <a:rPr sz="2175" b="1" i="0">
                <a:solidFill>
                  <a:srgbClr val="76D7D1"/>
                </a:solidFill>
                <a:latin typeface="Arial"/>
                <a:ea typeface="Arial"/>
                <a:cs typeface="Arial"/>
              </a:rPr>
              <a:t>dJ/dw = −6</a:t>
            </a:r>
          </a:p>
        </p:txBody>
      </p:sp>
      <p:sp>
        <p:nvSpPr>
          <p:cNvPr id="8" name="">
            <a:extLst xmlns:a="http://schemas.openxmlformats.org/drawingml/2006/main">
              <a:ext uri="{FF2B5EF4-FFF2-40B4-BE49-F238E27FC236}">
                <a16:creationId xmlns:a16="http://schemas.microsoft.com/office/drawing/2014/main" id="{CEAFD74E-36AC-46E3-870B-010F34FAA89D}"/>
              </a:ext>
            </a:extLst>
          </p:cNvPr>
          <p:cNvSpPr>
            <a:spLocks xmlns:a="http://schemas.openxmlformats.org/drawingml/2006/main" noGrp="1"/>
          </p:cNvSpPr>
          <p:nvPr/>
        </p:nvSpPr>
        <p:spPr>
          <a:xfrm xmlns:a="http://schemas.openxmlformats.org/drawingml/2006/main">
            <a:off x="1714500" y="3476625"/>
            <a:ext cx="1333500" cy="428625"/>
          </a:xfrm>
          <a:prstGeom xmlns:a="http://schemas.openxmlformats.org/drawingml/2006/main" prst="rightArrow">
            <a:avLst/>
          </a:prstGeom>
          <a:solidFill xmlns:a="http://schemas.openxmlformats.org/drawingml/2006/main">
            <a:srgbClr val="76D7D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0106AD5-0F6A-4B79-847B-EBB6D3D52EA7}"/>
              </a:ext>
            </a:extLst>
          </p:cNvPr>
          <p:cNvSpPr>
            <a:spLocks xmlns:a="http://schemas.openxmlformats.org/drawingml/2006/main" noGrp="1"/>
          </p:cNvSpPr>
          <p:nvPr/>
        </p:nvSpPr>
        <p:spPr>
          <a:xfrm xmlns:a="http://schemas.openxmlformats.org/drawingml/2006/main">
            <a:off x="1095375" y="41433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FFFFFF"/>
                </a:solidFill>
                <a:latin typeface="Arial"/>
                <a:ea typeface="Arial"/>
                <a:cs typeface="Arial"/>
              </a:defRPr>
            </a:pPr>
            <a:r>
              <a:rPr sz="1800" b="1" i="0">
                <a:solidFill>
                  <a:srgbClr val="FFFFFF"/>
                </a:solidFill>
                <a:latin typeface="Arial"/>
                <a:ea typeface="Arial"/>
                <a:cs typeface="Arial"/>
              </a:rPr>
              <a:t>move right</a:t>
            </a:r>
          </a:p>
        </p:txBody>
      </p:sp>
      <p:sp>
        <p:nvSpPr>
          <p:cNvPr id="10" name="">
            <a:extLst xmlns:a="http://schemas.openxmlformats.org/drawingml/2006/main">
              <a:ext uri="{FF2B5EF4-FFF2-40B4-BE49-F238E27FC236}">
                <a16:creationId xmlns:a16="http://schemas.microsoft.com/office/drawing/2014/main" id="{60B98D29-E2D0-4CB5-89F9-F94D41E23A5E}"/>
              </a:ext>
            </a:extLst>
          </p:cNvPr>
          <p:cNvSpPr>
            <a:spLocks xmlns:a="http://schemas.openxmlformats.org/drawingml/2006/main" noGrp="1"/>
          </p:cNvSpPr>
          <p:nvPr/>
        </p:nvSpPr>
        <p:spPr>
          <a:xfrm xmlns:a="http://schemas.openxmlformats.org/drawingml/2006/main">
            <a:off x="4572000" y="1809750"/>
            <a:ext cx="3333750" cy="2952750"/>
          </a:xfrm>
          <a:prstGeom xmlns:a="http://schemas.openxmlformats.org/drawingml/2006/main" prst="roundRect">
            <a:avLst>
              <a:gd name="adj" fmla="val 2581"/>
            </a:avLst>
          </a:prstGeom>
          <a:solidFill xmlns:a="http://schemas.openxmlformats.org/drawingml/2006/main">
            <a:srgbClr val="163149"/>
          </a:solidFill>
          <a:ln xmlns:a="http://schemas.openxmlformats.org/drawingml/2006/main" w="19050">
            <a:solidFill>
              <a:srgbClr val="F2B84B"/>
            </a:solidFill>
            <a:prstDash val="solid"/>
          </a:ln>
        </p:spPr>
      </p:sp>
      <p:sp>
        <p:nvSpPr>
          <p:cNvPr id="11" name="">
            <a:extLst xmlns:a="http://schemas.openxmlformats.org/drawingml/2006/main">
              <a:ext uri="{FF2B5EF4-FFF2-40B4-BE49-F238E27FC236}">
                <a16:creationId xmlns:a16="http://schemas.microsoft.com/office/drawing/2014/main" id="{50DDE7CE-08A6-480D-B7DB-B03087AA08A0}"/>
              </a:ext>
            </a:extLst>
          </p:cNvPr>
          <p:cNvSpPr>
            <a:spLocks xmlns:a="http://schemas.openxmlformats.org/drawingml/2006/main" noGrp="1"/>
          </p:cNvSpPr>
          <p:nvPr/>
        </p:nvSpPr>
        <p:spPr>
          <a:xfrm xmlns:a="http://schemas.openxmlformats.org/drawingml/2006/main">
            <a:off x="4905375" y="20955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FFFFFF"/>
                </a:solidFill>
                <a:latin typeface="Arial"/>
                <a:ea typeface="Arial"/>
                <a:cs typeface="Arial"/>
              </a:defRPr>
            </a:pPr>
            <a:r>
              <a:rPr sz="2550" b="1" i="0">
                <a:solidFill>
                  <a:srgbClr val="FFFFFF"/>
                </a:solidFill>
                <a:latin typeface="Arial"/>
                <a:ea typeface="Arial"/>
                <a:cs typeface="Arial"/>
              </a:rPr>
              <a:t>w = 3</a:t>
            </a:r>
          </a:p>
        </p:txBody>
      </p:sp>
      <p:sp>
        <p:nvSpPr>
          <p:cNvPr id="12" name="">
            <a:extLst xmlns:a="http://schemas.openxmlformats.org/drawingml/2006/main">
              <a:ext uri="{FF2B5EF4-FFF2-40B4-BE49-F238E27FC236}">
                <a16:creationId xmlns:a16="http://schemas.microsoft.com/office/drawing/2014/main" id="{56245E2F-655C-44A2-B34E-BFB74832D610}"/>
              </a:ext>
            </a:extLst>
          </p:cNvPr>
          <p:cNvSpPr>
            <a:spLocks xmlns:a="http://schemas.openxmlformats.org/drawingml/2006/main" noGrp="1"/>
          </p:cNvSpPr>
          <p:nvPr/>
        </p:nvSpPr>
        <p:spPr>
          <a:xfrm xmlns:a="http://schemas.openxmlformats.org/drawingml/2006/main">
            <a:off x="4905375" y="27146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F2B84B"/>
                </a:solidFill>
                <a:latin typeface="Arial"/>
                <a:ea typeface="Arial"/>
                <a:cs typeface="Arial"/>
              </a:defRPr>
            </a:pPr>
            <a:r>
              <a:rPr sz="2175" b="1" i="0">
                <a:solidFill>
                  <a:srgbClr val="F2B84B"/>
                </a:solidFill>
                <a:latin typeface="Arial"/>
                <a:ea typeface="Arial"/>
                <a:cs typeface="Arial"/>
              </a:rPr>
              <a:t>dJ/dw = 0</a:t>
            </a:r>
          </a:p>
        </p:txBody>
      </p:sp>
      <p:sp>
        <p:nvSpPr>
          <p:cNvPr id="13" name="">
            <a:extLst xmlns:a="http://schemas.openxmlformats.org/drawingml/2006/main">
              <a:ext uri="{FF2B5EF4-FFF2-40B4-BE49-F238E27FC236}">
                <a16:creationId xmlns:a16="http://schemas.microsoft.com/office/drawing/2014/main" id="{BE5A458B-B22F-4B86-8C93-458A5CF29ED7}"/>
              </a:ext>
            </a:extLst>
          </p:cNvPr>
          <p:cNvSpPr>
            <a:spLocks xmlns:a="http://schemas.openxmlformats.org/drawingml/2006/main" noGrp="1"/>
          </p:cNvSpPr>
          <p:nvPr/>
        </p:nvSpPr>
        <p:spPr>
          <a:xfrm xmlns:a="http://schemas.openxmlformats.org/drawingml/2006/main">
            <a:off x="5572125" y="3476625"/>
            <a:ext cx="857250" cy="428625"/>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8426CAF-F9EE-4737-8D15-F40E35D8E9CA}"/>
              </a:ext>
            </a:extLst>
          </p:cNvPr>
          <p:cNvSpPr>
            <a:spLocks xmlns:a="http://schemas.openxmlformats.org/drawingml/2006/main" noGrp="1"/>
          </p:cNvSpPr>
          <p:nvPr/>
        </p:nvSpPr>
        <p:spPr>
          <a:xfrm xmlns:a="http://schemas.openxmlformats.org/drawingml/2006/main">
            <a:off x="4953000" y="41433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FFFFFF"/>
                </a:solidFill>
                <a:latin typeface="Arial"/>
                <a:ea typeface="Arial"/>
                <a:cs typeface="Arial"/>
              </a:defRPr>
            </a:pPr>
            <a:r>
              <a:rPr sz="1800" b="1" i="0">
                <a:solidFill>
                  <a:srgbClr val="FFFFFF"/>
                </a:solidFill>
                <a:latin typeface="Arial"/>
                <a:ea typeface="Arial"/>
                <a:cs typeface="Arial"/>
              </a:rPr>
              <a:t>stationary</a:t>
            </a:r>
          </a:p>
        </p:txBody>
      </p:sp>
      <p:sp>
        <p:nvSpPr>
          <p:cNvPr id="15" name="">
            <a:extLst xmlns:a="http://schemas.openxmlformats.org/drawingml/2006/main">
              <a:ext uri="{FF2B5EF4-FFF2-40B4-BE49-F238E27FC236}">
                <a16:creationId xmlns:a16="http://schemas.microsoft.com/office/drawing/2014/main" id="{07D5905B-9435-443A-98C9-47B8B0850B04}"/>
              </a:ext>
            </a:extLst>
          </p:cNvPr>
          <p:cNvSpPr>
            <a:spLocks xmlns:a="http://schemas.openxmlformats.org/drawingml/2006/main" noGrp="1"/>
          </p:cNvSpPr>
          <p:nvPr/>
        </p:nvSpPr>
        <p:spPr>
          <a:xfrm xmlns:a="http://schemas.openxmlformats.org/drawingml/2006/main">
            <a:off x="8429625" y="1809750"/>
            <a:ext cx="3333750" cy="2952750"/>
          </a:xfrm>
          <a:prstGeom xmlns:a="http://schemas.openxmlformats.org/drawingml/2006/main" prst="roundRect">
            <a:avLst>
              <a:gd name="adj" fmla="val 2581"/>
            </a:avLst>
          </a:prstGeom>
          <a:solidFill xmlns:a="http://schemas.openxmlformats.org/drawingml/2006/main">
            <a:srgbClr val="163149"/>
          </a:solidFill>
          <a:ln xmlns:a="http://schemas.openxmlformats.org/drawingml/2006/main" w="19050">
            <a:solidFill>
              <a:srgbClr val="10A7A5"/>
            </a:solidFill>
            <a:prstDash val="solid"/>
          </a:ln>
        </p:spPr>
      </p:sp>
      <p:sp>
        <p:nvSpPr>
          <p:cNvPr id="16" name="">
            <a:extLst xmlns:a="http://schemas.openxmlformats.org/drawingml/2006/main">
              <a:ext uri="{FF2B5EF4-FFF2-40B4-BE49-F238E27FC236}">
                <a16:creationId xmlns:a16="http://schemas.microsoft.com/office/drawing/2014/main" id="{47BB2010-509A-45B2-BB12-2FCE674474E1}"/>
              </a:ext>
            </a:extLst>
          </p:cNvPr>
          <p:cNvSpPr>
            <a:spLocks xmlns:a="http://schemas.openxmlformats.org/drawingml/2006/main" noGrp="1"/>
          </p:cNvSpPr>
          <p:nvPr/>
        </p:nvSpPr>
        <p:spPr>
          <a:xfrm xmlns:a="http://schemas.openxmlformats.org/drawingml/2006/main">
            <a:off x="8763000" y="20955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FFFFFF"/>
                </a:solidFill>
                <a:latin typeface="Arial"/>
                <a:ea typeface="Arial"/>
                <a:cs typeface="Arial"/>
              </a:defRPr>
            </a:pPr>
            <a:r>
              <a:rPr sz="2550" b="1" i="0">
                <a:solidFill>
                  <a:srgbClr val="FFFFFF"/>
                </a:solidFill>
                <a:latin typeface="Arial"/>
                <a:ea typeface="Arial"/>
                <a:cs typeface="Arial"/>
              </a:rPr>
              <a:t>w = 5</a:t>
            </a:r>
          </a:p>
        </p:txBody>
      </p:sp>
      <p:sp>
        <p:nvSpPr>
          <p:cNvPr id="17" name="">
            <a:extLst xmlns:a="http://schemas.openxmlformats.org/drawingml/2006/main">
              <a:ext uri="{FF2B5EF4-FFF2-40B4-BE49-F238E27FC236}">
                <a16:creationId xmlns:a16="http://schemas.microsoft.com/office/drawing/2014/main" id="{B524445B-070B-4DB5-80CB-110A6E14264F}"/>
              </a:ext>
            </a:extLst>
          </p:cNvPr>
          <p:cNvSpPr>
            <a:spLocks xmlns:a="http://schemas.openxmlformats.org/drawingml/2006/main" noGrp="1"/>
          </p:cNvSpPr>
          <p:nvPr/>
        </p:nvSpPr>
        <p:spPr>
          <a:xfrm xmlns:a="http://schemas.openxmlformats.org/drawingml/2006/main">
            <a:off x="8763000" y="27146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10A7A5"/>
                </a:solidFill>
                <a:latin typeface="Arial"/>
                <a:ea typeface="Arial"/>
                <a:cs typeface="Arial"/>
              </a:defRPr>
            </a:pPr>
            <a:r>
              <a:rPr sz="2175" b="1" i="0">
                <a:solidFill>
                  <a:srgbClr val="10A7A5"/>
                </a:solidFill>
                <a:latin typeface="Arial"/>
                <a:ea typeface="Arial"/>
                <a:cs typeface="Arial"/>
              </a:rPr>
              <a:t>dJ/dw = 4</a:t>
            </a:r>
          </a:p>
        </p:txBody>
      </p:sp>
      <p:sp>
        <p:nvSpPr>
          <p:cNvPr id="18" name="">
            <a:extLst xmlns:a="http://schemas.openxmlformats.org/drawingml/2006/main">
              <a:ext uri="{FF2B5EF4-FFF2-40B4-BE49-F238E27FC236}">
                <a16:creationId xmlns:a16="http://schemas.microsoft.com/office/drawing/2014/main" id="{9957A3FC-2082-4352-9D93-D6828AE1F787}"/>
              </a:ext>
            </a:extLst>
          </p:cNvPr>
          <p:cNvSpPr>
            <a:spLocks xmlns:a="http://schemas.openxmlformats.org/drawingml/2006/main" noGrp="1"/>
          </p:cNvSpPr>
          <p:nvPr/>
        </p:nvSpPr>
        <p:spPr>
          <a:xfrm xmlns:a="http://schemas.openxmlformats.org/drawingml/2006/main">
            <a:off x="9429750" y="3476625"/>
            <a:ext cx="1333500" cy="428625"/>
          </a:xfrm>
          <a:prstGeom xmlns:a="http://schemas.openxmlformats.org/drawingml/2006/main" prst="leftArrow">
            <a:avLst/>
          </a:prstGeom>
          <a:solidFill xmlns:a="http://schemas.openxmlformats.org/drawingml/2006/main">
            <a:srgbClr val="10A7A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7816A9B-A08D-4287-BEB8-451C86456D0C}"/>
              </a:ext>
            </a:extLst>
          </p:cNvPr>
          <p:cNvSpPr>
            <a:spLocks xmlns:a="http://schemas.openxmlformats.org/drawingml/2006/main" noGrp="1"/>
          </p:cNvSpPr>
          <p:nvPr/>
        </p:nvSpPr>
        <p:spPr>
          <a:xfrm xmlns:a="http://schemas.openxmlformats.org/drawingml/2006/main">
            <a:off x="8810625" y="41433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FFFFFF"/>
                </a:solidFill>
                <a:latin typeface="Arial"/>
                <a:ea typeface="Arial"/>
                <a:cs typeface="Arial"/>
              </a:defRPr>
            </a:pPr>
            <a:r>
              <a:rPr sz="1800" b="1" i="0">
                <a:solidFill>
                  <a:srgbClr val="FFFFFF"/>
                </a:solidFill>
                <a:latin typeface="Arial"/>
                <a:ea typeface="Arial"/>
                <a:cs typeface="Arial"/>
              </a:rPr>
              <a:t>move left</a:t>
            </a:r>
          </a:p>
        </p:txBody>
      </p:sp>
      <p:sp>
        <p:nvSpPr>
          <p:cNvPr id="20" name="">
            <a:extLst xmlns:a="http://schemas.openxmlformats.org/drawingml/2006/main">
              <a:ext uri="{FF2B5EF4-FFF2-40B4-BE49-F238E27FC236}">
                <a16:creationId xmlns:a16="http://schemas.microsoft.com/office/drawing/2014/main" id="{C50035BB-A8D1-47F2-8B24-5C4B8F1FEC87}"/>
              </a:ext>
            </a:extLst>
          </p:cNvPr>
          <p:cNvSpPr>
            <a:spLocks xmlns:a="http://schemas.openxmlformats.org/drawingml/2006/main" noGrp="1"/>
          </p:cNvSpPr>
          <p:nvPr/>
        </p:nvSpPr>
        <p:spPr>
          <a:xfrm xmlns:a="http://schemas.openxmlformats.org/drawingml/2006/main">
            <a:off x="2476500" y="5381625"/>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20"/>
          </a:bodyPr>
          <a:lstStyle xmlns:a="http://schemas.openxmlformats.org/drawingml/2006/main"/>
          <a:p xmlns:a="http://schemas.openxmlformats.org/drawingml/2006/main">
            <a:pPr algn="ctr">
              <a:defRPr sz="2400" b="1" i="0">
                <a:solidFill>
                  <a:srgbClr val="F2B84B"/>
                </a:solidFill>
                <a:latin typeface="Arial"/>
                <a:ea typeface="Arial"/>
                <a:cs typeface="Arial"/>
              </a:defRPr>
            </a:pPr>
            <a:r>
              <a:rPr sz="2400" b="1" i="0">
                <a:solidFill>
                  <a:srgbClr val="F2B84B"/>
                </a:solidFill>
                <a:latin typeface="Arial"/>
                <a:ea typeface="Arial"/>
                <a:cs typeface="Arial"/>
              </a:rPr>
              <a:t>Subtract the gradient to move toward local decrease.</a:t>
            </a:r>
          </a:p>
        </p:txBody>
      </p:sp>
    </p:spTree>
    <p:extLst>
      <p:ext uri="{BB962C8B-B14F-4D97-AF65-F5344CB8AC3E}">
        <p14:creationId xmlns:p14="http://schemas.microsoft.com/office/powerpoint/2010/main" val="1529342283"/>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4322AA9-C150-448B-AF87-4A47A7BF4318}"/>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One update by hand</a:t>
            </a:r>
          </a:p>
        </p:txBody>
      </p:sp>
      <p:sp>
        <p:nvSpPr>
          <p:cNvPr id="2" name="">
            <a:extLst xmlns:a="http://schemas.openxmlformats.org/drawingml/2006/main">
              <a:ext uri="{FF2B5EF4-FFF2-40B4-BE49-F238E27FC236}">
                <a16:creationId xmlns:a16="http://schemas.microsoft.com/office/drawing/2014/main" id="{52FF97CB-A311-4C9F-92FB-AAF927EA22CD}"/>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48ACBC-548D-43B4-9731-840838E5D94C}"/>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E58E9C3D-675B-4059-A1C8-30BB1EC54D9E}"/>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D24374B2-F2F1-4D04-8338-43C8D4A284B3}"/>
              </a:ext>
            </a:extLst>
          </p:cNvPr>
          <p:cNvSpPr>
            <a:spLocks xmlns:a="http://schemas.openxmlformats.org/drawingml/2006/main" noGrp="1"/>
          </p:cNvSpPr>
          <p:nvPr/>
        </p:nvSpPr>
        <p:spPr>
          <a:xfrm xmlns:a="http://schemas.openxmlformats.org/drawingml/2006/main">
            <a:off x="809625" y="14763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0A7A5"/>
                </a:solidFill>
                <a:latin typeface="Arial"/>
                <a:ea typeface="Arial"/>
                <a:cs typeface="Arial"/>
              </a:defRPr>
            </a:pPr>
            <a:r>
              <a:rPr sz="1350" b="1" i="0">
                <a:solidFill>
                  <a:srgbClr val="10A7A5"/>
                </a:solidFill>
                <a:latin typeface="Arial"/>
                <a:ea typeface="Arial"/>
                <a:cs typeface="Arial"/>
              </a:rPr>
              <a:t>GIVEN</a:t>
            </a:r>
          </a:p>
        </p:txBody>
      </p:sp>
      <p:sp>
        <p:nvSpPr>
          <p:cNvPr id="6" name="">
            <a:extLst xmlns:a="http://schemas.openxmlformats.org/drawingml/2006/main">
              <a:ext uri="{FF2B5EF4-FFF2-40B4-BE49-F238E27FC236}">
                <a16:creationId xmlns:a16="http://schemas.microsoft.com/office/drawing/2014/main" id="{B7B42C64-726E-45A7-B924-1BE2BDE37E75}"/>
              </a:ext>
            </a:extLst>
          </p:cNvPr>
          <p:cNvSpPr>
            <a:spLocks xmlns:a="http://schemas.openxmlformats.org/drawingml/2006/main" noGrp="1"/>
          </p:cNvSpPr>
          <p:nvPr/>
        </p:nvSpPr>
        <p:spPr>
          <a:xfrm xmlns:a="http://schemas.openxmlformats.org/drawingml/2006/main">
            <a:off x="809625" y="1952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0B1F33"/>
                </a:solidFill>
                <a:latin typeface="Arial"/>
                <a:ea typeface="Arial"/>
                <a:cs typeface="Arial"/>
              </a:defRPr>
            </a:pPr>
            <a:r>
              <a:rPr sz="2850" b="1" i="0">
                <a:solidFill>
                  <a:srgbClr val="0B1F33"/>
                </a:solidFill>
                <a:latin typeface="Arial"/>
                <a:ea typeface="Arial"/>
                <a:cs typeface="Arial"/>
              </a:rPr>
              <a:t>w₀ = 0      η = 0.1      dJ/dw = −6</a:t>
            </a:r>
          </a:p>
        </p:txBody>
      </p:sp>
      <p:sp>
        <p:nvSpPr>
          <p:cNvPr id="7" name="">
            <a:extLst xmlns:a="http://schemas.openxmlformats.org/drawingml/2006/main">
              <a:ext uri="{FF2B5EF4-FFF2-40B4-BE49-F238E27FC236}">
                <a16:creationId xmlns:a16="http://schemas.microsoft.com/office/drawing/2014/main" id="{05E3D73C-B64E-4D11-A315-276765F2ABD9}"/>
              </a:ext>
            </a:extLst>
          </p:cNvPr>
          <p:cNvSpPr>
            <a:spLocks xmlns:a="http://schemas.openxmlformats.org/drawingml/2006/main" noGrp="1"/>
          </p:cNvSpPr>
          <p:nvPr/>
        </p:nvSpPr>
        <p:spPr>
          <a:xfrm xmlns:a="http://schemas.openxmlformats.org/drawingml/2006/main">
            <a:off x="1381125" y="2857500"/>
            <a:ext cx="94297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10A7A5"/>
            </a:solidFill>
            <a:prstDash val="solid"/>
          </a:ln>
        </p:spPr>
      </p:sp>
      <p:sp>
        <p:nvSpPr>
          <p:cNvPr id="8" name="">
            <a:extLst xmlns:a="http://schemas.openxmlformats.org/drawingml/2006/main">
              <a:ext uri="{FF2B5EF4-FFF2-40B4-BE49-F238E27FC236}">
                <a16:creationId xmlns:a16="http://schemas.microsoft.com/office/drawing/2014/main" id="{DFA960CB-743B-4B1E-BDFB-9F575E1E3D51}"/>
              </a:ext>
            </a:extLst>
          </p:cNvPr>
          <p:cNvSpPr>
            <a:spLocks xmlns:a="http://schemas.openxmlformats.org/drawingml/2006/main" noGrp="1"/>
          </p:cNvSpPr>
          <p:nvPr/>
        </p:nvSpPr>
        <p:spPr>
          <a:xfrm xmlns:a="http://schemas.openxmlformats.org/drawingml/2006/main">
            <a:off x="1762125" y="3162300"/>
            <a:ext cx="866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10A7A5"/>
                </a:solidFill>
                <a:latin typeface="Arial"/>
                <a:ea typeface="Arial"/>
                <a:cs typeface="Arial"/>
              </a:defRPr>
            </a:pPr>
            <a:r>
              <a:rPr sz="2850" b="1" i="0">
                <a:solidFill>
                  <a:srgbClr val="10A7A5"/>
                </a:solidFill>
                <a:latin typeface="Arial"/>
                <a:ea typeface="Arial"/>
                <a:cs typeface="Arial"/>
              </a:rPr>
              <a:t>w₁ = w₀ − η(dJ/dw) = 0 − 0.1(−6) = 0.6</a:t>
            </a:r>
          </a:p>
        </p:txBody>
      </p:sp>
      <p:sp>
        <p:nvSpPr>
          <p:cNvPr id="9" name="">
            <a:extLst xmlns:a="http://schemas.openxmlformats.org/drawingml/2006/main">
              <a:ext uri="{FF2B5EF4-FFF2-40B4-BE49-F238E27FC236}">
                <a16:creationId xmlns:a16="http://schemas.microsoft.com/office/drawing/2014/main" id="{F485834E-2D84-43A9-B593-5E967B628044}"/>
              </a:ext>
            </a:extLst>
          </p:cNvPr>
          <p:cNvSpPr>
            <a:spLocks xmlns:a="http://schemas.openxmlformats.org/drawingml/2006/main" noGrp="1"/>
          </p:cNvSpPr>
          <p:nvPr/>
        </p:nvSpPr>
        <p:spPr>
          <a:xfrm xmlns:a="http://schemas.openxmlformats.org/drawingml/2006/main">
            <a:off x="2333625" y="4667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75" b="1" i="0">
                <a:solidFill>
                  <a:srgbClr val="B65353"/>
                </a:solidFill>
                <a:latin typeface="Arial"/>
                <a:ea typeface="Arial"/>
                <a:cs typeface="Arial"/>
              </a:defRPr>
            </a:pPr>
            <a:r>
              <a:rPr sz="2475" b="1" i="0">
                <a:solidFill>
                  <a:srgbClr val="B65353"/>
                </a:solidFill>
                <a:latin typeface="Arial"/>
                <a:ea typeface="Arial"/>
                <a:cs typeface="Arial"/>
              </a:rPr>
              <a:t>J(w₀) = 9</a:t>
            </a:r>
          </a:p>
        </p:txBody>
      </p:sp>
      <p:sp>
        <p:nvSpPr>
          <p:cNvPr id="10" name="">
            <a:extLst xmlns:a="http://schemas.openxmlformats.org/drawingml/2006/main">
              <a:ext uri="{FF2B5EF4-FFF2-40B4-BE49-F238E27FC236}">
                <a16:creationId xmlns:a16="http://schemas.microsoft.com/office/drawing/2014/main" id="{E4DB820D-BB64-448A-B6DD-E044F65479C0}"/>
              </a:ext>
            </a:extLst>
          </p:cNvPr>
          <p:cNvSpPr>
            <a:spLocks xmlns:a="http://schemas.openxmlformats.org/drawingml/2006/main" noGrp="1"/>
          </p:cNvSpPr>
          <p:nvPr/>
        </p:nvSpPr>
        <p:spPr>
          <a:xfrm xmlns:a="http://schemas.openxmlformats.org/drawingml/2006/main">
            <a:off x="5476875" y="4781550"/>
            <a:ext cx="1190625" cy="228600"/>
          </a:xfrm>
          <a:prstGeom xmlns:a="http://schemas.openxmlformats.org/drawingml/2006/main" prst="rightArrow">
            <a:avLst/>
          </a:prstGeom>
          <a:solidFill xmlns:a="http://schemas.openxmlformats.org/drawingml/2006/main">
            <a:srgbClr val="F2B84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01FB20-1499-44C5-963C-379E29E08A2B}"/>
              </a:ext>
            </a:extLst>
          </p:cNvPr>
          <p:cNvSpPr>
            <a:spLocks xmlns:a="http://schemas.openxmlformats.org/drawingml/2006/main" noGrp="1"/>
          </p:cNvSpPr>
          <p:nvPr/>
        </p:nvSpPr>
        <p:spPr>
          <a:xfrm xmlns:a="http://schemas.openxmlformats.org/drawingml/2006/main">
            <a:off x="7000875" y="4667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75" b="1" i="0">
                <a:solidFill>
                  <a:srgbClr val="2B7A6D"/>
                </a:solidFill>
                <a:latin typeface="Arial"/>
                <a:ea typeface="Arial"/>
                <a:cs typeface="Arial"/>
              </a:defRPr>
            </a:pPr>
            <a:r>
              <a:rPr sz="2475" b="1" i="0">
                <a:solidFill>
                  <a:srgbClr val="2B7A6D"/>
                </a:solidFill>
                <a:latin typeface="Arial"/>
                <a:ea typeface="Arial"/>
                <a:cs typeface="Arial"/>
              </a:rPr>
              <a:t>J(w₁) = 5.76</a:t>
            </a:r>
          </a:p>
        </p:txBody>
      </p:sp>
      <p:sp>
        <p:nvSpPr>
          <p:cNvPr id="12" name="">
            <a:extLst xmlns:a="http://schemas.openxmlformats.org/drawingml/2006/main">
              <a:ext uri="{FF2B5EF4-FFF2-40B4-BE49-F238E27FC236}">
                <a16:creationId xmlns:a16="http://schemas.microsoft.com/office/drawing/2014/main" id="{20AC92F3-75D5-4171-813D-4081C9CD37A1}"/>
              </a:ext>
            </a:extLst>
          </p:cNvPr>
          <p:cNvSpPr>
            <a:spLocks xmlns:a="http://schemas.openxmlformats.org/drawingml/2006/main" noGrp="1"/>
          </p:cNvSpPr>
          <p:nvPr/>
        </p:nvSpPr>
        <p:spPr>
          <a:xfrm xmlns:a="http://schemas.openxmlformats.org/drawingml/2006/main">
            <a:off x="3143250" y="5715000"/>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0" i="0">
                <a:solidFill>
                  <a:srgbClr val="536878"/>
                </a:solidFill>
                <a:latin typeface="Arial"/>
                <a:ea typeface="Arial"/>
                <a:cs typeface="Arial"/>
              </a:defRPr>
            </a:pPr>
            <a:r>
              <a:rPr sz="1950" b="0" i="0">
                <a:solidFill>
                  <a:srgbClr val="536878"/>
                </a:solidFill>
                <a:latin typeface="Arial"/>
                <a:ea typeface="Arial"/>
                <a:cs typeface="Arial"/>
              </a:rPr>
              <a:t>One improved step does not establish convergence.</a:t>
            </a:r>
          </a:p>
        </p:txBody>
      </p:sp>
    </p:spTree>
    <p:extLst>
      <p:ext uri="{BB962C8B-B14F-4D97-AF65-F5344CB8AC3E}">
        <p14:creationId xmlns:p14="http://schemas.microsoft.com/office/powerpoint/2010/main" val="2014977458"/>
      </p:ext>
    </p:extLst>
  </p:cSld>
</p:sld>
</file>

<file path=ppt/slides/slide8.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79A086E-B830-4142-A5F6-F10CB9586632}"/>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The gradient-descent rule</a:t>
            </a:r>
          </a:p>
        </p:txBody>
      </p:sp>
      <p:sp>
        <p:nvSpPr>
          <p:cNvPr id="2" name="">
            <a:extLst xmlns:a="http://schemas.openxmlformats.org/drawingml/2006/main">
              <a:ext uri="{FF2B5EF4-FFF2-40B4-BE49-F238E27FC236}">
                <a16:creationId xmlns:a16="http://schemas.microsoft.com/office/drawing/2014/main" id="{C23A5CB9-0015-49FB-BA02-55E703B7019D}"/>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93FD98-FEDF-440B-8BCF-1740CBD75B61}"/>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76D7D1"/>
                </a:solidFill>
                <a:latin typeface="Arial"/>
                <a:ea typeface="Arial"/>
                <a:cs typeface="Arial"/>
              </a:defRPr>
            </a:pPr>
            <a:r>
              <a:rPr sz="1200" b="1" i="0">
                <a:solidFill>
                  <a:srgbClr val="76D7D1"/>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4E0F1ED2-3351-40DE-AF97-31C01A704156}"/>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76D7D1"/>
                </a:solidFill>
                <a:latin typeface="Arial"/>
                <a:ea typeface="Arial"/>
                <a:cs typeface="Arial"/>
              </a:defRPr>
            </a:pPr>
            <a:r>
              <a:rPr sz="1200" b="1" i="0">
                <a:solidFill>
                  <a:srgbClr val="76D7D1"/>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9501397-C992-4B86-A7AD-0A1CE83805EB}"/>
              </a:ext>
            </a:extLst>
          </p:cNvPr>
          <p:cNvSpPr>
            <a:spLocks xmlns:a="http://schemas.openxmlformats.org/drawingml/2006/main" noGrp="1"/>
          </p:cNvSpPr>
          <p:nvPr/>
        </p:nvSpPr>
        <p:spPr>
          <a:xfrm xmlns:a="http://schemas.openxmlformats.org/drawingml/2006/main">
            <a:off x="1381125" y="1666875"/>
            <a:ext cx="9429750" cy="1428750"/>
          </a:xfrm>
          <a:prstGeom xmlns:a="http://schemas.openxmlformats.org/drawingml/2006/main" prst="roundRect">
            <a:avLst>
              <a:gd name="adj" fmla="val 5333"/>
            </a:avLst>
          </a:prstGeom>
          <a:solidFill xmlns:a="http://schemas.openxmlformats.org/drawingml/2006/main">
            <a:srgbClr val="163149"/>
          </a:solidFill>
          <a:ln xmlns:a="http://schemas.openxmlformats.org/drawingml/2006/main" w="19050">
            <a:solidFill>
              <a:srgbClr val="F2B84B"/>
            </a:solidFill>
            <a:prstDash val="solid"/>
          </a:ln>
        </p:spPr>
      </p:sp>
      <p:sp>
        <p:nvSpPr>
          <p:cNvPr id="6" name="">
            <a:extLst xmlns:a="http://schemas.openxmlformats.org/drawingml/2006/main">
              <a:ext uri="{FF2B5EF4-FFF2-40B4-BE49-F238E27FC236}">
                <a16:creationId xmlns:a16="http://schemas.microsoft.com/office/drawing/2014/main" id="{B34AE799-D8C1-42AB-AA86-1638075F4438}"/>
              </a:ext>
            </a:extLst>
          </p:cNvPr>
          <p:cNvSpPr>
            <a:spLocks xmlns:a="http://schemas.openxmlformats.org/drawingml/2006/main" noGrp="1"/>
          </p:cNvSpPr>
          <p:nvPr/>
        </p:nvSpPr>
        <p:spPr>
          <a:xfrm xmlns:a="http://schemas.openxmlformats.org/drawingml/2006/main">
            <a:off x="1809750" y="2095500"/>
            <a:ext cx="857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125" b="1" i="0">
                <a:solidFill>
                  <a:srgbClr val="FFFFFF"/>
                </a:solidFill>
                <a:latin typeface="Arial"/>
                <a:ea typeface="Arial"/>
                <a:cs typeface="Arial"/>
              </a:defRPr>
            </a:pPr>
            <a:r>
              <a:rPr sz="4125" b="1" i="0">
                <a:solidFill>
                  <a:srgbClr val="FFFFFF"/>
                </a:solidFill>
                <a:latin typeface="Arial"/>
                <a:ea typeface="Arial"/>
                <a:cs typeface="Arial"/>
              </a:rPr>
              <a:t>θₜ₊₁ = θₜ − η∇J(θₜ)</a:t>
            </a:r>
          </a:p>
        </p:txBody>
      </p:sp>
      <p:sp>
        <p:nvSpPr>
          <p:cNvPr id="7" name="">
            <a:extLst xmlns:a="http://schemas.openxmlformats.org/drawingml/2006/main">
              <a:ext uri="{FF2B5EF4-FFF2-40B4-BE49-F238E27FC236}">
                <a16:creationId xmlns:a16="http://schemas.microsoft.com/office/drawing/2014/main" id="{B8609763-3CDD-4D93-908A-D3A4449EBED3}"/>
              </a:ext>
            </a:extLst>
          </p:cNvPr>
          <p:cNvSpPr>
            <a:spLocks xmlns:a="http://schemas.openxmlformats.org/drawingml/2006/main" noGrp="1"/>
          </p:cNvSpPr>
          <p:nvPr/>
        </p:nvSpPr>
        <p:spPr>
          <a:xfrm xmlns:a="http://schemas.openxmlformats.org/drawingml/2006/main">
            <a:off x="714375" y="3905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76D7D1"/>
                </a:solidFill>
                <a:latin typeface="Arial"/>
                <a:ea typeface="Arial"/>
                <a:cs typeface="Arial"/>
              </a:defRPr>
            </a:pPr>
            <a:r>
              <a:rPr sz="1350" b="1" i="0">
                <a:solidFill>
                  <a:srgbClr val="76D7D1"/>
                </a:solidFill>
                <a:latin typeface="Arial"/>
                <a:ea typeface="Arial"/>
                <a:cs typeface="Arial"/>
              </a:rPr>
              <a:t>θₜ</a:t>
            </a:r>
          </a:p>
        </p:txBody>
      </p:sp>
      <p:sp>
        <p:nvSpPr>
          <p:cNvPr id="8" name="">
            <a:extLst xmlns:a="http://schemas.openxmlformats.org/drawingml/2006/main">
              <a:ext uri="{FF2B5EF4-FFF2-40B4-BE49-F238E27FC236}">
                <a16:creationId xmlns:a16="http://schemas.microsoft.com/office/drawing/2014/main" id="{C8409B05-38FE-4EF8-BA87-AE994BBDDE01}"/>
              </a:ext>
            </a:extLst>
          </p:cNvPr>
          <p:cNvSpPr>
            <a:spLocks xmlns:a="http://schemas.openxmlformats.org/drawingml/2006/main" noGrp="1"/>
          </p:cNvSpPr>
          <p:nvPr/>
        </p:nvSpPr>
        <p:spPr>
          <a:xfrm xmlns:a="http://schemas.openxmlformats.org/drawingml/2006/main">
            <a:off x="714375" y="4381500"/>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current parameters</a:t>
            </a:r>
          </a:p>
        </p:txBody>
      </p:sp>
      <p:sp>
        <p:nvSpPr>
          <p:cNvPr id="9" name="">
            <a:extLst xmlns:a="http://schemas.openxmlformats.org/drawingml/2006/main">
              <a:ext uri="{FF2B5EF4-FFF2-40B4-BE49-F238E27FC236}">
                <a16:creationId xmlns:a16="http://schemas.microsoft.com/office/drawing/2014/main" id="{C31964A1-82D1-48AE-9997-A5143FFA0DEF}"/>
              </a:ext>
            </a:extLst>
          </p:cNvPr>
          <p:cNvSpPr>
            <a:spLocks xmlns:a="http://schemas.openxmlformats.org/drawingml/2006/main" noGrp="1"/>
          </p:cNvSpPr>
          <p:nvPr/>
        </p:nvSpPr>
        <p:spPr>
          <a:xfrm xmlns:a="http://schemas.openxmlformats.org/drawingml/2006/main">
            <a:off x="3571875" y="3905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0A7A5"/>
                </a:solidFill>
                <a:latin typeface="Arial"/>
                <a:ea typeface="Arial"/>
                <a:cs typeface="Arial"/>
              </a:defRPr>
            </a:pPr>
            <a:r>
              <a:rPr sz="1350" b="1" i="0">
                <a:solidFill>
                  <a:srgbClr val="10A7A5"/>
                </a:solidFill>
                <a:latin typeface="Arial"/>
                <a:ea typeface="Arial"/>
                <a:cs typeface="Arial"/>
              </a:rPr>
              <a:t>∇J(θₜ)</a:t>
            </a:r>
          </a:p>
        </p:txBody>
      </p:sp>
      <p:sp>
        <p:nvSpPr>
          <p:cNvPr id="10" name="">
            <a:extLst xmlns:a="http://schemas.openxmlformats.org/drawingml/2006/main">
              <a:ext uri="{FF2B5EF4-FFF2-40B4-BE49-F238E27FC236}">
                <a16:creationId xmlns:a16="http://schemas.microsoft.com/office/drawing/2014/main" id="{61A79832-E2CB-48D6-9C46-AAAD8082C658}"/>
              </a:ext>
            </a:extLst>
          </p:cNvPr>
          <p:cNvSpPr>
            <a:spLocks xmlns:a="http://schemas.openxmlformats.org/drawingml/2006/main" noGrp="1"/>
          </p:cNvSpPr>
          <p:nvPr/>
        </p:nvSpPr>
        <p:spPr>
          <a:xfrm xmlns:a="http://schemas.openxmlformats.org/drawingml/2006/main">
            <a:off x="3571875" y="4381500"/>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local sensitivity</a:t>
            </a:r>
          </a:p>
        </p:txBody>
      </p:sp>
      <p:sp>
        <p:nvSpPr>
          <p:cNvPr id="11" name="">
            <a:extLst xmlns:a="http://schemas.openxmlformats.org/drawingml/2006/main">
              <a:ext uri="{FF2B5EF4-FFF2-40B4-BE49-F238E27FC236}">
                <a16:creationId xmlns:a16="http://schemas.microsoft.com/office/drawing/2014/main" id="{41F97224-2B4D-4B94-9EE8-90755D210A14}"/>
              </a:ext>
            </a:extLst>
          </p:cNvPr>
          <p:cNvSpPr>
            <a:spLocks xmlns:a="http://schemas.openxmlformats.org/drawingml/2006/main" noGrp="1"/>
          </p:cNvSpPr>
          <p:nvPr/>
        </p:nvSpPr>
        <p:spPr>
          <a:xfrm xmlns:a="http://schemas.openxmlformats.org/drawingml/2006/main">
            <a:off x="6429375" y="3905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η</a:t>
            </a:r>
          </a:p>
        </p:txBody>
      </p:sp>
      <p:sp>
        <p:nvSpPr>
          <p:cNvPr id="12" name="">
            <a:extLst xmlns:a="http://schemas.openxmlformats.org/drawingml/2006/main">
              <a:ext uri="{FF2B5EF4-FFF2-40B4-BE49-F238E27FC236}">
                <a16:creationId xmlns:a16="http://schemas.microsoft.com/office/drawing/2014/main" id="{3736A3D3-F9BE-41E8-BD49-E6D0AE815244}"/>
              </a:ext>
            </a:extLst>
          </p:cNvPr>
          <p:cNvSpPr>
            <a:spLocks xmlns:a="http://schemas.openxmlformats.org/drawingml/2006/main" noGrp="1"/>
          </p:cNvSpPr>
          <p:nvPr/>
        </p:nvSpPr>
        <p:spPr>
          <a:xfrm xmlns:a="http://schemas.openxmlformats.org/drawingml/2006/main">
            <a:off x="6429375" y="4381500"/>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learning rate</a:t>
            </a:r>
          </a:p>
        </p:txBody>
      </p:sp>
      <p:sp>
        <p:nvSpPr>
          <p:cNvPr id="13" name="">
            <a:extLst xmlns:a="http://schemas.openxmlformats.org/drawingml/2006/main">
              <a:ext uri="{FF2B5EF4-FFF2-40B4-BE49-F238E27FC236}">
                <a16:creationId xmlns:a16="http://schemas.microsoft.com/office/drawing/2014/main" id="{A1DED6B5-B54C-4E73-ABE1-187DBDCC832C}"/>
              </a:ext>
            </a:extLst>
          </p:cNvPr>
          <p:cNvSpPr>
            <a:spLocks xmlns:a="http://schemas.openxmlformats.org/drawingml/2006/main" noGrp="1"/>
          </p:cNvSpPr>
          <p:nvPr/>
        </p:nvSpPr>
        <p:spPr>
          <a:xfrm xmlns:a="http://schemas.openxmlformats.org/drawingml/2006/main">
            <a:off x="9286875" y="3905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B7A6D"/>
                </a:solidFill>
                <a:latin typeface="Arial"/>
                <a:ea typeface="Arial"/>
                <a:cs typeface="Arial"/>
              </a:defRPr>
            </a:pPr>
            <a:r>
              <a:rPr sz="1350" b="1" i="0">
                <a:solidFill>
                  <a:srgbClr val="2B7A6D"/>
                </a:solidFill>
                <a:latin typeface="Arial"/>
                <a:ea typeface="Arial"/>
                <a:cs typeface="Arial"/>
              </a:rPr>
              <a:t>θₜ₊₁</a:t>
            </a:r>
          </a:p>
        </p:txBody>
      </p:sp>
      <p:sp>
        <p:nvSpPr>
          <p:cNvPr id="14" name="">
            <a:extLst xmlns:a="http://schemas.openxmlformats.org/drawingml/2006/main">
              <a:ext uri="{FF2B5EF4-FFF2-40B4-BE49-F238E27FC236}">
                <a16:creationId xmlns:a16="http://schemas.microsoft.com/office/drawing/2014/main" id="{68E806A3-5AC9-40F6-9B33-981DEA6AFF23}"/>
              </a:ext>
            </a:extLst>
          </p:cNvPr>
          <p:cNvSpPr>
            <a:spLocks xmlns:a="http://schemas.openxmlformats.org/drawingml/2006/main" noGrp="1"/>
          </p:cNvSpPr>
          <p:nvPr/>
        </p:nvSpPr>
        <p:spPr>
          <a:xfrm xmlns:a="http://schemas.openxmlformats.org/drawingml/2006/main">
            <a:off x="9286875" y="4381500"/>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updated parameters</a:t>
            </a:r>
          </a:p>
        </p:txBody>
      </p:sp>
      <p:sp>
        <p:nvSpPr>
          <p:cNvPr id="15" name="">
            <a:extLst xmlns:a="http://schemas.openxmlformats.org/drawingml/2006/main">
              <a:ext uri="{FF2B5EF4-FFF2-40B4-BE49-F238E27FC236}">
                <a16:creationId xmlns:a16="http://schemas.microsoft.com/office/drawing/2014/main" id="{257CAF4B-C4CC-49FA-888E-C45A78CEB72A}"/>
              </a:ext>
            </a:extLst>
          </p:cNvPr>
          <p:cNvSpPr>
            <a:spLocks xmlns:a="http://schemas.openxmlformats.org/drawingml/2006/main" noGrp="1"/>
          </p:cNvSpPr>
          <p:nvPr/>
        </p:nvSpPr>
        <p:spPr>
          <a:xfrm xmlns:a="http://schemas.openxmlformats.org/drawingml/2006/main">
            <a:off x="2333625" y="561975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602"/>
          </a:bodyPr>
          <a:lstStyle xmlns:a="http://schemas.openxmlformats.org/drawingml/2006/main"/>
          <a:p xmlns:a="http://schemas.openxmlformats.org/drawingml/2006/main">
            <a:pPr algn="ctr">
              <a:defRPr sz="2175" b="1" i="0">
                <a:solidFill>
                  <a:srgbClr val="76D7D1"/>
                </a:solidFill>
                <a:latin typeface="Arial"/>
                <a:ea typeface="Arial"/>
                <a:cs typeface="Arial"/>
              </a:defRPr>
            </a:pPr>
            <a:r>
              <a:rPr sz="2175" b="1" i="0">
                <a:solidFill>
                  <a:srgbClr val="76D7D1"/>
                </a:solidFill>
                <a:latin typeface="Arial"/>
                <a:ea typeface="Arial"/>
                <a:cs typeface="Arial"/>
              </a:rPr>
              <a:t>Direction comes from the gradient. Step length comes from η.</a:t>
            </a:r>
          </a:p>
        </p:txBody>
      </p:sp>
    </p:spTree>
    <p:extLst>
      <p:ext uri="{BB962C8B-B14F-4D97-AF65-F5344CB8AC3E}">
        <p14:creationId xmlns:p14="http://schemas.microsoft.com/office/powerpoint/2010/main" val="566533381"/>
      </p:ext>
    </p:extLst>
  </p:cSld>
</p:sld>
</file>

<file path=ppt/slides/slide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A71DCE6-F281-41E1-A518-3B1B1F3246EF}"/>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Linear regression objective</a:t>
            </a:r>
          </a:p>
        </p:txBody>
      </p:sp>
      <p:sp>
        <p:nvSpPr>
          <p:cNvPr id="2" name="">
            <a:extLst xmlns:a="http://schemas.openxmlformats.org/drawingml/2006/main">
              <a:ext uri="{FF2B5EF4-FFF2-40B4-BE49-F238E27FC236}">
                <a16:creationId xmlns:a16="http://schemas.microsoft.com/office/drawing/2014/main" id="{75807AB6-8924-40E7-8815-6A43CC323A45}"/>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F2B84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329E4F-ADF9-4F9C-9121-262B0D5FE135}"/>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E70598E0-0F20-48DA-BBAB-84899A586930}"/>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91F682A-ACB4-438D-86A1-BEEA12DE9071}"/>
              </a:ext>
            </a:extLst>
          </p:cNvPr>
          <p:cNvSpPr>
            <a:spLocks xmlns:a="http://schemas.openxmlformats.org/drawingml/2006/main" noGrp="1"/>
          </p:cNvSpPr>
          <p:nvPr/>
        </p:nvSpPr>
        <p:spPr>
          <a:xfrm xmlns:a="http://schemas.openxmlformats.org/drawingml/2006/main">
            <a:off x="857250" y="16192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0A7A5"/>
                </a:solidFill>
                <a:latin typeface="Arial"/>
                <a:ea typeface="Arial"/>
                <a:cs typeface="Arial"/>
              </a:defRPr>
            </a:pPr>
            <a:r>
              <a:rPr sz="1350" b="1" i="0">
                <a:solidFill>
                  <a:srgbClr val="10A7A5"/>
                </a:solidFill>
                <a:latin typeface="Arial"/>
                <a:ea typeface="Arial"/>
                <a:cs typeface="Arial"/>
              </a:rPr>
              <a:t>PREDICTION</a:t>
            </a:r>
          </a:p>
        </p:txBody>
      </p:sp>
      <p:sp>
        <p:nvSpPr>
          <p:cNvPr id="6" name="">
            <a:extLst xmlns:a="http://schemas.openxmlformats.org/drawingml/2006/main">
              <a:ext uri="{FF2B5EF4-FFF2-40B4-BE49-F238E27FC236}">
                <a16:creationId xmlns:a16="http://schemas.microsoft.com/office/drawing/2014/main" id="{C493C6F7-E700-4F3D-B52E-E53062D6C964}"/>
              </a:ext>
            </a:extLst>
          </p:cNvPr>
          <p:cNvSpPr>
            <a:spLocks xmlns:a="http://schemas.openxmlformats.org/drawingml/2006/main" noGrp="1"/>
          </p:cNvSpPr>
          <p:nvPr/>
        </p:nvSpPr>
        <p:spPr>
          <a:xfrm xmlns:a="http://schemas.openxmlformats.org/drawingml/2006/main">
            <a:off x="3333750" y="1543050"/>
            <a:ext cx="7524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C9D6D4"/>
            </a:solidFill>
            <a:prstDash val="solid"/>
          </a:ln>
        </p:spPr>
      </p:sp>
      <p:sp>
        <p:nvSpPr>
          <p:cNvPr id="7" name="">
            <a:extLst xmlns:a="http://schemas.openxmlformats.org/drawingml/2006/main">
              <a:ext uri="{FF2B5EF4-FFF2-40B4-BE49-F238E27FC236}">
                <a16:creationId xmlns:a16="http://schemas.microsoft.com/office/drawing/2014/main" id="{50E6767E-242C-453B-9F86-CCE629F1DD96}"/>
              </a:ext>
            </a:extLst>
          </p:cNvPr>
          <p:cNvSpPr>
            <a:spLocks xmlns:a="http://schemas.openxmlformats.org/drawingml/2006/main" noGrp="1"/>
          </p:cNvSpPr>
          <p:nvPr/>
        </p:nvSpPr>
        <p:spPr>
          <a:xfrm xmlns:a="http://schemas.openxmlformats.org/drawingml/2006/main">
            <a:off x="3714750" y="1733550"/>
            <a:ext cx="676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925" b="1" i="0">
                <a:solidFill>
                  <a:srgbClr val="10A7A5"/>
                </a:solidFill>
                <a:latin typeface="Arial"/>
                <a:ea typeface="Arial"/>
                <a:cs typeface="Arial"/>
              </a:defRPr>
            </a:pPr>
            <a:r>
              <a:rPr sz="2925" b="1" i="0">
                <a:solidFill>
                  <a:srgbClr val="10A7A5"/>
                </a:solidFill>
                <a:latin typeface="Arial"/>
                <a:ea typeface="Arial"/>
                <a:cs typeface="Arial"/>
              </a:rPr>
              <a:t>ŷ = Xw + b</a:t>
            </a:r>
          </a:p>
        </p:txBody>
      </p:sp>
      <p:sp>
        <p:nvSpPr>
          <p:cNvPr id="8" name="">
            <a:extLst xmlns:a="http://schemas.openxmlformats.org/drawingml/2006/main">
              <a:ext uri="{FF2B5EF4-FFF2-40B4-BE49-F238E27FC236}">
                <a16:creationId xmlns:a16="http://schemas.microsoft.com/office/drawing/2014/main" id="{C3234999-BE85-472D-A731-101ABAF17F06}"/>
              </a:ext>
            </a:extLst>
          </p:cNvPr>
          <p:cNvSpPr>
            <a:spLocks xmlns:a="http://schemas.openxmlformats.org/drawingml/2006/main" noGrp="1"/>
          </p:cNvSpPr>
          <p:nvPr/>
        </p:nvSpPr>
        <p:spPr>
          <a:xfrm xmlns:a="http://schemas.openxmlformats.org/drawingml/2006/main">
            <a:off x="857250" y="2857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0A7A5"/>
                </a:solidFill>
                <a:latin typeface="Arial"/>
                <a:ea typeface="Arial"/>
                <a:cs typeface="Arial"/>
              </a:defRPr>
            </a:pPr>
            <a:r>
              <a:rPr sz="1350" b="1" i="0">
                <a:solidFill>
                  <a:srgbClr val="10A7A5"/>
                </a:solidFill>
                <a:latin typeface="Arial"/>
                <a:ea typeface="Arial"/>
                <a:cs typeface="Arial"/>
              </a:rPr>
              <a:t>RESIDUAL</a:t>
            </a:r>
          </a:p>
        </p:txBody>
      </p:sp>
      <p:sp>
        <p:nvSpPr>
          <p:cNvPr id="9" name="">
            <a:extLst xmlns:a="http://schemas.openxmlformats.org/drawingml/2006/main">
              <a:ext uri="{FF2B5EF4-FFF2-40B4-BE49-F238E27FC236}">
                <a16:creationId xmlns:a16="http://schemas.microsoft.com/office/drawing/2014/main" id="{5FD2569E-8401-4F67-859D-9BB07E1A29C8}"/>
              </a:ext>
            </a:extLst>
          </p:cNvPr>
          <p:cNvSpPr>
            <a:spLocks xmlns:a="http://schemas.openxmlformats.org/drawingml/2006/main" noGrp="1"/>
          </p:cNvSpPr>
          <p:nvPr/>
        </p:nvSpPr>
        <p:spPr>
          <a:xfrm xmlns:a="http://schemas.openxmlformats.org/drawingml/2006/main">
            <a:off x="3333750" y="2781300"/>
            <a:ext cx="75247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C9D6D4"/>
            </a:solidFill>
            <a:prstDash val="solid"/>
          </a:ln>
        </p:spPr>
      </p:sp>
      <p:sp>
        <p:nvSpPr>
          <p:cNvPr id="10" name="">
            <a:extLst xmlns:a="http://schemas.openxmlformats.org/drawingml/2006/main">
              <a:ext uri="{FF2B5EF4-FFF2-40B4-BE49-F238E27FC236}">
                <a16:creationId xmlns:a16="http://schemas.microsoft.com/office/drawing/2014/main" id="{11554A0E-C13B-4BC7-80E9-B01CAE449FF4}"/>
              </a:ext>
            </a:extLst>
          </p:cNvPr>
          <p:cNvSpPr>
            <a:spLocks xmlns:a="http://schemas.openxmlformats.org/drawingml/2006/main" noGrp="1"/>
          </p:cNvSpPr>
          <p:nvPr/>
        </p:nvSpPr>
        <p:spPr>
          <a:xfrm xmlns:a="http://schemas.openxmlformats.org/drawingml/2006/main">
            <a:off x="3714750" y="2971800"/>
            <a:ext cx="676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925" b="1" i="0">
                <a:solidFill>
                  <a:srgbClr val="10A7A5"/>
                </a:solidFill>
                <a:latin typeface="Arial"/>
                <a:ea typeface="Arial"/>
                <a:cs typeface="Arial"/>
              </a:defRPr>
            </a:pPr>
            <a:r>
              <a:rPr sz="2925" b="1" i="0">
                <a:solidFill>
                  <a:srgbClr val="10A7A5"/>
                </a:solidFill>
                <a:latin typeface="Arial"/>
                <a:ea typeface="Arial"/>
                <a:cs typeface="Arial"/>
              </a:rPr>
              <a:t>e = ŷ − y</a:t>
            </a:r>
          </a:p>
        </p:txBody>
      </p:sp>
      <p:sp>
        <p:nvSpPr>
          <p:cNvPr id="11" name="">
            <a:extLst xmlns:a="http://schemas.openxmlformats.org/drawingml/2006/main">
              <a:ext uri="{FF2B5EF4-FFF2-40B4-BE49-F238E27FC236}">
                <a16:creationId xmlns:a16="http://schemas.microsoft.com/office/drawing/2014/main" id="{D20F4119-FF54-4CBF-A5D2-B05B13865BC4}"/>
              </a:ext>
            </a:extLst>
          </p:cNvPr>
          <p:cNvSpPr>
            <a:spLocks xmlns:a="http://schemas.openxmlformats.org/drawingml/2006/main" noGrp="1"/>
          </p:cNvSpPr>
          <p:nvPr/>
        </p:nvSpPr>
        <p:spPr>
          <a:xfrm xmlns:a="http://schemas.openxmlformats.org/drawingml/2006/main">
            <a:off x="857250" y="40957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OBJECTIVE</a:t>
            </a:r>
          </a:p>
        </p:txBody>
      </p:sp>
      <p:sp>
        <p:nvSpPr>
          <p:cNvPr id="12" name="">
            <a:extLst xmlns:a="http://schemas.openxmlformats.org/drawingml/2006/main">
              <a:ext uri="{FF2B5EF4-FFF2-40B4-BE49-F238E27FC236}">
                <a16:creationId xmlns:a16="http://schemas.microsoft.com/office/drawing/2014/main" id="{B4EB522A-78DC-486A-86AE-A4E011D869F4}"/>
              </a:ext>
            </a:extLst>
          </p:cNvPr>
          <p:cNvSpPr>
            <a:spLocks xmlns:a="http://schemas.openxmlformats.org/drawingml/2006/main" noGrp="1"/>
          </p:cNvSpPr>
          <p:nvPr/>
        </p:nvSpPr>
        <p:spPr>
          <a:xfrm xmlns:a="http://schemas.openxmlformats.org/drawingml/2006/main">
            <a:off x="3333750" y="4019550"/>
            <a:ext cx="7524750" cy="876300"/>
          </a:xfrm>
          <a:prstGeom xmlns:a="http://schemas.openxmlformats.org/drawingml/2006/main" prst="roundRect">
            <a:avLst>
              <a:gd name="adj" fmla="val 8696"/>
            </a:avLst>
          </a:prstGeom>
          <a:solidFill xmlns:a="http://schemas.openxmlformats.org/drawingml/2006/main">
            <a:srgbClr val="F9E3AE"/>
          </a:solidFill>
          <a:ln xmlns:a="http://schemas.openxmlformats.org/drawingml/2006/main" w="19050">
            <a:solidFill>
              <a:srgbClr val="F2B84B"/>
            </a:solidFill>
            <a:prstDash val="solid"/>
          </a:ln>
        </p:spPr>
      </p:sp>
      <p:sp>
        <p:nvSpPr>
          <p:cNvPr id="13" name="">
            <a:extLst xmlns:a="http://schemas.openxmlformats.org/drawingml/2006/main">
              <a:ext uri="{FF2B5EF4-FFF2-40B4-BE49-F238E27FC236}">
                <a16:creationId xmlns:a16="http://schemas.microsoft.com/office/drawing/2014/main" id="{2699F7FC-9AB0-429C-874E-190E0600DD65}"/>
              </a:ext>
            </a:extLst>
          </p:cNvPr>
          <p:cNvSpPr>
            <a:spLocks xmlns:a="http://schemas.openxmlformats.org/drawingml/2006/main" noGrp="1"/>
          </p:cNvSpPr>
          <p:nvPr/>
        </p:nvSpPr>
        <p:spPr>
          <a:xfrm xmlns:a="http://schemas.openxmlformats.org/drawingml/2006/main">
            <a:off x="3714750" y="4210050"/>
            <a:ext cx="676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i="0">
                <a:solidFill>
                  <a:srgbClr val="0B1F33"/>
                </a:solidFill>
                <a:latin typeface="Arial"/>
                <a:ea typeface="Arial"/>
                <a:cs typeface="Arial"/>
              </a:defRPr>
            </a:pPr>
            <a:r>
              <a:rPr sz="3150" b="1" i="0">
                <a:solidFill>
                  <a:srgbClr val="0B1F33"/>
                </a:solidFill>
                <a:latin typeface="Arial"/>
                <a:ea typeface="Arial"/>
                <a:cs typeface="Arial"/>
              </a:rPr>
              <a:t>J(w,b) = (1/m)eᵀe</a:t>
            </a:r>
          </a:p>
        </p:txBody>
      </p:sp>
      <p:sp>
        <p:nvSpPr>
          <p:cNvPr id="14" name="">
            <a:extLst xmlns:a="http://schemas.openxmlformats.org/drawingml/2006/main">
              <a:ext uri="{FF2B5EF4-FFF2-40B4-BE49-F238E27FC236}">
                <a16:creationId xmlns:a16="http://schemas.microsoft.com/office/drawing/2014/main" id="{105717F9-AEE3-440F-97AC-39A969A8B886}"/>
              </a:ext>
            </a:extLst>
          </p:cNvPr>
          <p:cNvSpPr>
            <a:spLocks xmlns:a="http://schemas.openxmlformats.org/drawingml/2006/main" noGrp="1"/>
          </p:cNvSpPr>
          <p:nvPr/>
        </p:nvSpPr>
        <p:spPr>
          <a:xfrm xmlns:a="http://schemas.openxmlformats.org/drawingml/2006/main">
            <a:off x="2095500" y="557212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0B1F33"/>
                </a:solidFill>
                <a:latin typeface="Arial"/>
                <a:ea typeface="Arial"/>
                <a:cs typeface="Arial"/>
              </a:defRPr>
            </a:pPr>
            <a:r>
              <a:rPr sz="2175" b="1" i="0">
                <a:solidFill>
                  <a:srgbClr val="0B1F33"/>
                </a:solidFill>
                <a:latin typeface="Arial"/>
                <a:ea typeface="Arial"/>
                <a:cs typeface="Arial"/>
              </a:rPr>
              <a:t>X (m,d)    w (d,)    ŷ (m,)    e (m,)</a:t>
            </a:r>
          </a:p>
        </p:txBody>
      </p:sp>
    </p:spTree>
    <p:extLst>
      <p:ext uri="{BB962C8B-B14F-4D97-AF65-F5344CB8AC3E}">
        <p14:creationId xmlns:p14="http://schemas.microsoft.com/office/powerpoint/2010/main" val="2088825417"/>
      </p:ext>
    </p:extLst>
  </p:cSld>
</p:sld>
</file>

<file path=ppt/slides/slide1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3E1810A-5711-4038-9987-2DC0AC827957}"/>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Mean-squared-error gradients</a:t>
            </a:r>
          </a:p>
        </p:txBody>
      </p:sp>
      <p:sp>
        <p:nvSpPr>
          <p:cNvPr id="2" name="">
            <a:extLst xmlns:a="http://schemas.openxmlformats.org/drawingml/2006/main">
              <a:ext uri="{FF2B5EF4-FFF2-40B4-BE49-F238E27FC236}">
                <a16:creationId xmlns:a16="http://schemas.microsoft.com/office/drawing/2014/main" id="{057CC30C-9EA1-4758-A778-103D3C937DC0}"/>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EB494C8-6CD8-4DDA-B3F4-6726D8B3145E}"/>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993B934E-92B1-45AF-8949-1544C127819D}"/>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0B7EF08-5DC3-475C-80D7-1AA4114135C9}"/>
              </a:ext>
            </a:extLst>
          </p:cNvPr>
          <p:cNvSpPr>
            <a:spLocks xmlns:a="http://schemas.openxmlformats.org/drawingml/2006/main" noGrp="1"/>
          </p:cNvSpPr>
          <p:nvPr/>
        </p:nvSpPr>
        <p:spPr>
          <a:xfrm xmlns:a="http://schemas.openxmlformats.org/drawingml/2006/main">
            <a:off x="857250" y="15716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0A7A5"/>
                </a:solidFill>
                <a:latin typeface="Arial"/>
                <a:ea typeface="Arial"/>
                <a:cs typeface="Arial"/>
              </a:defRPr>
            </a:pPr>
            <a:r>
              <a:rPr sz="1350" b="1" i="0">
                <a:solidFill>
                  <a:srgbClr val="10A7A5"/>
                </a:solidFill>
                <a:latin typeface="Arial"/>
                <a:ea typeface="Arial"/>
                <a:cs typeface="Arial"/>
              </a:rPr>
              <a:t>WEIGHTS</a:t>
            </a:r>
          </a:p>
        </p:txBody>
      </p:sp>
      <p:sp>
        <p:nvSpPr>
          <p:cNvPr id="6" name="">
            <a:extLst xmlns:a="http://schemas.openxmlformats.org/drawingml/2006/main">
              <a:ext uri="{FF2B5EF4-FFF2-40B4-BE49-F238E27FC236}">
                <a16:creationId xmlns:a16="http://schemas.microsoft.com/office/drawing/2014/main" id="{69C5B8CC-D587-4856-B54C-0C739F04D3FE}"/>
              </a:ext>
            </a:extLst>
          </p:cNvPr>
          <p:cNvSpPr>
            <a:spLocks xmlns:a="http://schemas.openxmlformats.org/drawingml/2006/main" noGrp="1"/>
          </p:cNvSpPr>
          <p:nvPr/>
        </p:nvSpPr>
        <p:spPr>
          <a:xfrm xmlns:a="http://schemas.openxmlformats.org/drawingml/2006/main">
            <a:off x="857250" y="2047875"/>
            <a:ext cx="495300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19050">
            <a:solidFill>
              <a:srgbClr val="10A7A5"/>
            </a:solidFill>
            <a:prstDash val="solid"/>
          </a:ln>
        </p:spPr>
      </p:sp>
      <p:sp>
        <p:nvSpPr>
          <p:cNvPr id="7" name="">
            <a:extLst xmlns:a="http://schemas.openxmlformats.org/drawingml/2006/main">
              <a:ext uri="{FF2B5EF4-FFF2-40B4-BE49-F238E27FC236}">
                <a16:creationId xmlns:a16="http://schemas.microsoft.com/office/drawing/2014/main" id="{2E9F6D16-E9C2-44F4-8A1D-C37795B55301}"/>
              </a:ext>
            </a:extLst>
          </p:cNvPr>
          <p:cNvSpPr>
            <a:spLocks xmlns:a="http://schemas.openxmlformats.org/drawingml/2006/main" noGrp="1"/>
          </p:cNvSpPr>
          <p:nvPr/>
        </p:nvSpPr>
        <p:spPr>
          <a:xfrm xmlns:a="http://schemas.openxmlformats.org/drawingml/2006/main">
            <a:off x="1190625" y="2428875"/>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225" b="1" i="0">
                <a:solidFill>
                  <a:srgbClr val="10A7A5"/>
                </a:solidFill>
                <a:latin typeface="Arial"/>
                <a:ea typeface="Arial"/>
                <a:cs typeface="Arial"/>
              </a:defRPr>
            </a:pPr>
            <a:r>
              <a:rPr sz="3225" b="1" i="0">
                <a:solidFill>
                  <a:srgbClr val="10A7A5"/>
                </a:solidFill>
                <a:latin typeface="Arial"/>
                <a:ea typeface="Arial"/>
                <a:cs typeface="Arial"/>
              </a:rPr>
              <a:t>∇w J = (2/m)Xᵀe</a:t>
            </a:r>
          </a:p>
        </p:txBody>
      </p:sp>
      <p:sp>
        <p:nvSpPr>
          <p:cNvPr id="8" name="">
            <a:extLst xmlns:a="http://schemas.openxmlformats.org/drawingml/2006/main">
              <a:ext uri="{FF2B5EF4-FFF2-40B4-BE49-F238E27FC236}">
                <a16:creationId xmlns:a16="http://schemas.microsoft.com/office/drawing/2014/main" id="{FA61606E-B6B0-43B6-B81C-4BA7CA76C5E7}"/>
              </a:ext>
            </a:extLst>
          </p:cNvPr>
          <p:cNvSpPr>
            <a:spLocks xmlns:a="http://schemas.openxmlformats.org/drawingml/2006/main" noGrp="1"/>
          </p:cNvSpPr>
          <p:nvPr/>
        </p:nvSpPr>
        <p:spPr>
          <a:xfrm xmlns:a="http://schemas.openxmlformats.org/drawingml/2006/main">
            <a:off x="2095500" y="352425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536878"/>
                </a:solidFill>
                <a:latin typeface="Arial"/>
                <a:ea typeface="Arial"/>
                <a:cs typeface="Arial"/>
              </a:defRPr>
            </a:pPr>
            <a:r>
              <a:rPr sz="1875" b="1" i="0">
                <a:solidFill>
                  <a:srgbClr val="536878"/>
                </a:solidFill>
                <a:latin typeface="Arial"/>
                <a:ea typeface="Arial"/>
                <a:cs typeface="Arial"/>
              </a:rPr>
              <a:t>shape (d,)</a:t>
            </a:r>
          </a:p>
        </p:txBody>
      </p:sp>
      <p:sp>
        <p:nvSpPr>
          <p:cNvPr id="9" name="">
            <a:extLst xmlns:a="http://schemas.openxmlformats.org/drawingml/2006/main">
              <a:ext uri="{FF2B5EF4-FFF2-40B4-BE49-F238E27FC236}">
                <a16:creationId xmlns:a16="http://schemas.microsoft.com/office/drawing/2014/main" id="{195200EE-71CB-417D-97AE-BDA878651ABB}"/>
              </a:ext>
            </a:extLst>
          </p:cNvPr>
          <p:cNvSpPr>
            <a:spLocks xmlns:a="http://schemas.openxmlformats.org/drawingml/2006/main" noGrp="1"/>
          </p:cNvSpPr>
          <p:nvPr/>
        </p:nvSpPr>
        <p:spPr>
          <a:xfrm xmlns:a="http://schemas.openxmlformats.org/drawingml/2006/main">
            <a:off x="6572250" y="15716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BIAS</a:t>
            </a:r>
          </a:p>
        </p:txBody>
      </p:sp>
      <p:sp>
        <p:nvSpPr>
          <p:cNvPr id="10" name="">
            <a:extLst xmlns:a="http://schemas.openxmlformats.org/drawingml/2006/main">
              <a:ext uri="{FF2B5EF4-FFF2-40B4-BE49-F238E27FC236}">
                <a16:creationId xmlns:a16="http://schemas.microsoft.com/office/drawing/2014/main" id="{0BCA7A72-1555-41CA-B46B-F1FACD31643D}"/>
              </a:ext>
            </a:extLst>
          </p:cNvPr>
          <p:cNvSpPr>
            <a:spLocks xmlns:a="http://schemas.openxmlformats.org/drawingml/2006/main" noGrp="1"/>
          </p:cNvSpPr>
          <p:nvPr/>
        </p:nvSpPr>
        <p:spPr>
          <a:xfrm xmlns:a="http://schemas.openxmlformats.org/drawingml/2006/main">
            <a:off x="6572250" y="2047875"/>
            <a:ext cx="4762500" cy="1285875"/>
          </a:xfrm>
          <a:prstGeom xmlns:a="http://schemas.openxmlformats.org/drawingml/2006/main" prst="roundRect">
            <a:avLst>
              <a:gd name="adj" fmla="val 5926"/>
            </a:avLst>
          </a:prstGeom>
          <a:solidFill xmlns:a="http://schemas.openxmlformats.org/drawingml/2006/main">
            <a:srgbClr val="F9E3AE"/>
          </a:solidFill>
          <a:ln xmlns:a="http://schemas.openxmlformats.org/drawingml/2006/main" w="19050">
            <a:solidFill>
              <a:srgbClr val="F2B84B"/>
            </a:solidFill>
            <a:prstDash val="solid"/>
          </a:ln>
        </p:spPr>
      </p:sp>
      <p:sp>
        <p:nvSpPr>
          <p:cNvPr id="11" name="">
            <a:extLst xmlns:a="http://schemas.openxmlformats.org/drawingml/2006/main">
              <a:ext uri="{FF2B5EF4-FFF2-40B4-BE49-F238E27FC236}">
                <a16:creationId xmlns:a16="http://schemas.microsoft.com/office/drawing/2014/main" id="{A4B6A407-D1AB-4FA1-8FB1-9AEEA10D2C87}"/>
              </a:ext>
            </a:extLst>
          </p:cNvPr>
          <p:cNvSpPr>
            <a:spLocks xmlns:a="http://schemas.openxmlformats.org/drawingml/2006/main" noGrp="1"/>
          </p:cNvSpPr>
          <p:nvPr/>
        </p:nvSpPr>
        <p:spPr>
          <a:xfrm xmlns:a="http://schemas.openxmlformats.org/drawingml/2006/main">
            <a:off x="6858000" y="2428875"/>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0B1F33"/>
                </a:solidFill>
                <a:latin typeface="Arial"/>
                <a:ea typeface="Arial"/>
                <a:cs typeface="Arial"/>
              </a:defRPr>
            </a:pPr>
            <a:r>
              <a:rPr sz="2850" b="1" i="0">
                <a:solidFill>
                  <a:srgbClr val="0B1F33"/>
                </a:solidFill>
                <a:latin typeface="Arial"/>
                <a:ea typeface="Arial"/>
                <a:cs typeface="Arial"/>
              </a:rPr>
              <a:t>∂J/∂b = (2/m)Σᵢeᵢ</a:t>
            </a:r>
          </a:p>
        </p:txBody>
      </p:sp>
      <p:sp>
        <p:nvSpPr>
          <p:cNvPr id="12" name="">
            <a:extLst xmlns:a="http://schemas.openxmlformats.org/drawingml/2006/main">
              <a:ext uri="{FF2B5EF4-FFF2-40B4-BE49-F238E27FC236}">
                <a16:creationId xmlns:a16="http://schemas.microsoft.com/office/drawing/2014/main" id="{5DFAE02A-4AD0-4585-A0F7-8B72EEFB2B20}"/>
              </a:ext>
            </a:extLst>
          </p:cNvPr>
          <p:cNvSpPr>
            <a:spLocks xmlns:a="http://schemas.openxmlformats.org/drawingml/2006/main" noGrp="1"/>
          </p:cNvSpPr>
          <p:nvPr/>
        </p:nvSpPr>
        <p:spPr>
          <a:xfrm xmlns:a="http://schemas.openxmlformats.org/drawingml/2006/main">
            <a:off x="7715250" y="352425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536878"/>
                </a:solidFill>
                <a:latin typeface="Arial"/>
                <a:ea typeface="Arial"/>
                <a:cs typeface="Arial"/>
              </a:defRPr>
            </a:pPr>
            <a:r>
              <a:rPr sz="1875" b="1" i="0">
                <a:solidFill>
                  <a:srgbClr val="536878"/>
                </a:solidFill>
                <a:latin typeface="Arial"/>
                <a:ea typeface="Arial"/>
                <a:cs typeface="Arial"/>
              </a:rPr>
              <a:t>one scalar</a:t>
            </a:r>
          </a:p>
        </p:txBody>
      </p:sp>
      <p:sp>
        <p:nvSpPr>
          <p:cNvPr id="13" name="">
            <a:extLst xmlns:a="http://schemas.openxmlformats.org/drawingml/2006/main">
              <a:ext uri="{FF2B5EF4-FFF2-40B4-BE49-F238E27FC236}">
                <a16:creationId xmlns:a16="http://schemas.microsoft.com/office/drawing/2014/main" id="{C25670CB-2A55-45C9-A52A-73FF90245DC5}"/>
              </a:ext>
            </a:extLst>
          </p:cNvPr>
          <p:cNvSpPr>
            <a:spLocks xmlns:a="http://schemas.openxmlformats.org/drawingml/2006/main" noGrp="1"/>
          </p:cNvSpPr>
          <p:nvPr/>
        </p:nvSpPr>
        <p:spPr>
          <a:xfrm xmlns:a="http://schemas.openxmlformats.org/drawingml/2006/main">
            <a:off x="857250" y="4286250"/>
            <a:ext cx="10477500" cy="0"/>
          </a:xfrm>
          <a:prstGeom xmlns:a="http://schemas.openxmlformats.org/drawingml/2006/main" prst="line">
            <a:avLst/>
          </a:prstGeom>
          <a:noFill xmlns:a="http://schemas.openxmlformats.org/drawingml/2006/main"/>
          <a:ln xmlns:a="http://schemas.openxmlformats.org/drawingml/2006/main" w="19050">
            <a:solidFill>
              <a:srgbClr val="C9D6D4"/>
            </a:solidFill>
            <a:prstDash val="solid"/>
          </a:ln>
        </p:spPr>
      </p:sp>
      <p:sp>
        <p:nvSpPr>
          <p:cNvPr id="14" name="">
            <a:extLst xmlns:a="http://schemas.openxmlformats.org/drawingml/2006/main">
              <a:ext uri="{FF2B5EF4-FFF2-40B4-BE49-F238E27FC236}">
                <a16:creationId xmlns:a16="http://schemas.microsoft.com/office/drawing/2014/main" id="{84F30170-1269-4D7E-BBE2-C20258632882}"/>
              </a:ext>
            </a:extLst>
          </p:cNvPr>
          <p:cNvSpPr>
            <a:spLocks xmlns:a="http://schemas.openxmlformats.org/drawingml/2006/main" noGrp="1"/>
          </p:cNvSpPr>
          <p:nvPr/>
        </p:nvSpPr>
        <p:spPr>
          <a:xfrm xmlns:a="http://schemas.openxmlformats.org/drawingml/2006/main">
            <a:off x="1809750" y="4762500"/>
            <a:ext cx="857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0B1F33"/>
                </a:solidFill>
                <a:latin typeface="Arial"/>
                <a:ea typeface="Arial"/>
                <a:cs typeface="Arial"/>
              </a:defRPr>
            </a:pPr>
            <a:r>
              <a:rPr sz="2550" b="1" i="0">
                <a:solidFill>
                  <a:srgbClr val="0B1F33"/>
                </a:solidFill>
                <a:latin typeface="Arial"/>
                <a:ea typeface="Arial"/>
                <a:cs typeface="Arial"/>
              </a:rPr>
              <a:t>For one weight:   ∂J/∂wⱼ = (2/m)Σᵢ xᵢⱼeᵢ</a:t>
            </a:r>
          </a:p>
        </p:txBody>
      </p:sp>
      <p:sp>
        <p:nvSpPr>
          <p:cNvPr id="15" name="">
            <a:extLst xmlns:a="http://schemas.openxmlformats.org/drawingml/2006/main">
              <a:ext uri="{FF2B5EF4-FFF2-40B4-BE49-F238E27FC236}">
                <a16:creationId xmlns:a16="http://schemas.microsoft.com/office/drawing/2014/main" id="{E2EE2C28-A5C7-4EA3-AB85-FCA144C06A7E}"/>
              </a:ext>
            </a:extLst>
          </p:cNvPr>
          <p:cNvSpPr>
            <a:spLocks xmlns:a="http://schemas.openxmlformats.org/drawingml/2006/main" noGrp="1"/>
          </p:cNvSpPr>
          <p:nvPr/>
        </p:nvSpPr>
        <p:spPr>
          <a:xfrm xmlns:a="http://schemas.openxmlformats.org/drawingml/2006/main">
            <a:off x="3048000" y="571500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450"/>
          </a:bodyPr>
          <a:lstStyle xmlns:a="http://schemas.openxmlformats.org/drawingml/2006/main"/>
          <a:p xmlns:a="http://schemas.openxmlformats.org/drawingml/2006/main">
            <a:pPr algn="ctr">
              <a:defRPr sz="2025" b="1" i="0">
                <a:solidFill>
                  <a:srgbClr val="10A7A5"/>
                </a:solidFill>
                <a:latin typeface="Arial"/>
                <a:ea typeface="Arial"/>
                <a:cs typeface="Arial"/>
              </a:defRPr>
            </a:pPr>
            <a:r>
              <a:rPr sz="2025" b="1" i="0">
                <a:solidFill>
                  <a:srgbClr val="10A7A5"/>
                </a:solidFill>
                <a:latin typeface="Arial"/>
                <a:ea typeface="Arial"/>
                <a:cs typeface="Arial"/>
              </a:rPr>
              <a:t>The gradient shape must match the parameter shape.</a:t>
            </a:r>
          </a:p>
        </p:txBody>
      </p:sp>
    </p:spTree>
    <p:extLst>
      <p:ext uri="{BB962C8B-B14F-4D97-AF65-F5344CB8AC3E}">
        <p14:creationId xmlns:p14="http://schemas.microsoft.com/office/powerpoint/2010/main" val="2052138317"/>
      </p:ext>
    </p:extLst>
  </p:cSld>
</p:sld>
</file>

<file path=ppt/slides/slide1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FFC6DB-B633-430F-A8EE-48FE621D0CD4}"/>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Three update schedules</a:t>
            </a:r>
          </a:p>
        </p:txBody>
      </p:sp>
      <p:sp>
        <p:nvSpPr>
          <p:cNvPr id="2" name="">
            <a:extLst xmlns:a="http://schemas.openxmlformats.org/drawingml/2006/main">
              <a:ext uri="{FF2B5EF4-FFF2-40B4-BE49-F238E27FC236}">
                <a16:creationId xmlns:a16="http://schemas.microsoft.com/office/drawing/2014/main" id="{6612741A-96D4-4CDE-8C6B-9C405EB51606}"/>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A3A1AF-A5A8-47C9-9B79-D50FA62FFB33}"/>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E34B62CA-B3FF-4823-9BE3-4FFA06919120}"/>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11</a:t>
            </a:r>
          </a:p>
        </p:txBody>
      </p:sp>
      <p:graphicFrame>
        <p:nvGraphicFramePr>
          <p:cNvPr id="12" name=""/>
          <p:cNvGraphicFramePr/>
          <p:nvPr/>
        </p:nvGraphicFramePr>
        <p:xfrm>
          <a:off xmlns:a="http://schemas.openxmlformats.org/drawingml/2006/main" x="523875" y="1571625"/>
          <a:ext xmlns:a="http://schemas.openxmlformats.org/drawingml/2006/main" cx="11144250" cy="3524250"/>
        </p:xfrm>
        <a:graphic xmlns:a="http://schemas.openxmlformats.org/drawingml/2006/main">
          <a:graphicData uri="http://schemas.openxmlformats.org/drawingml/2006/table">
            <a:tbl>
              <a:tblPr/>
              <a:tblGrid>
                <a:gridCol w="2762250"/>
                <a:gridCol w="2476500"/>
                <a:gridCol w="2476500"/>
                <a:gridCol w="3429000"/>
              </a:tblGrid>
              <a:tr h="881063">
                <a:tc>
                  <a:txBody>
                    <a:bodyPr/>
                    <a:lstStyle/>
                    <a:p>
                      <a:pPr algn="l"/>
                      <a:r>
                        <a:rPr sz="1575" b="1">
                          <a:solidFill>
                            <a:srgbClr val="FFFFFF"/>
                          </a:solidFill>
                          <a:latin typeface="Arial"/>
                          <a:ea typeface="Arial"/>
                          <a:cs typeface="Arial"/>
                        </a:rPr>
                        <a:t>Schedule</a:t>
                      </a:r>
                    </a:p>
                  </a:txBody>
                  <a:tcPr marL="91440" marR="91440" marT="45720" marB="45720">
                    <a:solidFill>
                      <a:srgbClr val="0B1F33"/>
                    </a:solidFill>
                  </a:tcPr>
                </a:tc>
                <a:tc>
                  <a:txBody>
                    <a:bodyPr/>
                    <a:lstStyle/>
                    <a:p>
                      <a:pPr algn="ctr"/>
                      <a:r>
                        <a:rPr sz="1575" b="1">
                          <a:solidFill>
                            <a:srgbClr val="FFFFFF"/>
                          </a:solidFill>
                          <a:latin typeface="Arial"/>
                          <a:ea typeface="Arial"/>
                          <a:cs typeface="Arial"/>
                        </a:rPr>
                        <a:t>Examples / update</a:t>
                      </a:r>
                    </a:p>
                  </a:txBody>
                  <a:tcPr marL="91440" marR="91440" marT="45720" marB="45720">
                    <a:solidFill>
                      <a:srgbClr val="0B1F33"/>
                    </a:solidFill>
                  </a:tcPr>
                </a:tc>
                <a:tc>
                  <a:txBody>
                    <a:bodyPr/>
                    <a:lstStyle/>
                    <a:p>
                      <a:pPr algn="ctr"/>
                      <a:r>
                        <a:rPr sz="1575" b="1">
                          <a:solidFill>
                            <a:srgbClr val="FFFFFF"/>
                          </a:solidFill>
                          <a:latin typeface="Arial"/>
                          <a:ea typeface="Arial"/>
                          <a:cs typeface="Arial"/>
                        </a:rPr>
                        <a:t>Updates / epoch</a:t>
                      </a:r>
                    </a:p>
                  </a:txBody>
                  <a:tcPr marL="91440" marR="91440" marT="45720" marB="45720">
                    <a:solidFill>
                      <a:srgbClr val="0B1F33"/>
                    </a:solidFill>
                  </a:tcPr>
                </a:tc>
                <a:tc>
                  <a:txBody>
                    <a:bodyPr/>
                    <a:lstStyle/>
                    <a:p>
                      <a:pPr algn="ctr"/>
                      <a:r>
                        <a:rPr sz="1575" b="1">
                          <a:solidFill>
                            <a:srgbClr val="FFFFFF"/>
                          </a:solidFill>
                          <a:latin typeface="Arial"/>
                          <a:ea typeface="Arial"/>
                          <a:cs typeface="Arial"/>
                        </a:rPr>
                        <a:t>Typical behavior</a:t>
                      </a:r>
                    </a:p>
                  </a:txBody>
                  <a:tcPr marL="91440" marR="91440" marT="45720" marB="45720">
                    <a:solidFill>
                      <a:srgbClr val="0B1F33"/>
                    </a:solidFill>
                  </a:tcPr>
                </a:tc>
              </a:tr>
              <a:tr h="881063">
                <a:tc>
                  <a:txBody>
                    <a:bodyPr/>
                    <a:lstStyle/>
                    <a:p>
                      <a:pPr algn="l"/>
                      <a:r>
                        <a:rPr sz="1575" b="1">
                          <a:solidFill>
                            <a:srgbClr val="0B1F33"/>
                          </a:solidFill>
                          <a:latin typeface="Arial"/>
                          <a:ea typeface="Arial"/>
                          <a:cs typeface="Arial"/>
                        </a:rPr>
                        <a:t>Full batch</a:t>
                      </a:r>
                    </a:p>
                  </a:txBody>
                  <a:tcPr marL="91440" marR="91440" marT="45720" marB="45720">
                    <a:solidFill>
                      <a:srgbClr val="FFFFFF"/>
                    </a:solidFill>
                  </a:tcPr>
                </a:tc>
                <a:tc>
                  <a:txBody>
                    <a:bodyPr/>
                    <a:lstStyle/>
                    <a:p>
                      <a:pPr algn="ctr"/>
                      <a:r>
                        <a:rPr sz="1575" b="0">
                          <a:solidFill>
                            <a:srgbClr val="172B3A"/>
                          </a:solidFill>
                          <a:latin typeface="Arial"/>
                          <a:ea typeface="Arial"/>
                          <a:cs typeface="Arial"/>
                        </a:rPr>
                        <a:t>n</a:t>
                      </a:r>
                    </a:p>
                  </a:txBody>
                  <a:tcPr marL="91440" marR="91440" marT="45720" marB="45720">
                    <a:solidFill>
                      <a:srgbClr val="FFFFFF"/>
                    </a:solidFill>
                  </a:tcPr>
                </a:tc>
                <a:tc>
                  <a:txBody>
                    <a:bodyPr/>
                    <a:lstStyle/>
                    <a:p>
                      <a:pPr algn="ctr"/>
                      <a:r>
                        <a:rPr sz="1575" b="0">
                          <a:solidFill>
                            <a:srgbClr val="172B3A"/>
                          </a:solidFill>
                          <a:latin typeface="Arial"/>
                          <a:ea typeface="Arial"/>
                          <a:cs typeface="Arial"/>
                        </a:rPr>
                        <a:t>1</a:t>
                      </a:r>
                    </a:p>
                  </a:txBody>
                  <a:tcPr marL="91440" marR="91440" marT="45720" marB="45720">
                    <a:solidFill>
                      <a:srgbClr val="FFFFFF"/>
                    </a:solidFill>
                  </a:tcPr>
                </a:tc>
                <a:tc>
                  <a:txBody>
                    <a:bodyPr/>
                    <a:lstStyle/>
                    <a:p>
                      <a:pPr algn="ctr"/>
                      <a:r>
                        <a:rPr sz="1575" b="0">
                          <a:solidFill>
                            <a:srgbClr val="172B3A"/>
                          </a:solidFill>
                          <a:latin typeface="Arial"/>
                          <a:ea typeface="Arial"/>
                          <a:cs typeface="Arial"/>
                        </a:rPr>
                        <a:t>stable direction; costly update</a:t>
                      </a:r>
                    </a:p>
                  </a:txBody>
                  <a:tcPr marL="91440" marR="91440" marT="45720" marB="45720">
                    <a:solidFill>
                      <a:srgbClr val="FFFFFF"/>
                    </a:solidFill>
                  </a:tcPr>
                </a:tc>
              </a:tr>
              <a:tr h="881063">
                <a:tc>
                  <a:txBody>
                    <a:bodyPr/>
                    <a:lstStyle/>
                    <a:p>
                      <a:pPr algn="l"/>
                      <a:r>
                        <a:rPr sz="1575" b="1">
                          <a:solidFill>
                            <a:srgbClr val="0B1F33"/>
                          </a:solidFill>
                          <a:latin typeface="Arial"/>
                          <a:ea typeface="Arial"/>
                          <a:cs typeface="Arial"/>
                        </a:rPr>
                        <a:t>Stochastic</a:t>
                      </a:r>
                    </a:p>
                  </a:txBody>
                  <a:tcPr marL="91440" marR="91440" marT="45720" marB="45720">
                    <a:solidFill>
                      <a:srgbClr val="E9F2F1"/>
                    </a:solidFill>
                  </a:tcPr>
                </a:tc>
                <a:tc>
                  <a:txBody>
                    <a:bodyPr/>
                    <a:lstStyle/>
                    <a:p>
                      <a:pPr algn="ctr"/>
                      <a:r>
                        <a:rPr sz="1575" b="0">
                          <a:solidFill>
                            <a:srgbClr val="172B3A"/>
                          </a:solidFill>
                          <a:latin typeface="Arial"/>
                          <a:ea typeface="Arial"/>
                          <a:cs typeface="Arial"/>
                        </a:rPr>
                        <a:t>1</a:t>
                      </a:r>
                    </a:p>
                  </a:txBody>
                  <a:tcPr marL="91440" marR="91440" marT="45720" marB="45720">
                    <a:solidFill>
                      <a:srgbClr val="E9F2F1"/>
                    </a:solidFill>
                  </a:tcPr>
                </a:tc>
                <a:tc>
                  <a:txBody>
                    <a:bodyPr/>
                    <a:lstStyle/>
                    <a:p>
                      <a:pPr algn="ctr"/>
                      <a:r>
                        <a:rPr sz="1575" b="0">
                          <a:solidFill>
                            <a:srgbClr val="172B3A"/>
                          </a:solidFill>
                          <a:latin typeface="Arial"/>
                          <a:ea typeface="Arial"/>
                          <a:cs typeface="Arial"/>
                        </a:rPr>
                        <a:t>n</a:t>
                      </a:r>
                    </a:p>
                  </a:txBody>
                  <a:tcPr marL="91440" marR="91440" marT="45720" marB="45720">
                    <a:solidFill>
                      <a:srgbClr val="E9F2F1"/>
                    </a:solidFill>
                  </a:tcPr>
                </a:tc>
                <a:tc>
                  <a:txBody>
                    <a:bodyPr/>
                    <a:lstStyle/>
                    <a:p>
                      <a:pPr algn="ctr"/>
                      <a:r>
                        <a:rPr sz="1575" b="0">
                          <a:solidFill>
                            <a:srgbClr val="172B3A"/>
                          </a:solidFill>
                          <a:latin typeface="Arial"/>
                          <a:ea typeface="Arial"/>
                          <a:cs typeface="Arial"/>
                        </a:rPr>
                        <a:t>noisy direction; many updates</a:t>
                      </a:r>
                    </a:p>
                  </a:txBody>
                  <a:tcPr marL="91440" marR="91440" marT="45720" marB="45720">
                    <a:solidFill>
                      <a:srgbClr val="E9F2F1"/>
                    </a:solidFill>
                  </a:tcPr>
                </a:tc>
              </a:tr>
              <a:tr h="881063">
                <a:tc>
                  <a:txBody>
                    <a:bodyPr/>
                    <a:lstStyle/>
                    <a:p>
                      <a:pPr algn="l"/>
                      <a:r>
                        <a:rPr sz="1575" b="1">
                          <a:solidFill>
                            <a:srgbClr val="0B1F33"/>
                          </a:solidFill>
                          <a:latin typeface="Arial"/>
                          <a:ea typeface="Arial"/>
                          <a:cs typeface="Arial"/>
                        </a:rPr>
                        <a:t>Mini-batch</a:t>
                      </a:r>
                    </a:p>
                  </a:txBody>
                  <a:tcPr marL="91440" marR="91440" marT="45720" marB="45720">
                    <a:solidFill>
                      <a:srgbClr val="FFFFFF"/>
                    </a:solidFill>
                  </a:tcPr>
                </a:tc>
                <a:tc>
                  <a:txBody>
                    <a:bodyPr/>
                    <a:lstStyle/>
                    <a:p>
                      <a:pPr algn="ctr"/>
                      <a:r>
                        <a:rPr sz="1575" b="0">
                          <a:solidFill>
                            <a:srgbClr val="172B3A"/>
                          </a:solidFill>
                          <a:latin typeface="Arial"/>
                          <a:ea typeface="Arial"/>
                          <a:cs typeface="Arial"/>
                        </a:rPr>
                        <a:t>B</a:t>
                      </a:r>
                    </a:p>
                  </a:txBody>
                  <a:tcPr marL="91440" marR="91440" marT="45720" marB="45720">
                    <a:solidFill>
                      <a:srgbClr val="FFFFFF"/>
                    </a:solidFill>
                  </a:tcPr>
                </a:tc>
                <a:tc>
                  <a:txBody>
                    <a:bodyPr/>
                    <a:lstStyle/>
                    <a:p>
                      <a:pPr algn="ctr"/>
                      <a:r>
                        <a:rPr sz="1575" b="0">
                          <a:solidFill>
                            <a:srgbClr val="172B3A"/>
                          </a:solidFill>
                          <a:latin typeface="Arial"/>
                          <a:ea typeface="Arial"/>
                          <a:cs typeface="Arial"/>
                        </a:rPr>
                        <a:t>ceil(n/B)</a:t>
                      </a:r>
                    </a:p>
                  </a:txBody>
                  <a:tcPr marL="91440" marR="91440" marT="45720" marB="45720">
                    <a:solidFill>
                      <a:srgbClr val="FFFFFF"/>
                    </a:solidFill>
                  </a:tcPr>
                </a:tc>
                <a:tc>
                  <a:txBody>
                    <a:bodyPr/>
                    <a:lstStyle/>
                    <a:p>
                      <a:pPr algn="ctr"/>
                      <a:r>
                        <a:rPr sz="1575" b="0">
                          <a:solidFill>
                            <a:srgbClr val="172B3A"/>
                          </a:solidFill>
                          <a:latin typeface="Arial"/>
                          <a:ea typeface="Arial"/>
                          <a:cs typeface="Arial"/>
                        </a:rPr>
                        <a:t>vectorized compromise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208B27D-BA81-4B92-95D0-BF15C7B8B6BE}"/>
              </a:ext>
            </a:extLst>
          </p:cNvPr>
          <p:cNvSpPr>
            <a:spLocks xmlns:a="http://schemas.openxmlformats.org/drawingml/2006/main" noGrp="1"/>
          </p:cNvSpPr>
          <p:nvPr/>
        </p:nvSpPr>
        <p:spPr>
          <a:xfrm xmlns:a="http://schemas.openxmlformats.org/drawingml/2006/main">
            <a:off x="3143250" y="547687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0B1F33"/>
                </a:solidFill>
                <a:latin typeface="Arial"/>
                <a:ea typeface="Arial"/>
                <a:cs typeface="Arial"/>
              </a:defRPr>
            </a:pPr>
            <a:r>
              <a:rPr sz="2175" b="1" i="0">
                <a:solidFill>
                  <a:srgbClr val="0B1F33"/>
                </a:solidFill>
                <a:latin typeface="Arial"/>
                <a:ea typeface="Arial"/>
                <a:cs typeface="Arial"/>
              </a:rPr>
              <a:t>The objective and update rule stay fixed.</a:t>
            </a:r>
          </a:p>
        </p:txBody>
      </p:sp>
      <p:sp>
        <p:nvSpPr>
          <p:cNvPr id="7" name="">
            <a:extLst xmlns:a="http://schemas.openxmlformats.org/drawingml/2006/main">
              <a:ext uri="{FF2B5EF4-FFF2-40B4-BE49-F238E27FC236}">
                <a16:creationId xmlns:a16="http://schemas.microsoft.com/office/drawing/2014/main" id="{591BC8BC-C5A8-4E56-A7AC-A5F11421F2E2}"/>
              </a:ext>
            </a:extLst>
          </p:cNvPr>
          <p:cNvSpPr>
            <a:spLocks xmlns:a="http://schemas.openxmlformats.org/drawingml/2006/main" noGrp="1"/>
          </p:cNvSpPr>
          <p:nvPr/>
        </p:nvSpPr>
        <p:spPr>
          <a:xfrm xmlns:a="http://schemas.openxmlformats.org/drawingml/2006/main">
            <a:off x="3000375" y="590550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536878"/>
                </a:solidFill>
                <a:latin typeface="Arial"/>
                <a:ea typeface="Arial"/>
                <a:cs typeface="Arial"/>
              </a:defRPr>
            </a:pPr>
            <a:r>
              <a:rPr sz="1800" b="0" i="0">
                <a:solidFill>
                  <a:srgbClr val="536878"/>
                </a:solidFill>
                <a:latin typeface="Arial"/>
                <a:ea typeface="Arial"/>
                <a:cs typeface="Arial"/>
              </a:rPr>
              <a:t>The data used for each gradient estimate change.</a:t>
            </a:r>
          </a:p>
        </p:txBody>
      </p:sp>
    </p:spTree>
    <p:extLst>
      <p:ext uri="{BB962C8B-B14F-4D97-AF65-F5344CB8AC3E}">
        <p14:creationId xmlns:p14="http://schemas.microsoft.com/office/powerpoint/2010/main" val="1704072901"/>
      </p:ext>
    </p:extLst>
  </p:cSld>
</p:sld>
</file>

<file path=ppt/slides/slide12.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C8897A5-F97F-43EB-9E78-10D68A314D94}"/>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Epoch, batch, and update</a:t>
            </a:r>
          </a:p>
        </p:txBody>
      </p:sp>
      <p:sp>
        <p:nvSpPr>
          <p:cNvPr id="2" name="">
            <a:extLst xmlns:a="http://schemas.openxmlformats.org/drawingml/2006/main">
              <a:ext uri="{FF2B5EF4-FFF2-40B4-BE49-F238E27FC236}">
                <a16:creationId xmlns:a16="http://schemas.microsoft.com/office/drawing/2014/main" id="{B45AB6C1-1B3E-4815-A5DF-712D713BC67F}"/>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F2B84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51D734-6520-4A4D-A127-AF6CB0BD469E}"/>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76D7D1"/>
                </a:solidFill>
                <a:latin typeface="Arial"/>
                <a:ea typeface="Arial"/>
                <a:cs typeface="Arial"/>
              </a:defRPr>
            </a:pPr>
            <a:r>
              <a:rPr sz="1200" b="1" i="0">
                <a:solidFill>
                  <a:srgbClr val="76D7D1"/>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6E95F9DA-15F8-4773-B86C-366EADAF2FAD}"/>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76D7D1"/>
                </a:solidFill>
                <a:latin typeface="Arial"/>
                <a:ea typeface="Arial"/>
                <a:cs typeface="Arial"/>
              </a:defRPr>
            </a:pPr>
            <a:r>
              <a:rPr sz="1200" b="1" i="0">
                <a:solidFill>
                  <a:srgbClr val="76D7D1"/>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B7DBEFEF-1E2F-46AE-876C-E9D3685AA17A}"/>
              </a:ext>
            </a:extLst>
          </p:cNvPr>
          <p:cNvSpPr>
            <a:spLocks xmlns:a="http://schemas.openxmlformats.org/drawingml/2006/main" noGrp="1"/>
          </p:cNvSpPr>
          <p:nvPr/>
        </p:nvSpPr>
        <p:spPr>
          <a:xfrm xmlns:a="http://schemas.openxmlformats.org/drawingml/2006/main">
            <a:off x="523875" y="15240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76D7D1"/>
                </a:solidFill>
                <a:latin typeface="Arial"/>
                <a:ea typeface="Arial"/>
                <a:cs typeface="Arial"/>
              </a:defRPr>
            </a:pPr>
            <a:r>
              <a:rPr sz="1350" b="1" i="0">
                <a:solidFill>
                  <a:srgbClr val="76D7D1"/>
                </a:solidFill>
                <a:latin typeface="Arial"/>
                <a:ea typeface="Arial"/>
                <a:cs typeface="Arial"/>
              </a:rPr>
              <a:t>EPOCH</a:t>
            </a:r>
          </a:p>
        </p:txBody>
      </p:sp>
      <p:sp>
        <p:nvSpPr>
          <p:cNvPr id="6" name="">
            <a:extLst xmlns:a="http://schemas.openxmlformats.org/drawingml/2006/main">
              <a:ext uri="{FF2B5EF4-FFF2-40B4-BE49-F238E27FC236}">
                <a16:creationId xmlns:a16="http://schemas.microsoft.com/office/drawing/2014/main" id="{2DF71251-EEB8-4B61-936F-CA189292DBC3}"/>
              </a:ext>
            </a:extLst>
          </p:cNvPr>
          <p:cNvSpPr>
            <a:spLocks xmlns:a="http://schemas.openxmlformats.org/drawingml/2006/main" noGrp="1"/>
          </p:cNvSpPr>
          <p:nvPr/>
        </p:nvSpPr>
        <p:spPr>
          <a:xfrm xmlns:a="http://schemas.openxmlformats.org/drawingml/2006/main">
            <a:off x="523875" y="2000250"/>
            <a:ext cx="3381375" cy="2428875"/>
          </a:xfrm>
          <a:prstGeom xmlns:a="http://schemas.openxmlformats.org/drawingml/2006/main" prst="roundRect">
            <a:avLst>
              <a:gd name="adj" fmla="val 3137"/>
            </a:avLst>
          </a:prstGeom>
          <a:solidFill xmlns:a="http://schemas.openxmlformats.org/drawingml/2006/main">
            <a:srgbClr val="163149"/>
          </a:solidFill>
          <a:ln xmlns:a="http://schemas.openxmlformats.org/drawingml/2006/main" w="19050">
            <a:solidFill>
              <a:srgbClr val="10A7A5"/>
            </a:solidFill>
            <a:prstDash val="solid"/>
          </a:ln>
        </p:spPr>
      </p:sp>
      <p:sp>
        <p:nvSpPr>
          <p:cNvPr id="7" name="">
            <a:extLst xmlns:a="http://schemas.openxmlformats.org/drawingml/2006/main">
              <a:ext uri="{FF2B5EF4-FFF2-40B4-BE49-F238E27FC236}">
                <a16:creationId xmlns:a16="http://schemas.microsoft.com/office/drawing/2014/main" id="{37316E94-9BF0-476F-9B25-FDD4B01426A6}"/>
              </a:ext>
            </a:extLst>
          </p:cNvPr>
          <p:cNvSpPr>
            <a:spLocks xmlns:a="http://schemas.openxmlformats.org/drawingml/2006/main" noGrp="1"/>
          </p:cNvSpPr>
          <p:nvPr/>
        </p:nvSpPr>
        <p:spPr>
          <a:xfrm xmlns:a="http://schemas.openxmlformats.org/drawingml/2006/main">
            <a:off x="857250" y="233362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one pass over all 220 examples</a:t>
            </a:r>
          </a:p>
        </p:txBody>
      </p:sp>
      <p:sp>
        <p:nvSpPr>
          <p:cNvPr id="8" name="">
            <a:extLst xmlns:a="http://schemas.openxmlformats.org/drawingml/2006/main">
              <a:ext uri="{FF2B5EF4-FFF2-40B4-BE49-F238E27FC236}">
                <a16:creationId xmlns:a16="http://schemas.microsoft.com/office/drawing/2014/main" id="{ABCFCDDB-EB1C-4B1B-8DCF-2DBD25272AAC}"/>
              </a:ext>
            </a:extLst>
          </p:cNvPr>
          <p:cNvSpPr>
            <a:spLocks xmlns:a="http://schemas.openxmlformats.org/drawingml/2006/main" noGrp="1"/>
          </p:cNvSpPr>
          <p:nvPr/>
        </p:nvSpPr>
        <p:spPr>
          <a:xfrm xmlns:a="http://schemas.openxmlformats.org/drawingml/2006/main">
            <a:off x="857250" y="342900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i="0">
                <a:solidFill>
                  <a:srgbClr val="76D7D1"/>
                </a:solidFill>
                <a:latin typeface="Arial"/>
                <a:ea typeface="Arial"/>
                <a:cs typeface="Arial"/>
              </a:defRPr>
            </a:pPr>
            <a:r>
              <a:rPr sz="2625" b="1" i="0">
                <a:solidFill>
                  <a:srgbClr val="76D7D1"/>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CE65A20F-9C5B-413C-B4FA-5D710236CD15}"/>
              </a:ext>
            </a:extLst>
          </p:cNvPr>
          <p:cNvSpPr>
            <a:spLocks xmlns:a="http://schemas.openxmlformats.org/drawingml/2006/main" noGrp="1"/>
          </p:cNvSpPr>
          <p:nvPr/>
        </p:nvSpPr>
        <p:spPr>
          <a:xfrm xmlns:a="http://schemas.openxmlformats.org/drawingml/2006/main">
            <a:off x="4429125" y="15240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BATCH</a:t>
            </a:r>
          </a:p>
        </p:txBody>
      </p:sp>
      <p:sp>
        <p:nvSpPr>
          <p:cNvPr id="10" name="">
            <a:extLst xmlns:a="http://schemas.openxmlformats.org/drawingml/2006/main">
              <a:ext uri="{FF2B5EF4-FFF2-40B4-BE49-F238E27FC236}">
                <a16:creationId xmlns:a16="http://schemas.microsoft.com/office/drawing/2014/main" id="{A281D2E9-7522-4754-B951-6B3AC5961A46}"/>
              </a:ext>
            </a:extLst>
          </p:cNvPr>
          <p:cNvSpPr>
            <a:spLocks xmlns:a="http://schemas.openxmlformats.org/drawingml/2006/main" noGrp="1"/>
          </p:cNvSpPr>
          <p:nvPr/>
        </p:nvSpPr>
        <p:spPr>
          <a:xfrm xmlns:a="http://schemas.openxmlformats.org/drawingml/2006/main">
            <a:off x="4429125" y="2000250"/>
            <a:ext cx="3381375" cy="2428875"/>
          </a:xfrm>
          <a:prstGeom xmlns:a="http://schemas.openxmlformats.org/drawingml/2006/main" prst="roundRect">
            <a:avLst>
              <a:gd name="adj" fmla="val 3137"/>
            </a:avLst>
          </a:prstGeom>
          <a:solidFill xmlns:a="http://schemas.openxmlformats.org/drawingml/2006/main">
            <a:srgbClr val="163149"/>
          </a:solidFill>
          <a:ln xmlns:a="http://schemas.openxmlformats.org/drawingml/2006/main" w="19050">
            <a:solidFill>
              <a:srgbClr val="F2B84B"/>
            </a:solidFill>
            <a:prstDash val="solid"/>
          </a:ln>
        </p:spPr>
      </p:sp>
      <p:sp>
        <p:nvSpPr>
          <p:cNvPr id="11" name="">
            <a:extLst xmlns:a="http://schemas.openxmlformats.org/drawingml/2006/main">
              <a:ext uri="{FF2B5EF4-FFF2-40B4-BE49-F238E27FC236}">
                <a16:creationId xmlns:a16="http://schemas.microsoft.com/office/drawing/2014/main" id="{50792CB1-2200-477D-87A0-ECF4E48F21B4}"/>
              </a:ext>
            </a:extLst>
          </p:cNvPr>
          <p:cNvSpPr>
            <a:spLocks xmlns:a="http://schemas.openxmlformats.org/drawingml/2006/main" noGrp="1"/>
          </p:cNvSpPr>
          <p:nvPr/>
        </p:nvSpPr>
        <p:spPr>
          <a:xfrm xmlns:a="http://schemas.openxmlformats.org/drawingml/2006/main">
            <a:off x="4762500" y="233362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subset used for one gradient</a:t>
            </a:r>
          </a:p>
        </p:txBody>
      </p:sp>
      <p:sp>
        <p:nvSpPr>
          <p:cNvPr id="12" name="">
            <a:extLst xmlns:a="http://schemas.openxmlformats.org/drawingml/2006/main">
              <a:ext uri="{FF2B5EF4-FFF2-40B4-BE49-F238E27FC236}">
                <a16:creationId xmlns:a16="http://schemas.microsoft.com/office/drawing/2014/main" id="{F876887A-B378-4C92-A146-522AB443409A}"/>
              </a:ext>
            </a:extLst>
          </p:cNvPr>
          <p:cNvSpPr>
            <a:spLocks xmlns:a="http://schemas.openxmlformats.org/drawingml/2006/main" noGrp="1"/>
          </p:cNvSpPr>
          <p:nvPr/>
        </p:nvSpPr>
        <p:spPr>
          <a:xfrm xmlns:a="http://schemas.openxmlformats.org/drawingml/2006/main">
            <a:off x="4762500" y="342900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i="0">
                <a:solidFill>
                  <a:srgbClr val="F2B84B"/>
                </a:solidFill>
                <a:latin typeface="Arial"/>
                <a:ea typeface="Arial"/>
                <a:cs typeface="Arial"/>
              </a:defRPr>
            </a:pPr>
            <a:r>
              <a:rPr sz="2625" b="1" i="0">
                <a:solidFill>
                  <a:srgbClr val="F2B84B"/>
                </a:solidFill>
                <a:latin typeface="Arial"/>
                <a:ea typeface="Arial"/>
                <a:cs typeface="Arial"/>
              </a:rPr>
              <a:t>32, …, 32, 28</a:t>
            </a:r>
          </a:p>
        </p:txBody>
      </p:sp>
      <p:sp>
        <p:nvSpPr>
          <p:cNvPr id="13" name="">
            <a:extLst xmlns:a="http://schemas.openxmlformats.org/drawingml/2006/main">
              <a:ext uri="{FF2B5EF4-FFF2-40B4-BE49-F238E27FC236}">
                <a16:creationId xmlns:a16="http://schemas.microsoft.com/office/drawing/2014/main" id="{258CDDAB-2A79-49EB-9E0C-0939CE13941C}"/>
              </a:ext>
            </a:extLst>
          </p:cNvPr>
          <p:cNvSpPr>
            <a:spLocks xmlns:a="http://schemas.openxmlformats.org/drawingml/2006/main" noGrp="1"/>
          </p:cNvSpPr>
          <p:nvPr/>
        </p:nvSpPr>
        <p:spPr>
          <a:xfrm xmlns:a="http://schemas.openxmlformats.org/drawingml/2006/main">
            <a:off x="8334375" y="15240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76D7D1"/>
                </a:solidFill>
                <a:latin typeface="Arial"/>
                <a:ea typeface="Arial"/>
                <a:cs typeface="Arial"/>
              </a:defRPr>
            </a:pPr>
            <a:r>
              <a:rPr sz="1350" b="1" i="0">
                <a:solidFill>
                  <a:srgbClr val="76D7D1"/>
                </a:solidFill>
                <a:latin typeface="Arial"/>
                <a:ea typeface="Arial"/>
                <a:cs typeface="Arial"/>
              </a:rPr>
              <a:t>UPDATE</a:t>
            </a:r>
          </a:p>
        </p:txBody>
      </p:sp>
      <p:sp>
        <p:nvSpPr>
          <p:cNvPr id="14" name="">
            <a:extLst xmlns:a="http://schemas.openxmlformats.org/drawingml/2006/main">
              <a:ext uri="{FF2B5EF4-FFF2-40B4-BE49-F238E27FC236}">
                <a16:creationId xmlns:a16="http://schemas.microsoft.com/office/drawing/2014/main" id="{EDC11FDC-EDC9-4B38-AFC3-E097DBC3CA8A}"/>
              </a:ext>
            </a:extLst>
          </p:cNvPr>
          <p:cNvSpPr>
            <a:spLocks xmlns:a="http://schemas.openxmlformats.org/drawingml/2006/main" noGrp="1"/>
          </p:cNvSpPr>
          <p:nvPr/>
        </p:nvSpPr>
        <p:spPr>
          <a:xfrm xmlns:a="http://schemas.openxmlformats.org/drawingml/2006/main">
            <a:off x="8334375" y="2000250"/>
            <a:ext cx="3381375" cy="2428875"/>
          </a:xfrm>
          <a:prstGeom xmlns:a="http://schemas.openxmlformats.org/drawingml/2006/main" prst="roundRect">
            <a:avLst>
              <a:gd name="adj" fmla="val 3137"/>
            </a:avLst>
          </a:prstGeom>
          <a:solidFill xmlns:a="http://schemas.openxmlformats.org/drawingml/2006/main">
            <a:srgbClr val="163149"/>
          </a:solidFill>
          <a:ln xmlns:a="http://schemas.openxmlformats.org/drawingml/2006/main" w="19050">
            <a:solidFill>
              <a:srgbClr val="10A7A5"/>
            </a:solidFill>
            <a:prstDash val="solid"/>
          </a:ln>
        </p:spPr>
      </p:sp>
      <p:sp>
        <p:nvSpPr>
          <p:cNvPr id="15" name="">
            <a:extLst xmlns:a="http://schemas.openxmlformats.org/drawingml/2006/main">
              <a:ext uri="{FF2B5EF4-FFF2-40B4-BE49-F238E27FC236}">
                <a16:creationId xmlns:a16="http://schemas.microsoft.com/office/drawing/2014/main" id="{39D95082-DF20-4981-BB87-C2890487E5B1}"/>
              </a:ext>
            </a:extLst>
          </p:cNvPr>
          <p:cNvSpPr>
            <a:spLocks xmlns:a="http://schemas.openxmlformats.org/drawingml/2006/main" noGrp="1"/>
          </p:cNvSpPr>
          <p:nvPr/>
        </p:nvSpPr>
        <p:spPr>
          <a:xfrm xmlns:a="http://schemas.openxmlformats.org/drawingml/2006/main">
            <a:off x="8667750" y="233362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one parameter change</a:t>
            </a:r>
          </a:p>
        </p:txBody>
      </p:sp>
      <p:sp>
        <p:nvSpPr>
          <p:cNvPr id="16" name="">
            <a:extLst xmlns:a="http://schemas.openxmlformats.org/drawingml/2006/main">
              <a:ext uri="{FF2B5EF4-FFF2-40B4-BE49-F238E27FC236}">
                <a16:creationId xmlns:a16="http://schemas.microsoft.com/office/drawing/2014/main" id="{281975C2-8992-4AED-A65C-8CC8A98541E2}"/>
              </a:ext>
            </a:extLst>
          </p:cNvPr>
          <p:cNvSpPr>
            <a:spLocks xmlns:a="http://schemas.openxmlformats.org/drawingml/2006/main" noGrp="1"/>
          </p:cNvSpPr>
          <p:nvPr/>
        </p:nvSpPr>
        <p:spPr>
          <a:xfrm xmlns:a="http://schemas.openxmlformats.org/drawingml/2006/main">
            <a:off x="8667750" y="342900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i="0">
                <a:solidFill>
                  <a:srgbClr val="76D7D1"/>
                </a:solidFill>
                <a:latin typeface="Arial"/>
                <a:ea typeface="Arial"/>
                <a:cs typeface="Arial"/>
              </a:defRPr>
            </a:pPr>
            <a:r>
              <a:rPr sz="2625" b="1" i="0">
                <a:solidFill>
                  <a:srgbClr val="76D7D1"/>
                </a:solidFill>
                <a:latin typeface="Arial"/>
                <a:ea typeface="Arial"/>
                <a:cs typeface="Arial"/>
              </a:rPr>
              <a:t>7 per epoch</a:t>
            </a:r>
          </a:p>
        </p:txBody>
      </p:sp>
      <p:sp>
        <p:nvSpPr>
          <p:cNvPr id="17" name="">
            <a:extLst xmlns:a="http://schemas.openxmlformats.org/drawingml/2006/main">
              <a:ext uri="{FF2B5EF4-FFF2-40B4-BE49-F238E27FC236}">
                <a16:creationId xmlns:a16="http://schemas.microsoft.com/office/drawing/2014/main" id="{9354761E-E913-4DE7-84ED-9EA341F744CC}"/>
              </a:ext>
            </a:extLst>
          </p:cNvPr>
          <p:cNvSpPr>
            <a:spLocks xmlns:a="http://schemas.openxmlformats.org/drawingml/2006/main" noGrp="1"/>
          </p:cNvSpPr>
          <p:nvPr/>
        </p:nvSpPr>
        <p:spPr>
          <a:xfrm xmlns:a="http://schemas.openxmlformats.org/drawingml/2006/main">
            <a:off x="2476500" y="49530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700" b="1" i="0">
                <a:solidFill>
                  <a:srgbClr val="FFFFFF"/>
                </a:solidFill>
                <a:latin typeface="Arial"/>
                <a:ea typeface="Arial"/>
                <a:cs typeface="Arial"/>
              </a:defRPr>
            </a:pPr>
            <a:r>
              <a:rPr sz="2700" b="1" i="0">
                <a:solidFill>
                  <a:srgbClr val="FFFFFF"/>
                </a:solidFill>
                <a:latin typeface="Arial"/>
                <a:ea typeface="Arial"/>
                <a:cs typeface="Arial"/>
              </a:rPr>
              <a:t>ceil(220 / 32) = 7 updates per epoch</a:t>
            </a:r>
          </a:p>
        </p:txBody>
      </p:sp>
      <p:sp>
        <p:nvSpPr>
          <p:cNvPr id="18" name="">
            <a:extLst xmlns:a="http://schemas.openxmlformats.org/drawingml/2006/main">
              <a:ext uri="{FF2B5EF4-FFF2-40B4-BE49-F238E27FC236}">
                <a16:creationId xmlns:a16="http://schemas.microsoft.com/office/drawing/2014/main" id="{4446D463-814E-401F-9739-4BB9368C45A2}"/>
              </a:ext>
            </a:extLst>
          </p:cNvPr>
          <p:cNvSpPr>
            <a:spLocks xmlns:a="http://schemas.openxmlformats.org/drawingml/2006/main" noGrp="1"/>
          </p:cNvSpPr>
          <p:nvPr/>
        </p:nvSpPr>
        <p:spPr>
          <a:xfrm xmlns:a="http://schemas.openxmlformats.org/drawingml/2006/main">
            <a:off x="1762125" y="5667375"/>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F2B84B"/>
                </a:solidFill>
                <a:latin typeface="Arial"/>
                <a:ea typeface="Arial"/>
                <a:cs typeface="Arial"/>
              </a:defRPr>
            </a:pPr>
            <a:r>
              <a:rPr sz="2025" b="1" i="0">
                <a:solidFill>
                  <a:srgbClr val="F2B84B"/>
                </a:solidFill>
                <a:latin typeface="Arial"/>
                <a:ea typeface="Arial"/>
                <a:cs typeface="Arial"/>
              </a:rPr>
              <a:t>Forty epochs: 40, 8,800, or 280 updates across the three schedules.</a:t>
            </a:r>
          </a:p>
        </p:txBody>
      </p:sp>
    </p:spTree>
    <p:extLst>
      <p:ext uri="{BB962C8B-B14F-4D97-AF65-F5344CB8AC3E}">
        <p14:creationId xmlns:p14="http://schemas.microsoft.com/office/powerpoint/2010/main" val="1165714612"/>
      </p:ext>
    </p:extLst>
  </p:cSld>
</p:sld>
</file>

<file path=ppt/slides/slide1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70A4F43-C14F-4D77-A9B2-412AC88DE684}"/>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Shuffle once and preserve coverage</a:t>
            </a:r>
          </a:p>
        </p:txBody>
      </p:sp>
      <p:sp>
        <p:nvSpPr>
          <p:cNvPr id="2" name="">
            <a:extLst xmlns:a="http://schemas.openxmlformats.org/drawingml/2006/main">
              <a:ext uri="{FF2B5EF4-FFF2-40B4-BE49-F238E27FC236}">
                <a16:creationId xmlns:a16="http://schemas.microsoft.com/office/drawing/2014/main" id="{EA1976FC-6770-44C1-BB97-BBCB6354C960}"/>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EA5A676-EDFF-4A34-AB89-BEEEFC56E250}"/>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1B188322-1438-48BC-9F41-6CB24B10D1EE}"/>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1AD287DB-340E-4185-93A9-89FACC5150AD}"/>
              </a:ext>
            </a:extLst>
          </p:cNvPr>
          <p:cNvSpPr>
            <a:spLocks xmlns:a="http://schemas.openxmlformats.org/drawingml/2006/main" noGrp="1"/>
          </p:cNvSpPr>
          <p:nvPr/>
        </p:nvSpPr>
        <p:spPr>
          <a:xfrm xmlns:a="http://schemas.openxmlformats.org/drawingml/2006/main">
            <a:off x="714375" y="14287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0A7A5"/>
                </a:solidFill>
                <a:latin typeface="Arial"/>
                <a:ea typeface="Arial"/>
                <a:cs typeface="Arial"/>
              </a:defRPr>
            </a:pPr>
            <a:r>
              <a:rPr sz="1725" b="1" i="0">
                <a:solidFill>
                  <a:srgbClr val="10A7A5"/>
                </a:solidFill>
                <a:latin typeface="Arial"/>
                <a:ea typeface="Arial"/>
                <a:cs typeface="Arial"/>
              </a:rPr>
              <a:t>Permutation</a:t>
            </a:r>
          </a:p>
        </p:txBody>
      </p:sp>
      <p:sp>
        <p:nvSpPr>
          <p:cNvPr id="6" name="">
            <a:extLst xmlns:a="http://schemas.openxmlformats.org/drawingml/2006/main">
              <a:ext uri="{FF2B5EF4-FFF2-40B4-BE49-F238E27FC236}">
                <a16:creationId xmlns:a16="http://schemas.microsoft.com/office/drawing/2014/main" id="{BFC62AFB-AB96-4D6A-934F-FE324D3FD823}"/>
              </a:ext>
            </a:extLst>
          </p:cNvPr>
          <p:cNvSpPr>
            <a:spLocks xmlns:a="http://schemas.openxmlformats.org/drawingml/2006/main" noGrp="1"/>
          </p:cNvSpPr>
          <p:nvPr/>
        </p:nvSpPr>
        <p:spPr>
          <a:xfrm xmlns:a="http://schemas.openxmlformats.org/drawingml/2006/main">
            <a:off x="714375" y="18573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0B1F33"/>
                </a:solidFill>
                <a:latin typeface="Arial"/>
                <a:ea typeface="Arial"/>
                <a:cs typeface="Arial"/>
              </a:defRPr>
            </a:pPr>
            <a:r>
              <a:rPr sz="2550" b="1" i="0">
                <a:solidFill>
                  <a:srgbClr val="0B1F33"/>
                </a:solidFill>
                <a:latin typeface="Arial"/>
                <a:ea typeface="Arial"/>
                <a:cs typeface="Arial"/>
              </a:rPr>
              <a:t>7   2   9   0   4   1   8   5   3   6</a:t>
            </a:r>
          </a:p>
        </p:txBody>
      </p:sp>
      <p:sp>
        <p:nvSpPr>
          <p:cNvPr id="7" name="">
            <a:extLst xmlns:a="http://schemas.openxmlformats.org/drawingml/2006/main">
              <a:ext uri="{FF2B5EF4-FFF2-40B4-BE49-F238E27FC236}">
                <a16:creationId xmlns:a16="http://schemas.microsoft.com/office/drawing/2014/main" id="{770C6448-3CE9-412D-96F8-D19423CEF2B7}"/>
              </a:ext>
            </a:extLst>
          </p:cNvPr>
          <p:cNvSpPr>
            <a:spLocks xmlns:a="http://schemas.openxmlformats.org/drawingml/2006/main" noGrp="1"/>
          </p:cNvSpPr>
          <p:nvPr/>
        </p:nvSpPr>
        <p:spPr>
          <a:xfrm xmlns:a="http://schemas.openxmlformats.org/drawingml/2006/main">
            <a:off x="714375" y="29051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0A7A5"/>
                </a:solidFill>
                <a:latin typeface="Arial"/>
                <a:ea typeface="Arial"/>
                <a:cs typeface="Arial"/>
              </a:defRPr>
            </a:pPr>
            <a:r>
              <a:rPr sz="1350" b="1" i="0">
                <a:solidFill>
                  <a:srgbClr val="10A7A5"/>
                </a:solidFill>
                <a:latin typeface="Arial"/>
                <a:ea typeface="Arial"/>
                <a:cs typeface="Arial"/>
              </a:rPr>
              <a:t>BATCH 1</a:t>
            </a:r>
          </a:p>
        </p:txBody>
      </p:sp>
      <p:sp>
        <p:nvSpPr>
          <p:cNvPr id="8" name="">
            <a:extLst xmlns:a="http://schemas.openxmlformats.org/drawingml/2006/main">
              <a:ext uri="{FF2B5EF4-FFF2-40B4-BE49-F238E27FC236}">
                <a16:creationId xmlns:a16="http://schemas.microsoft.com/office/drawing/2014/main" id="{F36025E1-7923-42BE-81AA-9DDE7FE16816}"/>
              </a:ext>
            </a:extLst>
          </p:cNvPr>
          <p:cNvSpPr>
            <a:spLocks xmlns:a="http://schemas.openxmlformats.org/drawingml/2006/main" noGrp="1"/>
          </p:cNvSpPr>
          <p:nvPr/>
        </p:nvSpPr>
        <p:spPr>
          <a:xfrm xmlns:a="http://schemas.openxmlformats.org/drawingml/2006/main">
            <a:off x="714375" y="3333750"/>
            <a:ext cx="3333750" cy="1190625"/>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19050">
            <a:solidFill>
              <a:srgbClr val="10A7A5"/>
            </a:solidFill>
            <a:prstDash val="solid"/>
          </a:ln>
        </p:spPr>
      </p:sp>
      <p:sp>
        <p:nvSpPr>
          <p:cNvPr id="9" name="">
            <a:extLst xmlns:a="http://schemas.openxmlformats.org/drawingml/2006/main">
              <a:ext uri="{FF2B5EF4-FFF2-40B4-BE49-F238E27FC236}">
                <a16:creationId xmlns:a16="http://schemas.microsoft.com/office/drawing/2014/main" id="{02EE92E6-B7D7-47CE-8AC5-FD287C967014}"/>
              </a:ext>
            </a:extLst>
          </p:cNvPr>
          <p:cNvSpPr>
            <a:spLocks xmlns:a="http://schemas.openxmlformats.org/drawingml/2006/main" noGrp="1"/>
          </p:cNvSpPr>
          <p:nvPr/>
        </p:nvSpPr>
        <p:spPr>
          <a:xfrm xmlns:a="http://schemas.openxmlformats.org/drawingml/2006/main">
            <a:off x="952500" y="36957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i="0">
                <a:solidFill>
                  <a:srgbClr val="10A7A5"/>
                </a:solidFill>
                <a:latin typeface="Arial"/>
                <a:ea typeface="Arial"/>
                <a:cs typeface="Arial"/>
              </a:defRPr>
            </a:pPr>
            <a:r>
              <a:rPr sz="2625" b="1" i="0">
                <a:solidFill>
                  <a:srgbClr val="10A7A5"/>
                </a:solidFill>
                <a:latin typeface="Arial"/>
                <a:ea typeface="Arial"/>
                <a:cs typeface="Arial"/>
              </a:rPr>
              <a:t>7  2  9  0</a:t>
            </a:r>
          </a:p>
        </p:txBody>
      </p:sp>
      <p:sp>
        <p:nvSpPr>
          <p:cNvPr id="10" name="">
            <a:extLst xmlns:a="http://schemas.openxmlformats.org/drawingml/2006/main">
              <a:ext uri="{FF2B5EF4-FFF2-40B4-BE49-F238E27FC236}">
                <a16:creationId xmlns:a16="http://schemas.microsoft.com/office/drawing/2014/main" id="{2E54B97F-13C4-4EE0-91E2-FBFAEDD62086}"/>
              </a:ext>
            </a:extLst>
          </p:cNvPr>
          <p:cNvSpPr>
            <a:spLocks xmlns:a="http://schemas.openxmlformats.org/drawingml/2006/main" noGrp="1"/>
          </p:cNvSpPr>
          <p:nvPr/>
        </p:nvSpPr>
        <p:spPr>
          <a:xfrm xmlns:a="http://schemas.openxmlformats.org/drawingml/2006/main">
            <a:off x="4572000" y="29051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BATCH 2</a:t>
            </a:r>
          </a:p>
        </p:txBody>
      </p:sp>
      <p:sp>
        <p:nvSpPr>
          <p:cNvPr id="11" name="">
            <a:extLst xmlns:a="http://schemas.openxmlformats.org/drawingml/2006/main">
              <a:ext uri="{FF2B5EF4-FFF2-40B4-BE49-F238E27FC236}">
                <a16:creationId xmlns:a16="http://schemas.microsoft.com/office/drawing/2014/main" id="{A4945863-D00F-482E-A813-FA24FAA62169}"/>
              </a:ext>
            </a:extLst>
          </p:cNvPr>
          <p:cNvSpPr>
            <a:spLocks xmlns:a="http://schemas.openxmlformats.org/drawingml/2006/main" noGrp="1"/>
          </p:cNvSpPr>
          <p:nvPr/>
        </p:nvSpPr>
        <p:spPr>
          <a:xfrm xmlns:a="http://schemas.openxmlformats.org/drawingml/2006/main">
            <a:off x="4572000" y="3333750"/>
            <a:ext cx="3333750" cy="1190625"/>
          </a:xfrm>
          <a:prstGeom xmlns:a="http://schemas.openxmlformats.org/drawingml/2006/main" prst="roundRect">
            <a:avLst>
              <a:gd name="adj" fmla="val 6400"/>
            </a:avLst>
          </a:prstGeom>
          <a:solidFill xmlns:a="http://schemas.openxmlformats.org/drawingml/2006/main">
            <a:srgbClr val="F9E3AE"/>
          </a:solidFill>
          <a:ln xmlns:a="http://schemas.openxmlformats.org/drawingml/2006/main" w="19050">
            <a:solidFill>
              <a:srgbClr val="F2B84B"/>
            </a:solidFill>
            <a:prstDash val="solid"/>
          </a:ln>
        </p:spPr>
      </p:sp>
      <p:sp>
        <p:nvSpPr>
          <p:cNvPr id="12" name="">
            <a:extLst xmlns:a="http://schemas.openxmlformats.org/drawingml/2006/main">
              <a:ext uri="{FF2B5EF4-FFF2-40B4-BE49-F238E27FC236}">
                <a16:creationId xmlns:a16="http://schemas.microsoft.com/office/drawing/2014/main" id="{9562AF4B-0D05-4376-AEB8-CAE32EE39354}"/>
              </a:ext>
            </a:extLst>
          </p:cNvPr>
          <p:cNvSpPr>
            <a:spLocks xmlns:a="http://schemas.openxmlformats.org/drawingml/2006/main" noGrp="1"/>
          </p:cNvSpPr>
          <p:nvPr/>
        </p:nvSpPr>
        <p:spPr>
          <a:xfrm xmlns:a="http://schemas.openxmlformats.org/drawingml/2006/main">
            <a:off x="4810125" y="36957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i="0">
                <a:solidFill>
                  <a:srgbClr val="0B1F33"/>
                </a:solidFill>
                <a:latin typeface="Arial"/>
                <a:ea typeface="Arial"/>
                <a:cs typeface="Arial"/>
              </a:defRPr>
            </a:pPr>
            <a:r>
              <a:rPr sz="2625" b="1" i="0">
                <a:solidFill>
                  <a:srgbClr val="0B1F33"/>
                </a:solidFill>
                <a:latin typeface="Arial"/>
                <a:ea typeface="Arial"/>
                <a:cs typeface="Arial"/>
              </a:rPr>
              <a:t>4  1  8  5</a:t>
            </a:r>
          </a:p>
        </p:txBody>
      </p:sp>
      <p:sp>
        <p:nvSpPr>
          <p:cNvPr id="13" name="">
            <a:extLst xmlns:a="http://schemas.openxmlformats.org/drawingml/2006/main">
              <a:ext uri="{FF2B5EF4-FFF2-40B4-BE49-F238E27FC236}">
                <a16:creationId xmlns:a16="http://schemas.microsoft.com/office/drawing/2014/main" id="{5E2110F2-A7D1-49A1-8867-761ABBF29A70}"/>
              </a:ext>
            </a:extLst>
          </p:cNvPr>
          <p:cNvSpPr>
            <a:spLocks xmlns:a="http://schemas.openxmlformats.org/drawingml/2006/main" noGrp="1"/>
          </p:cNvSpPr>
          <p:nvPr/>
        </p:nvSpPr>
        <p:spPr>
          <a:xfrm xmlns:a="http://schemas.openxmlformats.org/drawingml/2006/main">
            <a:off x="8429625" y="29051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B7A6D"/>
                </a:solidFill>
                <a:latin typeface="Arial"/>
                <a:ea typeface="Arial"/>
                <a:cs typeface="Arial"/>
              </a:defRPr>
            </a:pPr>
            <a:r>
              <a:rPr sz="1350" b="1" i="0">
                <a:solidFill>
                  <a:srgbClr val="2B7A6D"/>
                </a:solidFill>
                <a:latin typeface="Arial"/>
                <a:ea typeface="Arial"/>
                <a:cs typeface="Arial"/>
              </a:rPr>
              <a:t>BATCH 3</a:t>
            </a:r>
          </a:p>
        </p:txBody>
      </p:sp>
      <p:sp>
        <p:nvSpPr>
          <p:cNvPr id="14" name="">
            <a:extLst xmlns:a="http://schemas.openxmlformats.org/drawingml/2006/main">
              <a:ext uri="{FF2B5EF4-FFF2-40B4-BE49-F238E27FC236}">
                <a16:creationId xmlns:a16="http://schemas.microsoft.com/office/drawing/2014/main" id="{A8D35F91-6496-41D2-80D1-41A218F3CC4E}"/>
              </a:ext>
            </a:extLst>
          </p:cNvPr>
          <p:cNvSpPr>
            <a:spLocks xmlns:a="http://schemas.openxmlformats.org/drawingml/2006/main" noGrp="1"/>
          </p:cNvSpPr>
          <p:nvPr/>
        </p:nvSpPr>
        <p:spPr>
          <a:xfrm xmlns:a="http://schemas.openxmlformats.org/drawingml/2006/main">
            <a:off x="8429625" y="3333750"/>
            <a:ext cx="3333750" cy="1190625"/>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19050">
            <a:solidFill>
              <a:srgbClr val="2B7A6D"/>
            </a:solidFill>
            <a:prstDash val="solid"/>
          </a:ln>
        </p:spPr>
      </p:sp>
      <p:sp>
        <p:nvSpPr>
          <p:cNvPr id="15" name="">
            <a:extLst xmlns:a="http://schemas.openxmlformats.org/drawingml/2006/main">
              <a:ext uri="{FF2B5EF4-FFF2-40B4-BE49-F238E27FC236}">
                <a16:creationId xmlns:a16="http://schemas.microsoft.com/office/drawing/2014/main" id="{BCD86568-B8C4-4DB4-B821-60D6B9426D11}"/>
              </a:ext>
            </a:extLst>
          </p:cNvPr>
          <p:cNvSpPr>
            <a:spLocks xmlns:a="http://schemas.openxmlformats.org/drawingml/2006/main" noGrp="1"/>
          </p:cNvSpPr>
          <p:nvPr/>
        </p:nvSpPr>
        <p:spPr>
          <a:xfrm xmlns:a="http://schemas.openxmlformats.org/drawingml/2006/main">
            <a:off x="8667750" y="36957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i="0">
                <a:solidFill>
                  <a:srgbClr val="2B7A6D"/>
                </a:solidFill>
                <a:latin typeface="Arial"/>
                <a:ea typeface="Arial"/>
                <a:cs typeface="Arial"/>
              </a:defRPr>
            </a:pPr>
            <a:r>
              <a:rPr sz="2625" b="1" i="0">
                <a:solidFill>
                  <a:srgbClr val="2B7A6D"/>
                </a:solidFill>
                <a:latin typeface="Arial"/>
                <a:ea typeface="Arial"/>
                <a:cs typeface="Arial"/>
              </a:rPr>
              <a:t>3  6</a:t>
            </a:r>
          </a:p>
        </p:txBody>
      </p:sp>
      <p:sp>
        <p:nvSpPr>
          <p:cNvPr id="16" name="">
            <a:extLst xmlns:a="http://schemas.openxmlformats.org/drawingml/2006/main">
              <a:ext uri="{FF2B5EF4-FFF2-40B4-BE49-F238E27FC236}">
                <a16:creationId xmlns:a16="http://schemas.microsoft.com/office/drawing/2014/main" id="{FEFBE149-2165-411F-BC9F-11C39CBA37AD}"/>
              </a:ext>
            </a:extLst>
          </p:cNvPr>
          <p:cNvSpPr>
            <a:spLocks xmlns:a="http://schemas.openxmlformats.org/drawingml/2006/main" noGrp="1"/>
          </p:cNvSpPr>
          <p:nvPr/>
        </p:nvSpPr>
        <p:spPr>
          <a:xfrm xmlns:a="http://schemas.openxmlformats.org/drawingml/2006/main">
            <a:off x="1714500" y="5095875"/>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402"/>
          </a:bodyPr>
          <a:lstStyle xmlns:a="http://schemas.openxmlformats.org/drawingml/2006/main"/>
          <a:p xmlns:a="http://schemas.openxmlformats.org/drawingml/2006/main">
            <a:pPr algn="ctr">
              <a:defRPr sz="2250" b="1" i="0">
                <a:solidFill>
                  <a:srgbClr val="0B1F33"/>
                </a:solidFill>
                <a:latin typeface="Arial"/>
                <a:ea typeface="Arial"/>
                <a:cs typeface="Arial"/>
              </a:defRPr>
            </a:pPr>
            <a:r>
              <a:rPr sz="2250" b="1" i="0">
                <a:solidFill>
                  <a:srgbClr val="0B1F33"/>
                </a:solidFill>
                <a:latin typeface="Arial"/>
                <a:ea typeface="Arial"/>
                <a:cs typeface="Arial"/>
              </a:rPr>
              <a:t>Coverage check: concatenate, sort, and recover every index exactly once.</a:t>
            </a:r>
          </a:p>
        </p:txBody>
      </p:sp>
      <p:sp>
        <p:nvSpPr>
          <p:cNvPr id="17" name="">
            <a:extLst xmlns:a="http://schemas.openxmlformats.org/drawingml/2006/main">
              <a:ext uri="{FF2B5EF4-FFF2-40B4-BE49-F238E27FC236}">
                <a16:creationId xmlns:a16="http://schemas.microsoft.com/office/drawing/2014/main" id="{D29E3658-904F-4E38-8E6C-8C774B2D99D9}"/>
              </a:ext>
            </a:extLst>
          </p:cNvPr>
          <p:cNvSpPr>
            <a:spLocks xmlns:a="http://schemas.openxmlformats.org/drawingml/2006/main" noGrp="1"/>
          </p:cNvSpPr>
          <p:nvPr/>
        </p:nvSpPr>
        <p:spPr>
          <a:xfrm xmlns:a="http://schemas.openxmlformats.org/drawingml/2006/main">
            <a:off x="3857625" y="5762625"/>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10A7A5"/>
                </a:solidFill>
                <a:latin typeface="Arial"/>
                <a:ea typeface="Arial"/>
                <a:cs typeface="Arial"/>
              </a:defRPr>
            </a:pPr>
            <a:r>
              <a:rPr sz="1875" b="1" i="0">
                <a:solidFill>
                  <a:srgbClr val="10A7A5"/>
                </a:solidFill>
                <a:latin typeface="Arial"/>
                <a:ea typeface="Arial"/>
                <a:cs typeface="Arial"/>
              </a:rPr>
              <a:t>Keep the smaller remainder batch.</a:t>
            </a:r>
          </a:p>
        </p:txBody>
      </p:sp>
    </p:spTree>
    <p:extLst>
      <p:ext uri="{BB962C8B-B14F-4D97-AF65-F5344CB8AC3E}">
        <p14:creationId xmlns:p14="http://schemas.microsoft.com/office/powerpoint/2010/main" val="453685623"/>
      </p:ext>
    </p:extLst>
  </p:cSld>
</p:sld>
</file>

<file path=ppt/slides/slide1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5CC3B60-3719-47A9-BACB-9404331A5DFB}"/>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Learning-rate behavior</a:t>
            </a:r>
          </a:p>
        </p:txBody>
      </p:sp>
      <p:sp>
        <p:nvSpPr>
          <p:cNvPr id="2" name="">
            <a:extLst xmlns:a="http://schemas.openxmlformats.org/drawingml/2006/main">
              <a:ext uri="{FF2B5EF4-FFF2-40B4-BE49-F238E27FC236}">
                <a16:creationId xmlns:a16="http://schemas.microsoft.com/office/drawing/2014/main" id="{84F6B070-39BF-4E58-B05C-09D951220ADD}"/>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A254CD-34BB-4F43-9B98-3BC29C271DB8}"/>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69DC1C8C-4023-482B-90FA-5A4BD979CC7E}"/>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274234BA-576B-4829-9494-B33B22E467B8}"/>
              </a:ext>
            </a:extLst>
          </p:cNvPr>
          <p:cNvSpPr>
            <a:spLocks xmlns:a="http://schemas.openxmlformats.org/drawingml/2006/main" noGrp="1"/>
          </p:cNvSpPr>
          <p:nvPr/>
        </p:nvSpPr>
        <p:spPr>
          <a:xfrm xmlns:a="http://schemas.openxmlformats.org/drawingml/2006/main">
            <a:off x="714375" y="195262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536878"/>
                </a:solidFill>
                <a:latin typeface="Arial"/>
                <a:ea typeface="Arial"/>
                <a:cs typeface="Arial"/>
              </a:defRPr>
            </a:pPr>
            <a:r>
              <a:rPr sz="2175" b="1" i="0">
                <a:solidFill>
                  <a:srgbClr val="536878"/>
                </a:solidFill>
                <a:latin typeface="Arial"/>
                <a:ea typeface="Arial"/>
                <a:cs typeface="Arial"/>
              </a:rPr>
              <a:t>η = 0.001</a:t>
            </a:r>
          </a:p>
        </p:txBody>
      </p:sp>
      <p:sp>
        <p:nvSpPr>
          <p:cNvPr id="6" name="">
            <a:extLst xmlns:a="http://schemas.openxmlformats.org/drawingml/2006/main">
              <a:ext uri="{FF2B5EF4-FFF2-40B4-BE49-F238E27FC236}">
                <a16:creationId xmlns:a16="http://schemas.microsoft.com/office/drawing/2014/main" id="{62BA803B-71ED-4E95-8C22-22374DAB6E32}"/>
              </a:ext>
            </a:extLst>
          </p:cNvPr>
          <p:cNvSpPr>
            <a:spLocks xmlns:a="http://schemas.openxmlformats.org/drawingml/2006/main" noGrp="1"/>
          </p:cNvSpPr>
          <p:nvPr/>
        </p:nvSpPr>
        <p:spPr>
          <a:xfrm xmlns:a="http://schemas.openxmlformats.org/drawingml/2006/main">
            <a:off x="9048750" y="19526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536878"/>
                </a:solidFill>
                <a:latin typeface="Arial"/>
                <a:ea typeface="Arial"/>
                <a:cs typeface="Arial"/>
              </a:defRPr>
            </a:pPr>
            <a:r>
              <a:rPr sz="1800" b="1" i="0">
                <a:solidFill>
                  <a:srgbClr val="536878"/>
                </a:solidFill>
                <a:latin typeface="Arial"/>
                <a:ea typeface="Arial"/>
                <a:cs typeface="Arial"/>
              </a:rPr>
              <a:t>slow within budget</a:t>
            </a:r>
          </a:p>
        </p:txBody>
      </p:sp>
      <p:sp>
        <p:nvSpPr>
          <p:cNvPr id="7" name="">
            <a:extLst xmlns:a="http://schemas.openxmlformats.org/drawingml/2006/main">
              <a:ext uri="{FF2B5EF4-FFF2-40B4-BE49-F238E27FC236}">
                <a16:creationId xmlns:a16="http://schemas.microsoft.com/office/drawing/2014/main" id="{0C83F385-64C6-4534-8165-A4D1296A8930}"/>
              </a:ext>
            </a:extLst>
          </p:cNvPr>
          <p:cNvSpPr>
            <a:spLocks xmlns:a="http://schemas.openxmlformats.org/drawingml/2006/main" noGrp="1"/>
          </p:cNvSpPr>
          <p:nvPr/>
        </p:nvSpPr>
        <p:spPr>
          <a:xfrm xmlns:a="http://schemas.openxmlformats.org/drawingml/2006/main">
            <a:off x="2952750" y="2571750"/>
            <a:ext cx="5715000"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8" name="">
            <a:extLst xmlns:a="http://schemas.openxmlformats.org/drawingml/2006/main">
              <a:ext uri="{FF2B5EF4-FFF2-40B4-BE49-F238E27FC236}">
                <a16:creationId xmlns:a16="http://schemas.microsoft.com/office/drawing/2014/main" id="{141DF92E-EC76-4131-B771-A307727763B0}"/>
              </a:ext>
            </a:extLst>
          </p:cNvPr>
          <p:cNvSpPr>
            <a:spLocks xmlns:a="http://schemas.openxmlformats.org/drawingml/2006/main" noGrp="1"/>
          </p:cNvSpPr>
          <p:nvPr/>
        </p:nvSpPr>
        <p:spPr>
          <a:xfrm xmlns:a="http://schemas.openxmlformats.org/drawingml/2006/main">
            <a:off x="3067050" y="1769269"/>
            <a:ext cx="152400" cy="152400"/>
          </a:xfrm>
          <a:prstGeom xmlns:a="http://schemas.openxmlformats.org/drawingml/2006/main" prst="ellipse">
            <a:avLst/>
          </a:prstGeom>
          <a:solidFill xmlns:a="http://schemas.openxmlformats.org/drawingml/2006/main">
            <a:srgbClr val="5368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FE947C-0174-4D9B-82C1-4D8D7BBBD389}"/>
              </a:ext>
            </a:extLst>
          </p:cNvPr>
          <p:cNvSpPr>
            <a:spLocks xmlns:a="http://schemas.openxmlformats.org/drawingml/2006/main" noGrp="1"/>
          </p:cNvSpPr>
          <p:nvPr/>
        </p:nvSpPr>
        <p:spPr>
          <a:xfrm xmlns:a="http://schemas.openxmlformats.org/drawingml/2006/main">
            <a:off x="4114800" y="1819275"/>
            <a:ext cx="152400" cy="152400"/>
          </a:xfrm>
          <a:prstGeom xmlns:a="http://schemas.openxmlformats.org/drawingml/2006/main" prst="ellipse">
            <a:avLst/>
          </a:prstGeom>
          <a:solidFill xmlns:a="http://schemas.openxmlformats.org/drawingml/2006/main">
            <a:srgbClr val="5368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0DF94E1-7581-4FEF-8A6E-FE9126B2437E}"/>
              </a:ext>
            </a:extLst>
          </p:cNvPr>
          <p:cNvSpPr>
            <a:spLocks xmlns:a="http://schemas.openxmlformats.org/drawingml/2006/main" noGrp="1"/>
          </p:cNvSpPr>
          <p:nvPr/>
        </p:nvSpPr>
        <p:spPr>
          <a:xfrm xmlns:a="http://schemas.openxmlformats.org/drawingml/2006/main">
            <a:off x="5162550" y="1876425"/>
            <a:ext cx="152400" cy="152400"/>
          </a:xfrm>
          <a:prstGeom xmlns:a="http://schemas.openxmlformats.org/drawingml/2006/main" prst="ellipse">
            <a:avLst/>
          </a:prstGeom>
          <a:solidFill xmlns:a="http://schemas.openxmlformats.org/drawingml/2006/main">
            <a:srgbClr val="5368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A1C33FC-46C9-4BA1-B819-5AAA15FD8B40}"/>
              </a:ext>
            </a:extLst>
          </p:cNvPr>
          <p:cNvSpPr>
            <a:spLocks xmlns:a="http://schemas.openxmlformats.org/drawingml/2006/main" noGrp="1"/>
          </p:cNvSpPr>
          <p:nvPr/>
        </p:nvSpPr>
        <p:spPr>
          <a:xfrm xmlns:a="http://schemas.openxmlformats.org/drawingml/2006/main">
            <a:off x="6210300" y="1933575"/>
            <a:ext cx="152400" cy="152400"/>
          </a:xfrm>
          <a:prstGeom xmlns:a="http://schemas.openxmlformats.org/drawingml/2006/main" prst="ellipse">
            <a:avLst/>
          </a:prstGeom>
          <a:solidFill xmlns:a="http://schemas.openxmlformats.org/drawingml/2006/main">
            <a:srgbClr val="5368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AAA66AC-3D57-44C5-BF6D-8EA174A4DAA8}"/>
              </a:ext>
            </a:extLst>
          </p:cNvPr>
          <p:cNvSpPr>
            <a:spLocks xmlns:a="http://schemas.openxmlformats.org/drawingml/2006/main" noGrp="1"/>
          </p:cNvSpPr>
          <p:nvPr/>
        </p:nvSpPr>
        <p:spPr>
          <a:xfrm xmlns:a="http://schemas.openxmlformats.org/drawingml/2006/main">
            <a:off x="7258050" y="1990725"/>
            <a:ext cx="152400" cy="152400"/>
          </a:xfrm>
          <a:prstGeom xmlns:a="http://schemas.openxmlformats.org/drawingml/2006/main" prst="ellipse">
            <a:avLst/>
          </a:prstGeom>
          <a:solidFill xmlns:a="http://schemas.openxmlformats.org/drawingml/2006/main">
            <a:srgbClr val="5368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5E559D-E5CE-40D9-A9BC-3F31B032E6D1}"/>
              </a:ext>
            </a:extLst>
          </p:cNvPr>
          <p:cNvSpPr>
            <a:spLocks xmlns:a="http://schemas.openxmlformats.org/drawingml/2006/main" noGrp="1"/>
          </p:cNvSpPr>
          <p:nvPr/>
        </p:nvSpPr>
        <p:spPr>
          <a:xfrm xmlns:a="http://schemas.openxmlformats.org/drawingml/2006/main">
            <a:off x="8305800" y="2033588"/>
            <a:ext cx="152400" cy="152400"/>
          </a:xfrm>
          <a:prstGeom xmlns:a="http://schemas.openxmlformats.org/drawingml/2006/main" prst="ellipse">
            <a:avLst/>
          </a:prstGeom>
          <a:solidFill xmlns:a="http://schemas.openxmlformats.org/drawingml/2006/main">
            <a:srgbClr val="5368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95D9399-5E8F-4C4E-89EA-4B5C561B60BF}"/>
              </a:ext>
            </a:extLst>
          </p:cNvPr>
          <p:cNvSpPr>
            <a:spLocks xmlns:a="http://schemas.openxmlformats.org/drawingml/2006/main" noGrp="1"/>
          </p:cNvSpPr>
          <p:nvPr/>
        </p:nvSpPr>
        <p:spPr>
          <a:xfrm xmlns:a="http://schemas.openxmlformats.org/drawingml/2006/main">
            <a:off x="714375" y="333375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10A7A5"/>
                </a:solidFill>
                <a:latin typeface="Arial"/>
                <a:ea typeface="Arial"/>
                <a:cs typeface="Arial"/>
              </a:defRPr>
            </a:pPr>
            <a:r>
              <a:rPr sz="2175" b="1" i="0">
                <a:solidFill>
                  <a:srgbClr val="10A7A5"/>
                </a:solidFill>
                <a:latin typeface="Arial"/>
                <a:ea typeface="Arial"/>
                <a:cs typeface="Arial"/>
              </a:rPr>
              <a:t>η = 0.050</a:t>
            </a:r>
          </a:p>
        </p:txBody>
      </p:sp>
      <p:sp>
        <p:nvSpPr>
          <p:cNvPr id="15" name="">
            <a:extLst xmlns:a="http://schemas.openxmlformats.org/drawingml/2006/main">
              <a:ext uri="{FF2B5EF4-FFF2-40B4-BE49-F238E27FC236}">
                <a16:creationId xmlns:a16="http://schemas.microsoft.com/office/drawing/2014/main" id="{4FA1CE34-1CCA-48F7-9E0B-ADF77C53B129}"/>
              </a:ext>
            </a:extLst>
          </p:cNvPr>
          <p:cNvSpPr>
            <a:spLocks xmlns:a="http://schemas.openxmlformats.org/drawingml/2006/main" noGrp="1"/>
          </p:cNvSpPr>
          <p:nvPr/>
        </p:nvSpPr>
        <p:spPr>
          <a:xfrm xmlns:a="http://schemas.openxmlformats.org/drawingml/2006/main">
            <a:off x="9048750" y="33337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485"/>
          </a:bodyPr>
          <a:lstStyle xmlns:a="http://schemas.openxmlformats.org/drawingml/2006/main"/>
          <a:p xmlns:a="http://schemas.openxmlformats.org/drawingml/2006/main">
            <a:pPr algn="ctr">
              <a:defRPr sz="1800" b="1" i="0">
                <a:solidFill>
                  <a:srgbClr val="10A7A5"/>
                </a:solidFill>
                <a:latin typeface="Arial"/>
                <a:ea typeface="Arial"/>
                <a:cs typeface="Arial"/>
              </a:defRPr>
            </a:pPr>
            <a:r>
              <a:rPr sz="1800" b="1" i="0">
                <a:solidFill>
                  <a:srgbClr val="10A7A5"/>
                </a:solidFill>
                <a:latin typeface="Arial"/>
                <a:ea typeface="Arial"/>
                <a:cs typeface="Arial"/>
              </a:rPr>
              <a:t>rapid stable decrease</a:t>
            </a:r>
          </a:p>
        </p:txBody>
      </p:sp>
      <p:sp>
        <p:nvSpPr>
          <p:cNvPr id="16" name="">
            <a:extLst xmlns:a="http://schemas.openxmlformats.org/drawingml/2006/main">
              <a:ext uri="{FF2B5EF4-FFF2-40B4-BE49-F238E27FC236}">
                <a16:creationId xmlns:a16="http://schemas.microsoft.com/office/drawing/2014/main" id="{49DEDC62-9C4D-4862-BDE2-0260AF38D135}"/>
              </a:ext>
            </a:extLst>
          </p:cNvPr>
          <p:cNvSpPr>
            <a:spLocks xmlns:a="http://schemas.openxmlformats.org/drawingml/2006/main" noGrp="1"/>
          </p:cNvSpPr>
          <p:nvPr/>
        </p:nvSpPr>
        <p:spPr>
          <a:xfrm xmlns:a="http://schemas.openxmlformats.org/drawingml/2006/main">
            <a:off x="2952750" y="3952875"/>
            <a:ext cx="5715000"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17" name="">
            <a:extLst xmlns:a="http://schemas.openxmlformats.org/drawingml/2006/main">
              <a:ext uri="{FF2B5EF4-FFF2-40B4-BE49-F238E27FC236}">
                <a16:creationId xmlns:a16="http://schemas.microsoft.com/office/drawing/2014/main" id="{AAF0E855-7107-421F-9A55-8156167F587E}"/>
              </a:ext>
            </a:extLst>
          </p:cNvPr>
          <p:cNvSpPr>
            <a:spLocks xmlns:a="http://schemas.openxmlformats.org/drawingml/2006/main" noGrp="1"/>
          </p:cNvSpPr>
          <p:nvPr/>
        </p:nvSpPr>
        <p:spPr>
          <a:xfrm xmlns:a="http://schemas.openxmlformats.org/drawingml/2006/main">
            <a:off x="3067050" y="3150394"/>
            <a:ext cx="152400" cy="15240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2BF4DEC-6E73-4176-9CA1-D0381FC41969}"/>
              </a:ext>
            </a:extLst>
          </p:cNvPr>
          <p:cNvSpPr>
            <a:spLocks xmlns:a="http://schemas.openxmlformats.org/drawingml/2006/main" noGrp="1"/>
          </p:cNvSpPr>
          <p:nvPr/>
        </p:nvSpPr>
        <p:spPr>
          <a:xfrm xmlns:a="http://schemas.openxmlformats.org/drawingml/2006/main">
            <a:off x="4114800" y="3386138"/>
            <a:ext cx="152400" cy="15240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F70B4D8-E568-4263-A387-29D6A0EECEC5}"/>
              </a:ext>
            </a:extLst>
          </p:cNvPr>
          <p:cNvSpPr>
            <a:spLocks xmlns:a="http://schemas.openxmlformats.org/drawingml/2006/main" noGrp="1"/>
          </p:cNvSpPr>
          <p:nvPr/>
        </p:nvSpPr>
        <p:spPr>
          <a:xfrm xmlns:a="http://schemas.openxmlformats.org/drawingml/2006/main">
            <a:off x="5162550" y="3586163"/>
            <a:ext cx="152400" cy="15240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0F439CB-2AC0-41BF-B72F-72A74538CBC3}"/>
              </a:ext>
            </a:extLst>
          </p:cNvPr>
          <p:cNvSpPr>
            <a:spLocks xmlns:a="http://schemas.openxmlformats.org/drawingml/2006/main" noGrp="1"/>
          </p:cNvSpPr>
          <p:nvPr/>
        </p:nvSpPr>
        <p:spPr>
          <a:xfrm xmlns:a="http://schemas.openxmlformats.org/drawingml/2006/main">
            <a:off x="6210300" y="3707606"/>
            <a:ext cx="152400" cy="15240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F25C57F-30CD-45D7-9478-3CCDA3BE938B}"/>
              </a:ext>
            </a:extLst>
          </p:cNvPr>
          <p:cNvSpPr>
            <a:spLocks xmlns:a="http://schemas.openxmlformats.org/drawingml/2006/main" noGrp="1"/>
          </p:cNvSpPr>
          <p:nvPr/>
        </p:nvSpPr>
        <p:spPr>
          <a:xfrm xmlns:a="http://schemas.openxmlformats.org/drawingml/2006/main">
            <a:off x="7258050" y="3764756"/>
            <a:ext cx="152400" cy="15240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D8BF7D2-E8D6-47B8-87D2-8293F275F000}"/>
              </a:ext>
            </a:extLst>
          </p:cNvPr>
          <p:cNvSpPr>
            <a:spLocks xmlns:a="http://schemas.openxmlformats.org/drawingml/2006/main" noGrp="1"/>
          </p:cNvSpPr>
          <p:nvPr/>
        </p:nvSpPr>
        <p:spPr>
          <a:xfrm xmlns:a="http://schemas.openxmlformats.org/drawingml/2006/main">
            <a:off x="8305800" y="3786188"/>
            <a:ext cx="152400" cy="15240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09997C0-0CE2-42C2-8076-8928F807E031}"/>
              </a:ext>
            </a:extLst>
          </p:cNvPr>
          <p:cNvSpPr>
            <a:spLocks xmlns:a="http://schemas.openxmlformats.org/drawingml/2006/main" noGrp="1"/>
          </p:cNvSpPr>
          <p:nvPr/>
        </p:nvSpPr>
        <p:spPr>
          <a:xfrm xmlns:a="http://schemas.openxmlformats.org/drawingml/2006/main">
            <a:off x="714375" y="47148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B65353"/>
                </a:solidFill>
                <a:latin typeface="Arial"/>
                <a:ea typeface="Arial"/>
                <a:cs typeface="Arial"/>
              </a:defRPr>
            </a:pPr>
            <a:r>
              <a:rPr sz="2175" b="1" i="0">
                <a:solidFill>
                  <a:srgbClr val="B65353"/>
                </a:solidFill>
                <a:latin typeface="Arial"/>
                <a:ea typeface="Arial"/>
                <a:cs typeface="Arial"/>
              </a:rPr>
              <a:t>η = 1.200</a:t>
            </a:r>
          </a:p>
        </p:txBody>
      </p:sp>
      <p:sp>
        <p:nvSpPr>
          <p:cNvPr id="24" name="">
            <a:extLst xmlns:a="http://schemas.openxmlformats.org/drawingml/2006/main">
              <a:ext uri="{FF2B5EF4-FFF2-40B4-BE49-F238E27FC236}">
                <a16:creationId xmlns:a16="http://schemas.microsoft.com/office/drawing/2014/main" id="{32B57185-8A4F-453E-B5AE-A0230D140265}"/>
              </a:ext>
            </a:extLst>
          </p:cNvPr>
          <p:cNvSpPr>
            <a:spLocks xmlns:a="http://schemas.openxmlformats.org/drawingml/2006/main" noGrp="1"/>
          </p:cNvSpPr>
          <p:nvPr/>
        </p:nvSpPr>
        <p:spPr>
          <a:xfrm xmlns:a="http://schemas.openxmlformats.org/drawingml/2006/main">
            <a:off x="9048750" y="471487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B65353"/>
                </a:solidFill>
                <a:latin typeface="Arial"/>
                <a:ea typeface="Arial"/>
                <a:cs typeface="Arial"/>
              </a:defRPr>
            </a:pPr>
            <a:r>
              <a:rPr sz="1800" b="1" i="0">
                <a:solidFill>
                  <a:srgbClr val="B65353"/>
                </a:solidFill>
                <a:latin typeface="Arial"/>
                <a:ea typeface="Arial"/>
                <a:cs typeface="Arial"/>
              </a:rPr>
              <a:t>unstable divergence</a:t>
            </a:r>
          </a:p>
        </p:txBody>
      </p:sp>
      <p:sp>
        <p:nvSpPr>
          <p:cNvPr id="25" name="">
            <a:extLst xmlns:a="http://schemas.openxmlformats.org/drawingml/2006/main">
              <a:ext uri="{FF2B5EF4-FFF2-40B4-BE49-F238E27FC236}">
                <a16:creationId xmlns:a16="http://schemas.microsoft.com/office/drawing/2014/main" id="{3432DBB6-76D2-4050-AA44-BDB02D674A64}"/>
              </a:ext>
            </a:extLst>
          </p:cNvPr>
          <p:cNvSpPr>
            <a:spLocks xmlns:a="http://schemas.openxmlformats.org/drawingml/2006/main" noGrp="1"/>
          </p:cNvSpPr>
          <p:nvPr/>
        </p:nvSpPr>
        <p:spPr>
          <a:xfrm xmlns:a="http://schemas.openxmlformats.org/drawingml/2006/main">
            <a:off x="2952750" y="5334000"/>
            <a:ext cx="5715000"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26" name="">
            <a:extLst xmlns:a="http://schemas.openxmlformats.org/drawingml/2006/main">
              <a:ext uri="{FF2B5EF4-FFF2-40B4-BE49-F238E27FC236}">
                <a16:creationId xmlns:a16="http://schemas.microsoft.com/office/drawing/2014/main" id="{DC4B0603-EA41-4D7F-935A-F3F8DED1C4C9}"/>
              </a:ext>
            </a:extLst>
          </p:cNvPr>
          <p:cNvSpPr>
            <a:spLocks xmlns:a="http://schemas.openxmlformats.org/drawingml/2006/main" noGrp="1"/>
          </p:cNvSpPr>
          <p:nvPr/>
        </p:nvSpPr>
        <p:spPr>
          <a:xfrm xmlns:a="http://schemas.openxmlformats.org/drawingml/2006/main">
            <a:off x="3067050" y="4817269"/>
            <a:ext cx="152400" cy="152400"/>
          </a:xfrm>
          <a:prstGeom xmlns:a="http://schemas.openxmlformats.org/drawingml/2006/main" prst="ellipse">
            <a:avLst/>
          </a:prstGeom>
          <a:solidFill xmlns:a="http://schemas.openxmlformats.org/drawingml/2006/main">
            <a:srgbClr val="B6535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03A90AA-C5EA-4DB0-8DEE-4905FC546604}"/>
              </a:ext>
            </a:extLst>
          </p:cNvPr>
          <p:cNvSpPr>
            <a:spLocks xmlns:a="http://schemas.openxmlformats.org/drawingml/2006/main" noGrp="1"/>
          </p:cNvSpPr>
          <p:nvPr/>
        </p:nvSpPr>
        <p:spPr>
          <a:xfrm xmlns:a="http://schemas.openxmlformats.org/drawingml/2006/main">
            <a:off x="4114800" y="4624388"/>
            <a:ext cx="152400" cy="152400"/>
          </a:xfrm>
          <a:prstGeom xmlns:a="http://schemas.openxmlformats.org/drawingml/2006/main" prst="ellipse">
            <a:avLst/>
          </a:prstGeom>
          <a:solidFill xmlns:a="http://schemas.openxmlformats.org/drawingml/2006/main">
            <a:srgbClr val="B6535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20E9DF8-2ECA-45C9-8652-BC5246033807}"/>
              </a:ext>
            </a:extLst>
          </p:cNvPr>
          <p:cNvSpPr>
            <a:spLocks xmlns:a="http://schemas.openxmlformats.org/drawingml/2006/main" noGrp="1"/>
          </p:cNvSpPr>
          <p:nvPr/>
        </p:nvSpPr>
        <p:spPr>
          <a:xfrm xmlns:a="http://schemas.openxmlformats.org/drawingml/2006/main">
            <a:off x="5162550" y="4888706"/>
            <a:ext cx="152400" cy="152400"/>
          </a:xfrm>
          <a:prstGeom xmlns:a="http://schemas.openxmlformats.org/drawingml/2006/main" prst="ellipse">
            <a:avLst/>
          </a:prstGeom>
          <a:solidFill xmlns:a="http://schemas.openxmlformats.org/drawingml/2006/main">
            <a:srgbClr val="B6535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F0DEDCA-4B06-4FCF-ADD4-1891FB3B2E88}"/>
              </a:ext>
            </a:extLst>
          </p:cNvPr>
          <p:cNvSpPr>
            <a:spLocks xmlns:a="http://schemas.openxmlformats.org/drawingml/2006/main" noGrp="1"/>
          </p:cNvSpPr>
          <p:nvPr/>
        </p:nvSpPr>
        <p:spPr>
          <a:xfrm xmlns:a="http://schemas.openxmlformats.org/drawingml/2006/main">
            <a:off x="6210300" y="4552950"/>
            <a:ext cx="152400" cy="152400"/>
          </a:xfrm>
          <a:prstGeom xmlns:a="http://schemas.openxmlformats.org/drawingml/2006/main" prst="ellipse">
            <a:avLst/>
          </a:prstGeom>
          <a:solidFill xmlns:a="http://schemas.openxmlformats.org/drawingml/2006/main">
            <a:srgbClr val="B6535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7D7745C-AC53-4160-939E-03BDF1F8587B}"/>
              </a:ext>
            </a:extLst>
          </p:cNvPr>
          <p:cNvSpPr>
            <a:spLocks xmlns:a="http://schemas.openxmlformats.org/drawingml/2006/main" noGrp="1"/>
          </p:cNvSpPr>
          <p:nvPr/>
        </p:nvSpPr>
        <p:spPr>
          <a:xfrm xmlns:a="http://schemas.openxmlformats.org/drawingml/2006/main">
            <a:off x="7258050" y="5010150"/>
            <a:ext cx="152400" cy="152400"/>
          </a:xfrm>
          <a:prstGeom xmlns:a="http://schemas.openxmlformats.org/drawingml/2006/main" prst="ellipse">
            <a:avLst/>
          </a:prstGeom>
          <a:solidFill xmlns:a="http://schemas.openxmlformats.org/drawingml/2006/main">
            <a:srgbClr val="B6535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F9E5767-B964-4081-8208-EC76E6B3A159}"/>
              </a:ext>
            </a:extLst>
          </p:cNvPr>
          <p:cNvSpPr>
            <a:spLocks xmlns:a="http://schemas.openxmlformats.org/drawingml/2006/main" noGrp="1"/>
          </p:cNvSpPr>
          <p:nvPr/>
        </p:nvSpPr>
        <p:spPr>
          <a:xfrm xmlns:a="http://schemas.openxmlformats.org/drawingml/2006/main">
            <a:off x="8305800" y="4495800"/>
            <a:ext cx="152400" cy="152400"/>
          </a:xfrm>
          <a:prstGeom xmlns:a="http://schemas.openxmlformats.org/drawingml/2006/main" prst="ellipse">
            <a:avLst/>
          </a:prstGeom>
          <a:solidFill xmlns:a="http://schemas.openxmlformats.org/drawingml/2006/main">
            <a:srgbClr val="B6535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4B7E604-E1AD-4464-9E3C-FF92942CC372}"/>
              </a:ext>
            </a:extLst>
          </p:cNvPr>
          <p:cNvSpPr>
            <a:spLocks xmlns:a="http://schemas.openxmlformats.org/drawingml/2006/main" noGrp="1"/>
          </p:cNvSpPr>
          <p:nvPr/>
        </p:nvSpPr>
        <p:spPr>
          <a:xfrm xmlns:a="http://schemas.openxmlformats.org/drawingml/2006/main">
            <a:off x="2667000" y="576262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0B1F33"/>
                </a:solidFill>
                <a:latin typeface="Arial"/>
                <a:ea typeface="Arial"/>
                <a:cs typeface="Arial"/>
              </a:defRPr>
            </a:pPr>
            <a:r>
              <a:rPr sz="1950" b="1" i="0">
                <a:solidFill>
                  <a:srgbClr val="0B1F33"/>
                </a:solidFill>
                <a:latin typeface="Arial"/>
                <a:ea typeface="Arial"/>
                <a:cs typeface="Arial"/>
              </a:rPr>
              <a:t>Read the curve with update count and finite-value checks.</a:t>
            </a:r>
          </a:p>
        </p:txBody>
      </p:sp>
    </p:spTree>
    <p:extLst>
      <p:ext uri="{BB962C8B-B14F-4D97-AF65-F5344CB8AC3E}">
        <p14:creationId xmlns:p14="http://schemas.microsoft.com/office/powerpoint/2010/main" val="1949128787"/>
      </p:ext>
    </p:extLst>
  </p:cSld>
</p:sld>
</file>

<file path=ppt/slides/slide15.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3A7BDE2-0649-4A37-9CC2-B6DD7E3693C5}"/>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Feature scaling changes the geometry</a:t>
            </a:r>
          </a:p>
        </p:txBody>
      </p:sp>
      <p:sp>
        <p:nvSpPr>
          <p:cNvPr id="2" name="">
            <a:extLst xmlns:a="http://schemas.openxmlformats.org/drawingml/2006/main">
              <a:ext uri="{FF2B5EF4-FFF2-40B4-BE49-F238E27FC236}">
                <a16:creationId xmlns:a16="http://schemas.microsoft.com/office/drawing/2014/main" id="{79D21B52-CD8B-46A2-81EB-2F4FE5EEA6AE}"/>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F2B84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14F717-4E40-4BFB-A390-041D7D30E850}"/>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76D7D1"/>
                </a:solidFill>
                <a:latin typeface="Arial"/>
                <a:ea typeface="Arial"/>
                <a:cs typeface="Arial"/>
              </a:defRPr>
            </a:pPr>
            <a:r>
              <a:rPr sz="1200" b="1" i="0">
                <a:solidFill>
                  <a:srgbClr val="76D7D1"/>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15C8380C-DAD7-4A7A-8851-8699F6E947CD}"/>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76D7D1"/>
                </a:solidFill>
                <a:latin typeface="Arial"/>
                <a:ea typeface="Arial"/>
                <a:cs typeface="Arial"/>
              </a:defRPr>
            </a:pPr>
            <a:r>
              <a:rPr sz="1200" b="1" i="0">
                <a:solidFill>
                  <a:srgbClr val="76D7D1"/>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03FC74DF-6236-4CD7-9E72-2ED2309CE469}"/>
              </a:ext>
            </a:extLst>
          </p:cNvPr>
          <p:cNvSpPr>
            <a:spLocks xmlns:a="http://schemas.openxmlformats.org/drawingml/2006/main" noGrp="1"/>
          </p:cNvSpPr>
          <p:nvPr/>
        </p:nvSpPr>
        <p:spPr>
          <a:xfrm xmlns:a="http://schemas.openxmlformats.org/drawingml/2006/main">
            <a:off x="762000" y="15240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UNSCALED</a:t>
            </a:r>
          </a:p>
        </p:txBody>
      </p:sp>
      <p:sp>
        <p:nvSpPr>
          <p:cNvPr id="6" name="">
            <a:extLst xmlns:a="http://schemas.openxmlformats.org/drawingml/2006/main">
              <a:ext uri="{FF2B5EF4-FFF2-40B4-BE49-F238E27FC236}">
                <a16:creationId xmlns:a16="http://schemas.microsoft.com/office/drawing/2014/main" id="{AA334B0C-7540-4B54-A662-227883A47CB0}"/>
              </a:ext>
            </a:extLst>
          </p:cNvPr>
          <p:cNvSpPr>
            <a:spLocks xmlns:a="http://schemas.openxmlformats.org/drawingml/2006/main" noGrp="1"/>
          </p:cNvSpPr>
          <p:nvPr/>
        </p:nvSpPr>
        <p:spPr>
          <a:xfrm xmlns:a="http://schemas.openxmlformats.org/drawingml/2006/main">
            <a:off x="1000125" y="2143125"/>
            <a:ext cx="3905250" cy="2381250"/>
          </a:xfrm>
          <a:prstGeom xmlns:a="http://schemas.openxmlformats.org/drawingml/2006/main" prst="ellipse">
            <a:avLst/>
          </a:prstGeom>
          <a:noFill xmlns:a="http://schemas.openxmlformats.org/drawingml/2006/main"/>
          <a:ln xmlns:a="http://schemas.openxmlformats.org/drawingml/2006/main" w="19050">
            <a:solidFill>
              <a:srgbClr val="76D7D1"/>
            </a:solidFill>
            <a:prstDash val="solid"/>
          </a:ln>
        </p:spPr>
      </p:sp>
      <p:sp>
        <p:nvSpPr>
          <p:cNvPr id="7" name="">
            <a:extLst xmlns:a="http://schemas.openxmlformats.org/drawingml/2006/main">
              <a:ext uri="{FF2B5EF4-FFF2-40B4-BE49-F238E27FC236}">
                <a16:creationId xmlns:a16="http://schemas.microsoft.com/office/drawing/2014/main" id="{8643E6AC-5ACF-4FF3-9210-D3A23EE29A57}"/>
              </a:ext>
            </a:extLst>
          </p:cNvPr>
          <p:cNvSpPr>
            <a:spLocks xmlns:a="http://schemas.openxmlformats.org/drawingml/2006/main" noGrp="1"/>
          </p:cNvSpPr>
          <p:nvPr/>
        </p:nvSpPr>
        <p:spPr>
          <a:xfrm xmlns:a="http://schemas.openxmlformats.org/drawingml/2006/main">
            <a:off x="1209675" y="2314575"/>
            <a:ext cx="3486150" cy="2038350"/>
          </a:xfrm>
          <a:prstGeom xmlns:a="http://schemas.openxmlformats.org/drawingml/2006/main" prst="ellipse">
            <a:avLst/>
          </a:prstGeom>
          <a:noFill xmlns:a="http://schemas.openxmlformats.org/drawingml/2006/main"/>
          <a:ln xmlns:a="http://schemas.openxmlformats.org/drawingml/2006/main" w="19050">
            <a:solidFill>
              <a:srgbClr val="76D7D1"/>
            </a:solidFill>
            <a:prstDash val="solid"/>
          </a:ln>
        </p:spPr>
      </p:sp>
      <p:sp>
        <p:nvSpPr>
          <p:cNvPr id="8" name="">
            <a:extLst xmlns:a="http://schemas.openxmlformats.org/drawingml/2006/main">
              <a:ext uri="{FF2B5EF4-FFF2-40B4-BE49-F238E27FC236}">
                <a16:creationId xmlns:a16="http://schemas.microsoft.com/office/drawing/2014/main" id="{87F29D54-FDE7-4F62-9184-B0AD9682E3EC}"/>
              </a:ext>
            </a:extLst>
          </p:cNvPr>
          <p:cNvSpPr>
            <a:spLocks xmlns:a="http://schemas.openxmlformats.org/drawingml/2006/main" noGrp="1"/>
          </p:cNvSpPr>
          <p:nvPr/>
        </p:nvSpPr>
        <p:spPr>
          <a:xfrm xmlns:a="http://schemas.openxmlformats.org/drawingml/2006/main">
            <a:off x="1419225" y="2486025"/>
            <a:ext cx="3067050" cy="1695450"/>
          </a:xfrm>
          <a:prstGeom xmlns:a="http://schemas.openxmlformats.org/drawingml/2006/main" prst="ellipse">
            <a:avLst/>
          </a:prstGeom>
          <a:noFill xmlns:a="http://schemas.openxmlformats.org/drawingml/2006/main"/>
          <a:ln xmlns:a="http://schemas.openxmlformats.org/drawingml/2006/main" w="19050">
            <a:solidFill>
              <a:srgbClr val="F2B84B"/>
            </a:solidFill>
            <a:prstDash val="solid"/>
          </a:ln>
        </p:spPr>
      </p:sp>
      <p:sp>
        <p:nvSpPr>
          <p:cNvPr id="9" name="">
            <a:extLst xmlns:a="http://schemas.openxmlformats.org/drawingml/2006/main">
              <a:ext uri="{FF2B5EF4-FFF2-40B4-BE49-F238E27FC236}">
                <a16:creationId xmlns:a16="http://schemas.microsoft.com/office/drawing/2014/main" id="{181D97B7-267A-4F0A-A6C6-4D4872108A00}"/>
              </a:ext>
            </a:extLst>
          </p:cNvPr>
          <p:cNvSpPr>
            <a:spLocks xmlns:a="http://schemas.openxmlformats.org/drawingml/2006/main" noGrp="1"/>
          </p:cNvSpPr>
          <p:nvPr/>
        </p:nvSpPr>
        <p:spPr>
          <a:xfrm xmlns:a="http://schemas.openxmlformats.org/drawingml/2006/main">
            <a:off x="1628775" y="2657475"/>
            <a:ext cx="2647950" cy="1352550"/>
          </a:xfrm>
          <a:prstGeom xmlns:a="http://schemas.openxmlformats.org/drawingml/2006/main" prst="ellipse">
            <a:avLst/>
          </a:prstGeom>
          <a:noFill xmlns:a="http://schemas.openxmlformats.org/drawingml/2006/main"/>
          <a:ln xmlns:a="http://schemas.openxmlformats.org/drawingml/2006/main" w="19050">
            <a:solidFill>
              <a:srgbClr val="76D7D1"/>
            </a:solidFill>
            <a:prstDash val="solid"/>
          </a:ln>
        </p:spPr>
      </p:sp>
      <p:sp>
        <p:nvSpPr>
          <p:cNvPr id="10" name="">
            <a:extLst xmlns:a="http://schemas.openxmlformats.org/drawingml/2006/main">
              <a:ext uri="{FF2B5EF4-FFF2-40B4-BE49-F238E27FC236}">
                <a16:creationId xmlns:a16="http://schemas.microsoft.com/office/drawing/2014/main" id="{43014AFB-7041-4CF5-B040-719B6B199A72}"/>
              </a:ext>
            </a:extLst>
          </p:cNvPr>
          <p:cNvSpPr>
            <a:spLocks xmlns:a="http://schemas.openxmlformats.org/drawingml/2006/main" noGrp="1"/>
          </p:cNvSpPr>
          <p:nvPr/>
        </p:nvSpPr>
        <p:spPr>
          <a:xfrm xmlns:a="http://schemas.openxmlformats.org/drawingml/2006/main">
            <a:off x="1838325" y="2828925"/>
            <a:ext cx="2228850" cy="1009650"/>
          </a:xfrm>
          <a:prstGeom xmlns:a="http://schemas.openxmlformats.org/drawingml/2006/main" prst="ellipse">
            <a:avLst/>
          </a:prstGeom>
          <a:noFill xmlns:a="http://schemas.openxmlformats.org/drawingml/2006/main"/>
          <a:ln xmlns:a="http://schemas.openxmlformats.org/drawingml/2006/main" w="19050">
            <a:solidFill>
              <a:srgbClr val="76D7D1"/>
            </a:solidFill>
            <a:prstDash val="solid"/>
          </a:ln>
        </p:spPr>
      </p:sp>
      <p:sp>
        <p:nvSpPr>
          <p:cNvPr id="11" name="">
            <a:extLst xmlns:a="http://schemas.openxmlformats.org/drawingml/2006/main">
              <a:ext uri="{FF2B5EF4-FFF2-40B4-BE49-F238E27FC236}">
                <a16:creationId xmlns:a16="http://schemas.microsoft.com/office/drawing/2014/main" id="{727073DF-0130-47A4-BA2D-497977AC73E7}"/>
              </a:ext>
            </a:extLst>
          </p:cNvPr>
          <p:cNvSpPr>
            <a:spLocks xmlns:a="http://schemas.openxmlformats.org/drawingml/2006/main" noGrp="1"/>
          </p:cNvSpPr>
          <p:nvPr/>
        </p:nvSpPr>
        <p:spPr>
          <a:xfrm xmlns:a="http://schemas.openxmlformats.org/drawingml/2006/main">
            <a:off x="1457325" y="2362200"/>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B43AEF3-2BB9-458B-BF53-43EA048A4B6C}"/>
              </a:ext>
            </a:extLst>
          </p:cNvPr>
          <p:cNvSpPr>
            <a:spLocks xmlns:a="http://schemas.openxmlformats.org/drawingml/2006/main" noGrp="1"/>
          </p:cNvSpPr>
          <p:nvPr/>
        </p:nvSpPr>
        <p:spPr>
          <a:xfrm xmlns:a="http://schemas.openxmlformats.org/drawingml/2006/main">
            <a:off x="3552825" y="4029075"/>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81750F0-4F0A-490D-AC94-609BF31544E0}"/>
              </a:ext>
            </a:extLst>
          </p:cNvPr>
          <p:cNvSpPr>
            <a:spLocks xmlns:a="http://schemas.openxmlformats.org/drawingml/2006/main" noGrp="1"/>
          </p:cNvSpPr>
          <p:nvPr/>
        </p:nvSpPr>
        <p:spPr>
          <a:xfrm xmlns:a="http://schemas.openxmlformats.org/drawingml/2006/main">
            <a:off x="2028825" y="2838450"/>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A6746B3-DEF0-4ABC-A5B0-3A40D2A30BD4}"/>
              </a:ext>
            </a:extLst>
          </p:cNvPr>
          <p:cNvSpPr>
            <a:spLocks xmlns:a="http://schemas.openxmlformats.org/drawingml/2006/main" noGrp="1"/>
          </p:cNvSpPr>
          <p:nvPr/>
        </p:nvSpPr>
        <p:spPr>
          <a:xfrm xmlns:a="http://schemas.openxmlformats.org/drawingml/2006/main">
            <a:off x="3124200" y="3695700"/>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FEC7A1E-EBAF-4CED-B76A-5CFE1BFCE907}"/>
              </a:ext>
            </a:extLst>
          </p:cNvPr>
          <p:cNvSpPr>
            <a:spLocks xmlns:a="http://schemas.openxmlformats.org/drawingml/2006/main" noGrp="1"/>
          </p:cNvSpPr>
          <p:nvPr/>
        </p:nvSpPr>
        <p:spPr>
          <a:xfrm xmlns:a="http://schemas.openxmlformats.org/drawingml/2006/main">
            <a:off x="2505075" y="3124200"/>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8F0B4A8-3242-461C-BEF9-13AD50DABAB9}"/>
              </a:ext>
            </a:extLst>
          </p:cNvPr>
          <p:cNvSpPr>
            <a:spLocks xmlns:a="http://schemas.openxmlformats.org/drawingml/2006/main" noGrp="1"/>
          </p:cNvSpPr>
          <p:nvPr/>
        </p:nvSpPr>
        <p:spPr>
          <a:xfrm xmlns:a="http://schemas.openxmlformats.org/drawingml/2006/main">
            <a:off x="2886075" y="3457575"/>
            <a:ext cx="133350" cy="1333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419DABE-E1AF-4A1E-AEA8-4855B5A03DF2}"/>
              </a:ext>
            </a:extLst>
          </p:cNvPr>
          <p:cNvSpPr>
            <a:spLocks xmlns:a="http://schemas.openxmlformats.org/drawingml/2006/main" noGrp="1"/>
          </p:cNvSpPr>
          <p:nvPr/>
        </p:nvSpPr>
        <p:spPr>
          <a:xfrm xmlns:a="http://schemas.openxmlformats.org/drawingml/2006/main">
            <a:off x="6429375" y="15240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76D7D1"/>
                </a:solidFill>
                <a:latin typeface="Arial"/>
                <a:ea typeface="Arial"/>
                <a:cs typeface="Arial"/>
              </a:defRPr>
            </a:pPr>
            <a:r>
              <a:rPr sz="1350" b="1" i="0">
                <a:solidFill>
                  <a:srgbClr val="76D7D1"/>
                </a:solidFill>
                <a:latin typeface="Arial"/>
                <a:ea typeface="Arial"/>
                <a:cs typeface="Arial"/>
              </a:rPr>
              <a:t>TRAINING-ONLY STANDARDIZATION</a:t>
            </a:r>
          </a:p>
        </p:txBody>
      </p:sp>
      <p:sp>
        <p:nvSpPr>
          <p:cNvPr id="18" name="">
            <a:extLst xmlns:a="http://schemas.openxmlformats.org/drawingml/2006/main">
              <a:ext uri="{FF2B5EF4-FFF2-40B4-BE49-F238E27FC236}">
                <a16:creationId xmlns:a16="http://schemas.microsoft.com/office/drawing/2014/main" id="{52B6632C-0CCB-4DD9-8EA8-A95883A68B02}"/>
              </a:ext>
            </a:extLst>
          </p:cNvPr>
          <p:cNvSpPr>
            <a:spLocks xmlns:a="http://schemas.openxmlformats.org/drawingml/2006/main" noGrp="1"/>
          </p:cNvSpPr>
          <p:nvPr/>
        </p:nvSpPr>
        <p:spPr>
          <a:xfrm xmlns:a="http://schemas.openxmlformats.org/drawingml/2006/main">
            <a:off x="7143750" y="2143125"/>
            <a:ext cx="3238500" cy="2476500"/>
          </a:xfrm>
          <a:prstGeom xmlns:a="http://schemas.openxmlformats.org/drawingml/2006/main" prst="ellipse">
            <a:avLst/>
          </a:prstGeom>
          <a:noFill xmlns:a="http://schemas.openxmlformats.org/drawingml/2006/main"/>
          <a:ln xmlns:a="http://schemas.openxmlformats.org/drawingml/2006/main" w="19050">
            <a:solidFill>
              <a:srgbClr val="76D7D1"/>
            </a:solidFill>
            <a:prstDash val="solid"/>
          </a:ln>
        </p:spPr>
      </p:sp>
      <p:sp>
        <p:nvSpPr>
          <p:cNvPr id="19" name="">
            <a:extLst xmlns:a="http://schemas.openxmlformats.org/drawingml/2006/main">
              <a:ext uri="{FF2B5EF4-FFF2-40B4-BE49-F238E27FC236}">
                <a16:creationId xmlns:a16="http://schemas.microsoft.com/office/drawing/2014/main" id="{74177972-4031-4B8C-B23D-C52389287AF2}"/>
              </a:ext>
            </a:extLst>
          </p:cNvPr>
          <p:cNvSpPr>
            <a:spLocks xmlns:a="http://schemas.openxmlformats.org/drawingml/2006/main" noGrp="1"/>
          </p:cNvSpPr>
          <p:nvPr/>
        </p:nvSpPr>
        <p:spPr>
          <a:xfrm xmlns:a="http://schemas.openxmlformats.org/drawingml/2006/main">
            <a:off x="7381875" y="2314575"/>
            <a:ext cx="2762250" cy="2133600"/>
          </a:xfrm>
          <a:prstGeom xmlns:a="http://schemas.openxmlformats.org/drawingml/2006/main" prst="ellipse">
            <a:avLst/>
          </a:prstGeom>
          <a:noFill xmlns:a="http://schemas.openxmlformats.org/drawingml/2006/main"/>
          <a:ln xmlns:a="http://schemas.openxmlformats.org/drawingml/2006/main" w="19050">
            <a:solidFill>
              <a:srgbClr val="76D7D1"/>
            </a:solidFill>
            <a:prstDash val="solid"/>
          </a:ln>
        </p:spPr>
      </p:sp>
      <p:sp>
        <p:nvSpPr>
          <p:cNvPr id="20" name="">
            <a:extLst xmlns:a="http://schemas.openxmlformats.org/drawingml/2006/main">
              <a:ext uri="{FF2B5EF4-FFF2-40B4-BE49-F238E27FC236}">
                <a16:creationId xmlns:a16="http://schemas.microsoft.com/office/drawing/2014/main" id="{B15440FC-45F9-4288-98DA-9EE8FC2DC64C}"/>
              </a:ext>
            </a:extLst>
          </p:cNvPr>
          <p:cNvSpPr>
            <a:spLocks xmlns:a="http://schemas.openxmlformats.org/drawingml/2006/main" noGrp="1"/>
          </p:cNvSpPr>
          <p:nvPr/>
        </p:nvSpPr>
        <p:spPr>
          <a:xfrm xmlns:a="http://schemas.openxmlformats.org/drawingml/2006/main">
            <a:off x="7620000" y="2486025"/>
            <a:ext cx="2286000" cy="1790700"/>
          </a:xfrm>
          <a:prstGeom xmlns:a="http://schemas.openxmlformats.org/drawingml/2006/main" prst="ellipse">
            <a:avLst/>
          </a:prstGeom>
          <a:noFill xmlns:a="http://schemas.openxmlformats.org/drawingml/2006/main"/>
          <a:ln xmlns:a="http://schemas.openxmlformats.org/drawingml/2006/main" w="19050">
            <a:solidFill>
              <a:srgbClr val="10A7A5"/>
            </a:solidFill>
            <a:prstDash val="solid"/>
          </a:ln>
        </p:spPr>
      </p:sp>
      <p:sp>
        <p:nvSpPr>
          <p:cNvPr id="21" name="">
            <a:extLst xmlns:a="http://schemas.openxmlformats.org/drawingml/2006/main">
              <a:ext uri="{FF2B5EF4-FFF2-40B4-BE49-F238E27FC236}">
                <a16:creationId xmlns:a16="http://schemas.microsoft.com/office/drawing/2014/main" id="{2A77C2BC-E0C1-4501-B1E3-0AB389EDA2BF}"/>
              </a:ext>
            </a:extLst>
          </p:cNvPr>
          <p:cNvSpPr>
            <a:spLocks xmlns:a="http://schemas.openxmlformats.org/drawingml/2006/main" noGrp="1"/>
          </p:cNvSpPr>
          <p:nvPr/>
        </p:nvSpPr>
        <p:spPr>
          <a:xfrm xmlns:a="http://schemas.openxmlformats.org/drawingml/2006/main">
            <a:off x="7858125" y="2657475"/>
            <a:ext cx="1809750" cy="1447800"/>
          </a:xfrm>
          <a:prstGeom xmlns:a="http://schemas.openxmlformats.org/drawingml/2006/main" prst="ellipse">
            <a:avLst/>
          </a:prstGeom>
          <a:noFill xmlns:a="http://schemas.openxmlformats.org/drawingml/2006/main"/>
          <a:ln xmlns:a="http://schemas.openxmlformats.org/drawingml/2006/main" w="19050">
            <a:solidFill>
              <a:srgbClr val="76D7D1"/>
            </a:solidFill>
            <a:prstDash val="solid"/>
          </a:ln>
        </p:spPr>
      </p:sp>
      <p:sp>
        <p:nvSpPr>
          <p:cNvPr id="22" name="">
            <a:extLst xmlns:a="http://schemas.openxmlformats.org/drawingml/2006/main">
              <a:ext uri="{FF2B5EF4-FFF2-40B4-BE49-F238E27FC236}">
                <a16:creationId xmlns:a16="http://schemas.microsoft.com/office/drawing/2014/main" id="{59942179-3E01-4027-8789-92632F3C7E74}"/>
              </a:ext>
            </a:extLst>
          </p:cNvPr>
          <p:cNvSpPr>
            <a:spLocks xmlns:a="http://schemas.openxmlformats.org/drawingml/2006/main" noGrp="1"/>
          </p:cNvSpPr>
          <p:nvPr/>
        </p:nvSpPr>
        <p:spPr>
          <a:xfrm xmlns:a="http://schemas.openxmlformats.org/drawingml/2006/main">
            <a:off x="8096250" y="2828925"/>
            <a:ext cx="1333500" cy="1104900"/>
          </a:xfrm>
          <a:prstGeom xmlns:a="http://schemas.openxmlformats.org/drawingml/2006/main" prst="ellipse">
            <a:avLst/>
          </a:prstGeom>
          <a:noFill xmlns:a="http://schemas.openxmlformats.org/drawingml/2006/main"/>
          <a:ln xmlns:a="http://schemas.openxmlformats.org/drawingml/2006/main" w="19050">
            <a:solidFill>
              <a:srgbClr val="76D7D1"/>
            </a:solidFill>
            <a:prstDash val="solid"/>
          </a:ln>
        </p:spPr>
      </p:sp>
      <p:sp>
        <p:nvSpPr>
          <p:cNvPr id="23" name="">
            <a:extLst xmlns:a="http://schemas.openxmlformats.org/drawingml/2006/main">
              <a:ext uri="{FF2B5EF4-FFF2-40B4-BE49-F238E27FC236}">
                <a16:creationId xmlns:a16="http://schemas.microsoft.com/office/drawing/2014/main" id="{4AC68D59-798E-406E-B7A8-978405FA29F9}"/>
              </a:ext>
            </a:extLst>
          </p:cNvPr>
          <p:cNvSpPr>
            <a:spLocks xmlns:a="http://schemas.openxmlformats.org/drawingml/2006/main" noGrp="1"/>
          </p:cNvSpPr>
          <p:nvPr/>
        </p:nvSpPr>
        <p:spPr>
          <a:xfrm xmlns:a="http://schemas.openxmlformats.org/drawingml/2006/main">
            <a:off x="7458075" y="2409825"/>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060A012-C978-46C2-A986-D5E84BEB8C9C}"/>
              </a:ext>
            </a:extLst>
          </p:cNvPr>
          <p:cNvSpPr>
            <a:spLocks xmlns:a="http://schemas.openxmlformats.org/drawingml/2006/main" noGrp="1"/>
          </p:cNvSpPr>
          <p:nvPr/>
        </p:nvSpPr>
        <p:spPr>
          <a:xfrm xmlns:a="http://schemas.openxmlformats.org/drawingml/2006/main">
            <a:off x="7981950" y="2933700"/>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5D88F41-031A-47FE-A454-49ED39DFCDFA}"/>
              </a:ext>
            </a:extLst>
          </p:cNvPr>
          <p:cNvSpPr>
            <a:spLocks xmlns:a="http://schemas.openxmlformats.org/drawingml/2006/main" noGrp="1"/>
          </p:cNvSpPr>
          <p:nvPr/>
        </p:nvSpPr>
        <p:spPr>
          <a:xfrm xmlns:a="http://schemas.openxmlformats.org/drawingml/2006/main">
            <a:off x="8410575" y="3314700"/>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FAB315B-AF2B-4222-BE48-2A50CFC1E269}"/>
              </a:ext>
            </a:extLst>
          </p:cNvPr>
          <p:cNvSpPr>
            <a:spLocks xmlns:a="http://schemas.openxmlformats.org/drawingml/2006/main" noGrp="1"/>
          </p:cNvSpPr>
          <p:nvPr/>
        </p:nvSpPr>
        <p:spPr>
          <a:xfrm xmlns:a="http://schemas.openxmlformats.org/drawingml/2006/main">
            <a:off x="8743950" y="3600450"/>
            <a:ext cx="133350" cy="1333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0028262-D16D-4792-86A9-C2D4B59A3DB9}"/>
              </a:ext>
            </a:extLst>
          </p:cNvPr>
          <p:cNvSpPr>
            <a:spLocks xmlns:a="http://schemas.openxmlformats.org/drawingml/2006/main" noGrp="1"/>
          </p:cNvSpPr>
          <p:nvPr/>
        </p:nvSpPr>
        <p:spPr>
          <a:xfrm xmlns:a="http://schemas.openxmlformats.org/drawingml/2006/main">
            <a:off x="6572250" y="49530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700" b="1" i="0">
                <a:solidFill>
                  <a:srgbClr val="FFFFFF"/>
                </a:solidFill>
                <a:latin typeface="Arial"/>
                <a:ea typeface="Arial"/>
                <a:cs typeface="Arial"/>
              </a:defRPr>
            </a:pPr>
            <a:r>
              <a:rPr sz="2700" b="1" i="0">
                <a:solidFill>
                  <a:srgbClr val="FFFFFF"/>
                </a:solidFill>
                <a:latin typeface="Arial"/>
                <a:ea typeface="Arial"/>
                <a:cs typeface="Arial"/>
              </a:rPr>
              <a:t>x′ᵢⱼ = (xᵢⱼ − μⱼ) / sⱼ</a:t>
            </a:r>
          </a:p>
        </p:txBody>
      </p:sp>
      <p:sp>
        <p:nvSpPr>
          <p:cNvPr id="28" name="">
            <a:extLst xmlns:a="http://schemas.openxmlformats.org/drawingml/2006/main">
              <a:ext uri="{FF2B5EF4-FFF2-40B4-BE49-F238E27FC236}">
                <a16:creationId xmlns:a16="http://schemas.microsoft.com/office/drawing/2014/main" id="{53D72C8E-C631-474F-9C30-E0A4D037F783}"/>
              </a:ext>
            </a:extLst>
          </p:cNvPr>
          <p:cNvSpPr>
            <a:spLocks xmlns:a="http://schemas.openxmlformats.org/drawingml/2006/main" noGrp="1"/>
          </p:cNvSpPr>
          <p:nvPr/>
        </p:nvSpPr>
        <p:spPr>
          <a:xfrm xmlns:a="http://schemas.openxmlformats.org/drawingml/2006/main">
            <a:off x="2714625" y="57626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F2B84B"/>
                </a:solidFill>
                <a:latin typeface="Arial"/>
                <a:ea typeface="Arial"/>
                <a:cs typeface="Arial"/>
              </a:defRPr>
            </a:pPr>
            <a:r>
              <a:rPr sz="2025" b="1" i="0">
                <a:solidFill>
                  <a:srgbClr val="F2B84B"/>
                </a:solidFill>
                <a:latin typeface="Arial"/>
                <a:ea typeface="Arial"/>
                <a:cs typeface="Arial"/>
              </a:rPr>
              <a:t>Fit μ and s on training data. Reuse them unchanged.</a:t>
            </a:r>
          </a:p>
        </p:txBody>
      </p:sp>
    </p:spTree>
    <p:extLst>
      <p:ext uri="{BB962C8B-B14F-4D97-AF65-F5344CB8AC3E}">
        <p14:creationId xmlns:p14="http://schemas.microsoft.com/office/powerpoint/2010/main" val="1795829511"/>
      </p:ext>
    </p:extLst>
  </p:cSld>
</p:sld>
</file>

<file path=ppt/slides/slide1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2B0A31-606D-46D2-8CF9-17FAA6D50B6E}"/>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Training, validation, and test roles</a:t>
            </a:r>
          </a:p>
        </p:txBody>
      </p:sp>
      <p:sp>
        <p:nvSpPr>
          <p:cNvPr id="2" name="">
            <a:extLst xmlns:a="http://schemas.openxmlformats.org/drawingml/2006/main">
              <a:ext uri="{FF2B5EF4-FFF2-40B4-BE49-F238E27FC236}">
                <a16:creationId xmlns:a16="http://schemas.microsoft.com/office/drawing/2014/main" id="{C420FB49-ED73-44B4-818F-6DA477306D15}"/>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6721E9-394C-4D62-A0CF-0FE82FB7E3F8}"/>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BF35B5F9-DDC4-4D9F-BABE-FE3BEB901A70}"/>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16</a:t>
            </a:r>
          </a:p>
        </p:txBody>
      </p:sp>
      <p:graphicFrame>
        <p:nvGraphicFramePr>
          <p:cNvPr id="12" name=""/>
          <p:cNvGraphicFramePr/>
          <p:nvPr/>
        </p:nvGraphicFramePr>
        <p:xfrm>
          <a:off xmlns:a="http://schemas.openxmlformats.org/drawingml/2006/main" x="857250" y="1666875"/>
          <a:ext xmlns:a="http://schemas.openxmlformats.org/drawingml/2006/main" cx="10477500" cy="3238500"/>
        </p:xfrm>
        <a:graphic xmlns:a="http://schemas.openxmlformats.org/drawingml/2006/main">
          <a:graphicData uri="http://schemas.openxmlformats.org/drawingml/2006/table">
            <a:tbl>
              <a:tblPr/>
              <a:tblGrid>
                <a:gridCol w="2190750"/>
                <a:gridCol w="3429000"/>
                <a:gridCol w="4857750"/>
              </a:tblGrid>
              <a:tr h="809625">
                <a:tc>
                  <a:txBody>
                    <a:bodyPr/>
                    <a:lstStyle/>
                    <a:p>
                      <a:pPr algn="l"/>
                      <a:r>
                        <a:rPr sz="1650" b="1">
                          <a:solidFill>
                            <a:srgbClr val="FFFFFF"/>
                          </a:solidFill>
                          <a:latin typeface="Arial"/>
                          <a:ea typeface="Arial"/>
                          <a:cs typeface="Arial"/>
                        </a:rPr>
                        <a:t>Split</a:t>
                      </a:r>
                    </a:p>
                  </a:txBody>
                  <a:tcPr marL="91440" marR="91440" marT="45720" marB="45720">
                    <a:solidFill>
                      <a:srgbClr val="0B1F33"/>
                    </a:solidFill>
                  </a:tcPr>
                </a:tc>
                <a:tc>
                  <a:txBody>
                    <a:bodyPr/>
                    <a:lstStyle/>
                    <a:p>
                      <a:pPr algn="ctr"/>
                      <a:r>
                        <a:rPr sz="1650" b="1">
                          <a:solidFill>
                            <a:srgbClr val="FFFFFF"/>
                          </a:solidFill>
                          <a:latin typeface="Arial"/>
                          <a:ea typeface="Arial"/>
                          <a:cs typeface="Arial"/>
                        </a:rPr>
                        <a:t>Purpose</a:t>
                      </a:r>
                    </a:p>
                  </a:txBody>
                  <a:tcPr marL="91440" marR="91440" marT="45720" marB="45720">
                    <a:solidFill>
                      <a:srgbClr val="0B1F33"/>
                    </a:solidFill>
                  </a:tcPr>
                </a:tc>
                <a:tc>
                  <a:txBody>
                    <a:bodyPr/>
                    <a:lstStyle/>
                    <a:p>
                      <a:pPr algn="ctr"/>
                      <a:r>
                        <a:rPr sz="1650" b="1">
                          <a:solidFill>
                            <a:srgbClr val="FFFFFF"/>
                          </a:solidFill>
                          <a:latin typeface="Arial"/>
                          <a:ea typeface="Arial"/>
                          <a:cs typeface="Arial"/>
                        </a:rPr>
                        <a:t>Permitted decisions</a:t>
                      </a:r>
                    </a:p>
                  </a:txBody>
                  <a:tcPr marL="91440" marR="91440" marT="45720" marB="45720">
                    <a:solidFill>
                      <a:srgbClr val="0B1F33"/>
                    </a:solidFill>
                  </a:tcPr>
                </a:tc>
              </a:tr>
              <a:tr h="809625">
                <a:tc>
                  <a:txBody>
                    <a:bodyPr/>
                    <a:lstStyle/>
                    <a:p>
                      <a:pPr algn="l"/>
                      <a:r>
                        <a:rPr sz="1650" b="1">
                          <a:solidFill>
                            <a:srgbClr val="0B1F33"/>
                          </a:solidFill>
                          <a:latin typeface="Arial"/>
                          <a:ea typeface="Arial"/>
                          <a:cs typeface="Arial"/>
                        </a:rPr>
                        <a:t>Training</a:t>
                      </a:r>
                    </a:p>
                  </a:txBody>
                  <a:tcPr marL="91440" marR="91440" marT="45720" marB="45720">
                    <a:solidFill>
                      <a:srgbClr val="FFFFFF"/>
                    </a:solidFill>
                  </a:tcPr>
                </a:tc>
                <a:tc>
                  <a:txBody>
                    <a:bodyPr/>
                    <a:lstStyle/>
                    <a:p>
                      <a:pPr algn="ctr"/>
                      <a:r>
                        <a:rPr sz="1650" b="0">
                          <a:solidFill>
                            <a:srgbClr val="172B3A"/>
                          </a:solidFill>
                          <a:latin typeface="Arial"/>
                          <a:ea typeface="Arial"/>
                          <a:cs typeface="Arial"/>
                        </a:rPr>
                        <a:t>estimate parameters</a:t>
                      </a:r>
                    </a:p>
                  </a:txBody>
                  <a:tcPr marL="91440" marR="91440" marT="45720" marB="45720">
                    <a:solidFill>
                      <a:srgbClr val="FFFFFF"/>
                    </a:solidFill>
                  </a:tcPr>
                </a:tc>
                <a:tc>
                  <a:txBody>
                    <a:bodyPr/>
                    <a:lstStyle/>
                    <a:p>
                      <a:pPr algn="ctr"/>
                      <a:r>
                        <a:rPr sz="1650" b="0">
                          <a:solidFill>
                            <a:srgbClr val="172B3A"/>
                          </a:solidFill>
                          <a:latin typeface="Arial"/>
                          <a:ea typeface="Arial"/>
                          <a:cs typeface="Arial"/>
                        </a:rPr>
                        <a:t>gradient updates; fitted preprocessing</a:t>
                      </a:r>
                    </a:p>
                  </a:txBody>
                  <a:tcPr marL="91440" marR="91440" marT="45720" marB="45720">
                    <a:solidFill>
                      <a:srgbClr val="FFFFFF"/>
                    </a:solidFill>
                  </a:tcPr>
                </a:tc>
              </a:tr>
              <a:tr h="809625">
                <a:tc>
                  <a:txBody>
                    <a:bodyPr/>
                    <a:lstStyle/>
                    <a:p>
                      <a:pPr algn="l"/>
                      <a:r>
                        <a:rPr sz="1650" b="1">
                          <a:solidFill>
                            <a:srgbClr val="0B1F33"/>
                          </a:solidFill>
                          <a:latin typeface="Arial"/>
                          <a:ea typeface="Arial"/>
                          <a:cs typeface="Arial"/>
                        </a:rPr>
                        <a:t>Validation</a:t>
                      </a:r>
                    </a:p>
                  </a:txBody>
                  <a:tcPr marL="91440" marR="91440" marT="45720" marB="45720">
                    <a:solidFill>
                      <a:srgbClr val="E9F2F1"/>
                    </a:solidFill>
                  </a:tcPr>
                </a:tc>
                <a:tc>
                  <a:txBody>
                    <a:bodyPr/>
                    <a:lstStyle/>
                    <a:p>
                      <a:pPr algn="ctr"/>
                      <a:r>
                        <a:rPr sz="1650" b="0">
                          <a:solidFill>
                            <a:srgbClr val="172B3A"/>
                          </a:solidFill>
                          <a:latin typeface="Arial"/>
                          <a:ea typeface="Arial"/>
                          <a:cs typeface="Arial"/>
                        </a:rPr>
                        <a:t>select configuration</a:t>
                      </a:r>
                    </a:p>
                  </a:txBody>
                  <a:tcPr marL="91440" marR="91440" marT="45720" marB="45720">
                    <a:solidFill>
                      <a:srgbClr val="E9F2F1"/>
                    </a:solidFill>
                  </a:tcPr>
                </a:tc>
                <a:tc>
                  <a:txBody>
                    <a:bodyPr/>
                    <a:lstStyle/>
                    <a:p>
                      <a:pPr algn="ctr"/>
                      <a:r>
                        <a:rPr sz="1650" b="0">
                          <a:solidFill>
                            <a:srgbClr val="172B3A"/>
                          </a:solidFill>
                          <a:latin typeface="Arial"/>
                          <a:ea typeface="Arial"/>
                          <a:cs typeface="Arial"/>
                        </a:rPr>
                        <a:t>learning rate; stopping; threshold</a:t>
                      </a:r>
                    </a:p>
                  </a:txBody>
                  <a:tcPr marL="91440" marR="91440" marT="45720" marB="45720">
                    <a:solidFill>
                      <a:srgbClr val="E9F2F1"/>
                    </a:solidFill>
                  </a:tcPr>
                </a:tc>
              </a:tr>
              <a:tr h="809625">
                <a:tc>
                  <a:txBody>
                    <a:bodyPr/>
                    <a:lstStyle/>
                    <a:p>
                      <a:pPr algn="l"/>
                      <a:r>
                        <a:rPr sz="1650" b="1">
                          <a:solidFill>
                            <a:srgbClr val="0B1F33"/>
                          </a:solidFill>
                          <a:latin typeface="Arial"/>
                          <a:ea typeface="Arial"/>
                          <a:cs typeface="Arial"/>
                        </a:rPr>
                        <a:t>Test</a:t>
                      </a:r>
                    </a:p>
                  </a:txBody>
                  <a:tcPr marL="91440" marR="91440" marT="45720" marB="45720">
                    <a:solidFill>
                      <a:srgbClr val="FFFFFF"/>
                    </a:solidFill>
                  </a:tcPr>
                </a:tc>
                <a:tc>
                  <a:txBody>
                    <a:bodyPr/>
                    <a:lstStyle/>
                    <a:p>
                      <a:pPr algn="ctr"/>
                      <a:r>
                        <a:rPr sz="1650" b="0">
                          <a:solidFill>
                            <a:srgbClr val="172B3A"/>
                          </a:solidFill>
                          <a:latin typeface="Arial"/>
                          <a:ea typeface="Arial"/>
                          <a:cs typeface="Arial"/>
                        </a:rPr>
                        <a:t>final evaluation</a:t>
                      </a:r>
                    </a:p>
                  </a:txBody>
                  <a:tcPr marL="91440" marR="91440" marT="45720" marB="45720">
                    <a:solidFill>
                      <a:srgbClr val="FFFFFF"/>
                    </a:solidFill>
                  </a:tcPr>
                </a:tc>
                <a:tc>
                  <a:txBody>
                    <a:bodyPr/>
                    <a:lstStyle/>
                    <a:p>
                      <a:pPr algn="ctr"/>
                      <a:r>
                        <a:rPr sz="1650" b="0">
                          <a:solidFill>
                            <a:srgbClr val="172B3A"/>
                          </a:solidFill>
                          <a:latin typeface="Arial"/>
                          <a:ea typeface="Arial"/>
                          <a:cs typeface="Arial"/>
                        </a:rPr>
                        <a:t>none after viewing the result</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B91A85-E93F-416A-A7C1-6053AAEA1F69}"/>
              </a:ext>
            </a:extLst>
          </p:cNvPr>
          <p:cNvSpPr>
            <a:spLocks xmlns:a="http://schemas.openxmlformats.org/drawingml/2006/main" noGrp="1"/>
          </p:cNvSpPr>
          <p:nvPr/>
        </p:nvSpPr>
        <p:spPr>
          <a:xfrm xmlns:a="http://schemas.openxmlformats.org/drawingml/2006/main">
            <a:off x="1666875" y="5334000"/>
            <a:ext cx="885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85"/>
          </a:bodyPr>
          <a:lstStyle xmlns:a="http://schemas.openxmlformats.org/drawingml/2006/main"/>
          <a:p xmlns:a="http://schemas.openxmlformats.org/drawingml/2006/main">
            <a:pPr algn="ctr">
              <a:defRPr sz="2250" b="1" i="0">
                <a:solidFill>
                  <a:srgbClr val="0B1F33"/>
                </a:solidFill>
                <a:latin typeface="Arial"/>
                <a:ea typeface="Arial"/>
                <a:cs typeface="Arial"/>
              </a:defRPr>
            </a:pPr>
            <a:r>
              <a:rPr sz="2250" b="1" i="0">
                <a:solidFill>
                  <a:srgbClr val="0B1F33"/>
                </a:solidFill>
                <a:latin typeface="Arial"/>
                <a:ea typeface="Arial"/>
                <a:cs typeface="Arial"/>
              </a:rPr>
              <a:t>Declare candidates and the selection rule before comparing validation results.</a:t>
            </a:r>
          </a:p>
        </p:txBody>
      </p:sp>
      <p:sp>
        <p:nvSpPr>
          <p:cNvPr id="7" name="">
            <a:extLst xmlns:a="http://schemas.openxmlformats.org/drawingml/2006/main">
              <a:ext uri="{FF2B5EF4-FFF2-40B4-BE49-F238E27FC236}">
                <a16:creationId xmlns:a16="http://schemas.microsoft.com/office/drawing/2014/main" id="{265BB111-13D0-41FD-AC6A-3BA141F56B95}"/>
              </a:ext>
            </a:extLst>
          </p:cNvPr>
          <p:cNvSpPr>
            <a:spLocks xmlns:a="http://schemas.openxmlformats.org/drawingml/2006/main" noGrp="1"/>
          </p:cNvSpPr>
          <p:nvPr/>
        </p:nvSpPr>
        <p:spPr>
          <a:xfrm xmlns:a="http://schemas.openxmlformats.org/drawingml/2006/main">
            <a:off x="2905125" y="5905500"/>
            <a:ext cx="638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10A7A5"/>
                </a:solidFill>
                <a:latin typeface="Arial"/>
                <a:ea typeface="Arial"/>
                <a:cs typeface="Arial"/>
              </a:defRPr>
            </a:pPr>
            <a:r>
              <a:rPr sz="1875" b="1" i="0">
                <a:solidFill>
                  <a:srgbClr val="10A7A5"/>
                </a:solidFill>
                <a:latin typeface="Arial"/>
                <a:ea typeface="Arial"/>
                <a:cs typeface="Arial"/>
              </a:rPr>
              <a:t>Report the test result once for the selected procedure.</a:t>
            </a:r>
          </a:p>
        </p:txBody>
      </p:sp>
    </p:spTree>
    <p:extLst>
      <p:ext uri="{BB962C8B-B14F-4D97-AF65-F5344CB8AC3E}">
        <p14:creationId xmlns:p14="http://schemas.microsoft.com/office/powerpoint/2010/main" val="169064471"/>
      </p:ext>
    </p:extLst>
  </p:cSld>
</p:sld>
</file>

<file path=ppt/slides/slide1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EBF05AA-A17D-4C3B-9162-AB644AF1868A}"/>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Stopping and diagnostics</a:t>
            </a:r>
          </a:p>
        </p:txBody>
      </p:sp>
      <p:sp>
        <p:nvSpPr>
          <p:cNvPr id="2" name="">
            <a:extLst xmlns:a="http://schemas.openxmlformats.org/drawingml/2006/main">
              <a:ext uri="{FF2B5EF4-FFF2-40B4-BE49-F238E27FC236}">
                <a16:creationId xmlns:a16="http://schemas.microsoft.com/office/drawing/2014/main" id="{0C066CCD-A2BD-4C7A-AD85-AE9CCCA7D81B}"/>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5B26F7-8137-40AE-819F-20D0D74B0E30}"/>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63632C35-4275-4076-A139-4221553683AA}"/>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FEFB4AF3-35B7-4573-881D-655525465E87}"/>
              </a:ext>
            </a:extLst>
          </p:cNvPr>
          <p:cNvSpPr>
            <a:spLocks xmlns:a="http://schemas.openxmlformats.org/drawingml/2006/main" noGrp="1"/>
          </p:cNvSpPr>
          <p:nvPr/>
        </p:nvSpPr>
        <p:spPr>
          <a:xfrm xmlns:a="http://schemas.openxmlformats.org/drawingml/2006/main">
            <a:off x="762000" y="147637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0A7A5"/>
                </a:solidFill>
                <a:latin typeface="Arial"/>
                <a:ea typeface="Arial"/>
                <a:cs typeface="Arial"/>
              </a:defRPr>
            </a:pPr>
            <a:r>
              <a:rPr sz="1350" b="1" i="0">
                <a:solidFill>
                  <a:srgbClr val="10A7A5"/>
                </a:solidFill>
                <a:latin typeface="Arial"/>
                <a:ea typeface="Arial"/>
                <a:cs typeface="Arial"/>
              </a:rPr>
              <a:t>ALWAYS RECORD</a:t>
            </a:r>
          </a:p>
        </p:txBody>
      </p:sp>
      <p:sp>
        <p:nvSpPr>
          <p:cNvPr id="6" name="">
            <a:extLst xmlns:a="http://schemas.openxmlformats.org/drawingml/2006/main">
              <a:ext uri="{FF2B5EF4-FFF2-40B4-BE49-F238E27FC236}">
                <a16:creationId xmlns:a16="http://schemas.microsoft.com/office/drawing/2014/main" id="{A50C62C6-DCD0-4D29-82ED-78A545658849}"/>
              </a:ext>
            </a:extLst>
          </p:cNvPr>
          <p:cNvSpPr>
            <a:spLocks xmlns:a="http://schemas.openxmlformats.org/drawingml/2006/main" noGrp="1"/>
          </p:cNvSpPr>
          <p:nvPr/>
        </p:nvSpPr>
        <p:spPr>
          <a:xfrm xmlns:a="http://schemas.openxmlformats.org/drawingml/2006/main">
            <a:off x="762000" y="205740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41FADB-69CD-4DC9-A1C7-9D09DECBF4DA}"/>
              </a:ext>
            </a:extLst>
          </p:cNvPr>
          <p:cNvSpPr>
            <a:spLocks xmlns:a="http://schemas.openxmlformats.org/drawingml/2006/main" noGrp="1"/>
          </p:cNvSpPr>
          <p:nvPr/>
        </p:nvSpPr>
        <p:spPr>
          <a:xfrm xmlns:a="http://schemas.openxmlformats.org/drawingml/2006/main">
            <a:off x="1028700" y="19526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initial and final objective</a:t>
            </a:r>
          </a:p>
        </p:txBody>
      </p:sp>
      <p:sp>
        <p:nvSpPr>
          <p:cNvPr id="8" name="">
            <a:extLst xmlns:a="http://schemas.openxmlformats.org/drawingml/2006/main">
              <a:ext uri="{FF2B5EF4-FFF2-40B4-BE49-F238E27FC236}">
                <a16:creationId xmlns:a16="http://schemas.microsoft.com/office/drawing/2014/main" id="{B5A9939C-738E-4AD1-B644-4B9CBB81368E}"/>
              </a:ext>
            </a:extLst>
          </p:cNvPr>
          <p:cNvSpPr>
            <a:spLocks xmlns:a="http://schemas.openxmlformats.org/drawingml/2006/main" noGrp="1"/>
          </p:cNvSpPr>
          <p:nvPr/>
        </p:nvSpPr>
        <p:spPr>
          <a:xfrm xmlns:a="http://schemas.openxmlformats.org/drawingml/2006/main">
            <a:off x="762000" y="262890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2830B4-068B-4145-8DB7-4E24AF16C577}"/>
              </a:ext>
            </a:extLst>
          </p:cNvPr>
          <p:cNvSpPr>
            <a:spLocks xmlns:a="http://schemas.openxmlformats.org/drawingml/2006/main" noGrp="1"/>
          </p:cNvSpPr>
          <p:nvPr/>
        </p:nvSpPr>
        <p:spPr>
          <a:xfrm xmlns:a="http://schemas.openxmlformats.org/drawingml/2006/main">
            <a:off x="1028700" y="25241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full loss history</a:t>
            </a:r>
          </a:p>
        </p:txBody>
      </p:sp>
      <p:sp>
        <p:nvSpPr>
          <p:cNvPr id="10" name="">
            <a:extLst xmlns:a="http://schemas.openxmlformats.org/drawingml/2006/main">
              <a:ext uri="{FF2B5EF4-FFF2-40B4-BE49-F238E27FC236}">
                <a16:creationId xmlns:a16="http://schemas.microsoft.com/office/drawing/2014/main" id="{F5942F36-3ED7-4E56-8187-75F4D71C6EBF}"/>
              </a:ext>
            </a:extLst>
          </p:cNvPr>
          <p:cNvSpPr>
            <a:spLocks xmlns:a="http://schemas.openxmlformats.org/drawingml/2006/main" noGrp="1"/>
          </p:cNvSpPr>
          <p:nvPr/>
        </p:nvSpPr>
        <p:spPr>
          <a:xfrm xmlns:a="http://schemas.openxmlformats.org/drawingml/2006/main">
            <a:off x="762000" y="320040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845816-597B-488B-8155-DA5664A6CACB}"/>
              </a:ext>
            </a:extLst>
          </p:cNvPr>
          <p:cNvSpPr>
            <a:spLocks xmlns:a="http://schemas.openxmlformats.org/drawingml/2006/main" noGrp="1"/>
          </p:cNvSpPr>
          <p:nvPr/>
        </p:nvSpPr>
        <p:spPr>
          <a:xfrm xmlns:a="http://schemas.openxmlformats.org/drawingml/2006/main">
            <a:off x="1028700" y="30956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update and example counts</a:t>
            </a:r>
          </a:p>
        </p:txBody>
      </p:sp>
      <p:sp>
        <p:nvSpPr>
          <p:cNvPr id="12" name="">
            <a:extLst xmlns:a="http://schemas.openxmlformats.org/drawingml/2006/main">
              <a:ext uri="{FF2B5EF4-FFF2-40B4-BE49-F238E27FC236}">
                <a16:creationId xmlns:a16="http://schemas.microsoft.com/office/drawing/2014/main" id="{8014A7EA-C992-42D6-9080-57B40BAC3A8A}"/>
              </a:ext>
            </a:extLst>
          </p:cNvPr>
          <p:cNvSpPr>
            <a:spLocks xmlns:a="http://schemas.openxmlformats.org/drawingml/2006/main" noGrp="1"/>
          </p:cNvSpPr>
          <p:nvPr/>
        </p:nvSpPr>
        <p:spPr>
          <a:xfrm xmlns:a="http://schemas.openxmlformats.org/drawingml/2006/main">
            <a:off x="762000" y="377190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B60ED80-0415-46F1-A51B-314D6086A3A4}"/>
              </a:ext>
            </a:extLst>
          </p:cNvPr>
          <p:cNvSpPr>
            <a:spLocks xmlns:a="http://schemas.openxmlformats.org/drawingml/2006/main" noGrp="1"/>
          </p:cNvSpPr>
          <p:nvPr/>
        </p:nvSpPr>
        <p:spPr>
          <a:xfrm xmlns:a="http://schemas.openxmlformats.org/drawingml/2006/main">
            <a:off x="1028700" y="36671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validation selection score</a:t>
            </a:r>
          </a:p>
        </p:txBody>
      </p:sp>
      <p:sp>
        <p:nvSpPr>
          <p:cNvPr id="14" name="">
            <a:extLst xmlns:a="http://schemas.openxmlformats.org/drawingml/2006/main">
              <a:ext uri="{FF2B5EF4-FFF2-40B4-BE49-F238E27FC236}">
                <a16:creationId xmlns:a16="http://schemas.microsoft.com/office/drawing/2014/main" id="{BAF677B3-0F28-41DA-835C-9FC312E72B90}"/>
              </a:ext>
            </a:extLst>
          </p:cNvPr>
          <p:cNvSpPr>
            <a:spLocks xmlns:a="http://schemas.openxmlformats.org/drawingml/2006/main" noGrp="1"/>
          </p:cNvSpPr>
          <p:nvPr/>
        </p:nvSpPr>
        <p:spPr>
          <a:xfrm xmlns:a="http://schemas.openxmlformats.org/drawingml/2006/main">
            <a:off x="762000" y="434340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776D2E-2DEB-4846-A7A5-23C43F0756C3}"/>
              </a:ext>
            </a:extLst>
          </p:cNvPr>
          <p:cNvSpPr>
            <a:spLocks xmlns:a="http://schemas.openxmlformats.org/drawingml/2006/main" noGrp="1"/>
          </p:cNvSpPr>
          <p:nvPr/>
        </p:nvSpPr>
        <p:spPr>
          <a:xfrm xmlns:a="http://schemas.openxmlformats.org/drawingml/2006/main">
            <a:off x="1028700" y="42386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finite-value failures</a:t>
            </a:r>
          </a:p>
        </p:txBody>
      </p:sp>
      <p:sp>
        <p:nvSpPr>
          <p:cNvPr id="16" name="">
            <a:extLst xmlns:a="http://schemas.openxmlformats.org/drawingml/2006/main">
              <a:ext uri="{FF2B5EF4-FFF2-40B4-BE49-F238E27FC236}">
                <a16:creationId xmlns:a16="http://schemas.microsoft.com/office/drawing/2014/main" id="{D7047427-BB9D-4756-9469-F215E93F78FF}"/>
              </a:ext>
            </a:extLst>
          </p:cNvPr>
          <p:cNvSpPr>
            <a:spLocks xmlns:a="http://schemas.openxmlformats.org/drawingml/2006/main" noGrp="1"/>
          </p:cNvSpPr>
          <p:nvPr/>
        </p:nvSpPr>
        <p:spPr>
          <a:xfrm xmlns:a="http://schemas.openxmlformats.org/drawingml/2006/main">
            <a:off x="762000" y="4914900"/>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55BBC96-76E5-424F-9344-FC608F59B4B3}"/>
              </a:ext>
            </a:extLst>
          </p:cNvPr>
          <p:cNvSpPr>
            <a:spLocks xmlns:a="http://schemas.openxmlformats.org/drawingml/2006/main" noGrp="1"/>
          </p:cNvSpPr>
          <p:nvPr/>
        </p:nvSpPr>
        <p:spPr>
          <a:xfrm xmlns:a="http://schemas.openxmlformats.org/drawingml/2006/main">
            <a:off x="1028700" y="48101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stopping reason</a:t>
            </a:r>
          </a:p>
        </p:txBody>
      </p:sp>
      <p:sp>
        <p:nvSpPr>
          <p:cNvPr id="18" name="">
            <a:extLst xmlns:a="http://schemas.openxmlformats.org/drawingml/2006/main">
              <a:ext uri="{FF2B5EF4-FFF2-40B4-BE49-F238E27FC236}">
                <a16:creationId xmlns:a16="http://schemas.microsoft.com/office/drawing/2014/main" id="{E536B4A6-79F4-4522-BA38-CFF6F543814E}"/>
              </a:ext>
            </a:extLst>
          </p:cNvPr>
          <p:cNvSpPr>
            <a:spLocks xmlns:a="http://schemas.openxmlformats.org/drawingml/2006/main" noGrp="1"/>
          </p:cNvSpPr>
          <p:nvPr/>
        </p:nvSpPr>
        <p:spPr>
          <a:xfrm xmlns:a="http://schemas.openxmlformats.org/drawingml/2006/main">
            <a:off x="6000750" y="1524000"/>
            <a:ext cx="0" cy="3714750"/>
          </a:xfrm>
          <a:prstGeom xmlns:a="http://schemas.openxmlformats.org/drawingml/2006/main" prst="line">
            <a:avLst/>
          </a:prstGeom>
          <a:noFill xmlns:a="http://schemas.openxmlformats.org/drawingml/2006/main"/>
          <a:ln xmlns:a="http://schemas.openxmlformats.org/drawingml/2006/main" w="19050">
            <a:solidFill>
              <a:srgbClr val="C9D6D4"/>
            </a:solidFill>
            <a:prstDash val="solid"/>
          </a:ln>
        </p:spPr>
      </p:sp>
      <p:sp>
        <p:nvSpPr>
          <p:cNvPr id="19" name="">
            <a:extLst xmlns:a="http://schemas.openxmlformats.org/drawingml/2006/main">
              <a:ext uri="{FF2B5EF4-FFF2-40B4-BE49-F238E27FC236}">
                <a16:creationId xmlns:a16="http://schemas.microsoft.com/office/drawing/2014/main" id="{422EA92F-BD9D-4F62-9746-7908B48E3325}"/>
              </a:ext>
            </a:extLst>
          </p:cNvPr>
          <p:cNvSpPr>
            <a:spLocks xmlns:a="http://schemas.openxmlformats.org/drawingml/2006/main" noGrp="1"/>
          </p:cNvSpPr>
          <p:nvPr/>
        </p:nvSpPr>
        <p:spPr>
          <a:xfrm xmlns:a="http://schemas.openxmlformats.org/drawingml/2006/main">
            <a:off x="6667500" y="147637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A FLAT CURVE MAY MEAN</a:t>
            </a:r>
          </a:p>
        </p:txBody>
      </p:sp>
      <p:sp>
        <p:nvSpPr>
          <p:cNvPr id="20" name="">
            <a:extLst xmlns:a="http://schemas.openxmlformats.org/drawingml/2006/main">
              <a:ext uri="{FF2B5EF4-FFF2-40B4-BE49-F238E27FC236}">
                <a16:creationId xmlns:a16="http://schemas.microsoft.com/office/drawing/2014/main" id="{A17154F3-AC80-4F82-9C12-932E6E4BB10B}"/>
              </a:ext>
            </a:extLst>
          </p:cNvPr>
          <p:cNvSpPr>
            <a:spLocks xmlns:a="http://schemas.openxmlformats.org/drawingml/2006/main" noGrp="1"/>
          </p:cNvSpPr>
          <p:nvPr/>
        </p:nvSpPr>
        <p:spPr>
          <a:xfrm xmlns:a="http://schemas.openxmlformats.org/drawingml/2006/main">
            <a:off x="6667500" y="20574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9F0D0A6-D108-4146-B60C-B6CE011BB879}"/>
              </a:ext>
            </a:extLst>
          </p:cNvPr>
          <p:cNvSpPr>
            <a:spLocks xmlns:a="http://schemas.openxmlformats.org/drawingml/2006/main" noGrp="1"/>
          </p:cNvSpPr>
          <p:nvPr/>
        </p:nvSpPr>
        <p:spPr>
          <a:xfrm xmlns:a="http://schemas.openxmlformats.org/drawingml/2006/main">
            <a:off x="6934200" y="19526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useful convergence</a:t>
            </a:r>
          </a:p>
        </p:txBody>
      </p:sp>
      <p:sp>
        <p:nvSpPr>
          <p:cNvPr id="22" name="">
            <a:extLst xmlns:a="http://schemas.openxmlformats.org/drawingml/2006/main">
              <a:ext uri="{FF2B5EF4-FFF2-40B4-BE49-F238E27FC236}">
                <a16:creationId xmlns:a16="http://schemas.microsoft.com/office/drawing/2014/main" id="{B32D2D84-DC8F-425F-A082-72D688A376BD}"/>
              </a:ext>
            </a:extLst>
          </p:cNvPr>
          <p:cNvSpPr>
            <a:spLocks xmlns:a="http://schemas.openxmlformats.org/drawingml/2006/main" noGrp="1"/>
          </p:cNvSpPr>
          <p:nvPr/>
        </p:nvSpPr>
        <p:spPr>
          <a:xfrm xmlns:a="http://schemas.openxmlformats.org/drawingml/2006/main">
            <a:off x="6667500" y="26289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38AE037-A235-49B1-AC35-FE9FCAE74726}"/>
              </a:ext>
            </a:extLst>
          </p:cNvPr>
          <p:cNvSpPr>
            <a:spLocks xmlns:a="http://schemas.openxmlformats.org/drawingml/2006/main" noGrp="1"/>
          </p:cNvSpPr>
          <p:nvPr/>
        </p:nvSpPr>
        <p:spPr>
          <a:xfrm xmlns:a="http://schemas.openxmlformats.org/drawingml/2006/main">
            <a:off x="6934200" y="25241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learning rate too small</a:t>
            </a:r>
          </a:p>
        </p:txBody>
      </p:sp>
      <p:sp>
        <p:nvSpPr>
          <p:cNvPr id="24" name="">
            <a:extLst xmlns:a="http://schemas.openxmlformats.org/drawingml/2006/main">
              <a:ext uri="{FF2B5EF4-FFF2-40B4-BE49-F238E27FC236}">
                <a16:creationId xmlns:a16="http://schemas.microsoft.com/office/drawing/2014/main" id="{924D652F-4D62-4622-97C7-31709C0CA2F8}"/>
              </a:ext>
            </a:extLst>
          </p:cNvPr>
          <p:cNvSpPr>
            <a:spLocks xmlns:a="http://schemas.openxmlformats.org/drawingml/2006/main" noGrp="1"/>
          </p:cNvSpPr>
          <p:nvPr/>
        </p:nvSpPr>
        <p:spPr>
          <a:xfrm xmlns:a="http://schemas.openxmlformats.org/drawingml/2006/main">
            <a:off x="6667500" y="32004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F9B90F8-9BB0-44C2-A460-7A0412E64E83}"/>
              </a:ext>
            </a:extLst>
          </p:cNvPr>
          <p:cNvSpPr>
            <a:spLocks xmlns:a="http://schemas.openxmlformats.org/drawingml/2006/main" noGrp="1"/>
          </p:cNvSpPr>
          <p:nvPr/>
        </p:nvSpPr>
        <p:spPr>
          <a:xfrm xmlns:a="http://schemas.openxmlformats.org/drawingml/2006/main">
            <a:off x="6934200" y="30956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poor feature scaling</a:t>
            </a:r>
          </a:p>
        </p:txBody>
      </p:sp>
      <p:sp>
        <p:nvSpPr>
          <p:cNvPr id="26" name="">
            <a:extLst xmlns:a="http://schemas.openxmlformats.org/drawingml/2006/main">
              <a:ext uri="{FF2B5EF4-FFF2-40B4-BE49-F238E27FC236}">
                <a16:creationId xmlns:a16="http://schemas.microsoft.com/office/drawing/2014/main" id="{97E8F94A-BD16-44BE-B609-8075BBD5001C}"/>
              </a:ext>
            </a:extLst>
          </p:cNvPr>
          <p:cNvSpPr>
            <a:spLocks xmlns:a="http://schemas.openxmlformats.org/drawingml/2006/main" noGrp="1"/>
          </p:cNvSpPr>
          <p:nvPr/>
        </p:nvSpPr>
        <p:spPr>
          <a:xfrm xmlns:a="http://schemas.openxmlformats.org/drawingml/2006/main">
            <a:off x="6667500" y="37719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E26A7E7-F2E2-4C19-9728-2D62898469EF}"/>
              </a:ext>
            </a:extLst>
          </p:cNvPr>
          <p:cNvSpPr>
            <a:spLocks xmlns:a="http://schemas.openxmlformats.org/drawingml/2006/main" noGrp="1"/>
          </p:cNvSpPr>
          <p:nvPr/>
        </p:nvSpPr>
        <p:spPr>
          <a:xfrm xmlns:a="http://schemas.openxmlformats.org/drawingml/2006/main">
            <a:off x="6934200" y="36671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flat or saturated region</a:t>
            </a:r>
          </a:p>
        </p:txBody>
      </p:sp>
      <p:sp>
        <p:nvSpPr>
          <p:cNvPr id="28" name="">
            <a:extLst xmlns:a="http://schemas.openxmlformats.org/drawingml/2006/main">
              <a:ext uri="{FF2B5EF4-FFF2-40B4-BE49-F238E27FC236}">
                <a16:creationId xmlns:a16="http://schemas.microsoft.com/office/drawing/2014/main" id="{0E6D6B7C-7148-461B-85ED-501B77F0EA4E}"/>
              </a:ext>
            </a:extLst>
          </p:cNvPr>
          <p:cNvSpPr>
            <a:spLocks xmlns:a="http://schemas.openxmlformats.org/drawingml/2006/main" noGrp="1"/>
          </p:cNvSpPr>
          <p:nvPr/>
        </p:nvSpPr>
        <p:spPr>
          <a:xfrm xmlns:a="http://schemas.openxmlformats.org/drawingml/2006/main">
            <a:off x="6667500" y="43434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1B70C80-C193-41F4-B7AA-D1B9A5A88B53}"/>
              </a:ext>
            </a:extLst>
          </p:cNvPr>
          <p:cNvSpPr>
            <a:spLocks xmlns:a="http://schemas.openxmlformats.org/drawingml/2006/main" noGrp="1"/>
          </p:cNvSpPr>
          <p:nvPr/>
        </p:nvSpPr>
        <p:spPr>
          <a:xfrm xmlns:a="http://schemas.openxmlformats.org/drawingml/2006/main">
            <a:off x="6934200" y="42386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implementation error</a:t>
            </a:r>
          </a:p>
        </p:txBody>
      </p:sp>
      <p:sp>
        <p:nvSpPr>
          <p:cNvPr id="30" name="">
            <a:extLst xmlns:a="http://schemas.openxmlformats.org/drawingml/2006/main">
              <a:ext uri="{FF2B5EF4-FFF2-40B4-BE49-F238E27FC236}">
                <a16:creationId xmlns:a16="http://schemas.microsoft.com/office/drawing/2014/main" id="{6DD60252-2AD4-4882-A8A8-337A978CDD63}"/>
              </a:ext>
            </a:extLst>
          </p:cNvPr>
          <p:cNvSpPr>
            <a:spLocks xmlns:a="http://schemas.openxmlformats.org/drawingml/2006/main" noGrp="1"/>
          </p:cNvSpPr>
          <p:nvPr/>
        </p:nvSpPr>
        <p:spPr>
          <a:xfrm xmlns:a="http://schemas.openxmlformats.org/drawingml/2006/main">
            <a:off x="6667500" y="49149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A5DF0D4-FBDD-490A-B5AA-8762397C0C1D}"/>
              </a:ext>
            </a:extLst>
          </p:cNvPr>
          <p:cNvSpPr>
            <a:spLocks xmlns:a="http://schemas.openxmlformats.org/drawingml/2006/main" noGrp="1"/>
          </p:cNvSpPr>
          <p:nvPr/>
        </p:nvSpPr>
        <p:spPr>
          <a:xfrm xmlns:a="http://schemas.openxmlformats.org/drawingml/2006/main">
            <a:off x="6934200" y="4810125"/>
            <a:ext cx="4305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172B3A"/>
                </a:solidFill>
                <a:latin typeface="Arial"/>
                <a:ea typeface="Arial"/>
                <a:cs typeface="Arial"/>
              </a:defRPr>
            </a:pPr>
            <a:r>
              <a:rPr sz="1875" b="0" i="0">
                <a:solidFill>
                  <a:srgbClr val="172B3A"/>
                </a:solidFill>
                <a:latin typeface="Arial"/>
                <a:ea typeface="Arial"/>
                <a:cs typeface="Arial"/>
              </a:rPr>
              <a:t>resource limit reached</a:t>
            </a:r>
          </a:p>
        </p:txBody>
      </p:sp>
      <p:sp>
        <p:nvSpPr>
          <p:cNvPr id="32" name="">
            <a:extLst xmlns:a="http://schemas.openxmlformats.org/drawingml/2006/main">
              <a:ext uri="{FF2B5EF4-FFF2-40B4-BE49-F238E27FC236}">
                <a16:creationId xmlns:a16="http://schemas.microsoft.com/office/drawing/2014/main" id="{CE3C6946-7BB5-4BD5-A2B4-798924298215}"/>
              </a:ext>
            </a:extLst>
          </p:cNvPr>
          <p:cNvSpPr>
            <a:spLocks xmlns:a="http://schemas.openxmlformats.org/drawingml/2006/main" noGrp="1"/>
          </p:cNvSpPr>
          <p:nvPr/>
        </p:nvSpPr>
        <p:spPr>
          <a:xfrm xmlns:a="http://schemas.openxmlformats.org/drawingml/2006/main">
            <a:off x="3714750" y="5810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483"/>
          </a:bodyPr>
          <a:lstStyle xmlns:a="http://schemas.openxmlformats.org/drawingml/2006/main"/>
          <a:p xmlns:a="http://schemas.openxmlformats.org/drawingml/2006/main">
            <a:pPr algn="ctr">
              <a:defRPr sz="2025" b="1" i="0">
                <a:solidFill>
                  <a:srgbClr val="0B1F33"/>
                </a:solidFill>
                <a:latin typeface="Arial"/>
                <a:ea typeface="Arial"/>
                <a:cs typeface="Arial"/>
              </a:defRPr>
            </a:pPr>
            <a:r>
              <a:rPr sz="2025" b="1" i="0">
                <a:solidFill>
                  <a:srgbClr val="0B1F33"/>
                </a:solidFill>
                <a:latin typeface="Arial"/>
                <a:ea typeface="Arial"/>
                <a:cs typeface="Arial"/>
              </a:rPr>
              <a:t>One curve shape can have several causes.</a:t>
            </a:r>
          </a:p>
        </p:txBody>
      </p:sp>
    </p:spTree>
    <p:extLst>
      <p:ext uri="{BB962C8B-B14F-4D97-AF65-F5344CB8AC3E}">
        <p14:creationId xmlns:p14="http://schemas.microsoft.com/office/powerpoint/2010/main" val="1159200279"/>
      </p:ext>
    </p:extLst>
  </p:cSld>
</p:sld>
</file>

<file path=ppt/slides/slide18.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79EC66-582A-4815-A67F-C76539C45249}"/>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NumPy lab results</a:t>
            </a:r>
          </a:p>
        </p:txBody>
      </p:sp>
      <p:sp>
        <p:nvSpPr>
          <p:cNvPr id="2" name="">
            <a:extLst xmlns:a="http://schemas.openxmlformats.org/drawingml/2006/main">
              <a:ext uri="{FF2B5EF4-FFF2-40B4-BE49-F238E27FC236}">
                <a16:creationId xmlns:a16="http://schemas.microsoft.com/office/drawing/2014/main" id="{F1B14F29-36C4-4EA4-8607-285D9493A5FA}"/>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F2B84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CBD494-0232-4C75-85BF-37AD833DADED}"/>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76D7D1"/>
                </a:solidFill>
                <a:latin typeface="Arial"/>
                <a:ea typeface="Arial"/>
                <a:cs typeface="Arial"/>
              </a:defRPr>
            </a:pPr>
            <a:r>
              <a:rPr sz="1200" b="1" i="0">
                <a:solidFill>
                  <a:srgbClr val="76D7D1"/>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AA64E2FC-4348-4BB4-BD8C-A818864C390E}"/>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76D7D1"/>
                </a:solidFill>
                <a:latin typeface="Arial"/>
                <a:ea typeface="Arial"/>
                <a:cs typeface="Arial"/>
              </a:defRPr>
            </a:pPr>
            <a:r>
              <a:rPr sz="1200" b="1" i="0">
                <a:solidFill>
                  <a:srgbClr val="76D7D1"/>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D88A15BD-E54C-4450-A00B-4E238579F827}"/>
              </a:ext>
            </a:extLst>
          </p:cNvPr>
          <p:cNvSpPr>
            <a:spLocks xmlns:a="http://schemas.openxmlformats.org/drawingml/2006/main" noGrp="1"/>
          </p:cNvSpPr>
          <p:nvPr/>
        </p:nvSpPr>
        <p:spPr>
          <a:xfrm xmlns:a="http://schemas.openxmlformats.org/drawingml/2006/main">
            <a:off x="2190750" y="13335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i="0">
                <a:solidFill>
                  <a:srgbClr val="F2B84B"/>
                </a:solidFill>
                <a:latin typeface="Arial"/>
                <a:ea typeface="Arial"/>
                <a:cs typeface="Arial"/>
              </a:defRPr>
            </a:pPr>
            <a:r>
              <a:rPr sz="2100" b="1" i="0">
                <a:solidFill>
                  <a:srgbClr val="F2B84B"/>
                </a:solidFill>
                <a:latin typeface="Arial"/>
                <a:ea typeface="Arial"/>
                <a:cs typeface="Arial"/>
              </a:rPr>
              <a:t>python labs/week05_gradient_descent.py</a:t>
            </a:r>
          </a:p>
        </p:txBody>
      </p:sp>
      <p:graphicFrame>
        <p:nvGraphicFramePr>
          <p:cNvPr id="15" name=""/>
          <p:cNvGraphicFramePr/>
          <p:nvPr/>
        </p:nvGraphicFramePr>
        <p:xfrm>
          <a:off xmlns:a="http://schemas.openxmlformats.org/drawingml/2006/main" x="714375" y="1952625"/>
          <a:ext xmlns:a="http://schemas.openxmlformats.org/drawingml/2006/main" cx="5238750" cy="2857500"/>
        </p:xfrm>
        <a:graphic xmlns:a="http://schemas.openxmlformats.org/drawingml/2006/main">
          <a:graphicData uri="http://schemas.openxmlformats.org/drawingml/2006/table">
            <a:tbl>
              <a:tblPr/>
              <a:tblGrid>
                <a:gridCol w="1905000"/>
                <a:gridCol w="1047750"/>
                <a:gridCol w="1143000"/>
                <a:gridCol w="1143000"/>
              </a:tblGrid>
              <a:tr h="714375">
                <a:tc>
                  <a:txBody>
                    <a:bodyPr/>
                    <a:lstStyle/>
                    <a:p>
                      <a:pPr algn="l"/>
                      <a:r>
                        <a:rPr sz="1350" b="1">
                          <a:solidFill>
                            <a:srgbClr val="FFFFFF"/>
                          </a:solidFill>
                          <a:latin typeface="Arial"/>
                          <a:ea typeface="Arial"/>
                          <a:cs typeface="Arial"/>
                        </a:rPr>
                        <a:t>Schedule</a:t>
                      </a:r>
                    </a:p>
                  </a:txBody>
                  <a:tcPr marL="91440" marR="91440" marT="45720" marB="45720">
                    <a:solidFill>
                      <a:srgbClr val="0B1F33"/>
                    </a:solidFill>
                  </a:tcPr>
                </a:tc>
                <a:tc>
                  <a:txBody>
                    <a:bodyPr/>
                    <a:lstStyle/>
                    <a:p>
                      <a:pPr algn="ctr"/>
                      <a:r>
                        <a:rPr sz="1350" b="1">
                          <a:solidFill>
                            <a:srgbClr val="FFFFFF"/>
                          </a:solidFill>
                          <a:latin typeface="Arial"/>
                          <a:ea typeface="Arial"/>
                          <a:cs typeface="Arial"/>
                        </a:rPr>
                        <a:t>Batch</a:t>
                      </a:r>
                    </a:p>
                  </a:txBody>
                  <a:tcPr marL="91440" marR="91440" marT="45720" marB="45720">
                    <a:solidFill>
                      <a:srgbClr val="0B1F33"/>
                    </a:solidFill>
                  </a:tcPr>
                </a:tc>
                <a:tc>
                  <a:txBody>
                    <a:bodyPr/>
                    <a:lstStyle/>
                    <a:p>
                      <a:pPr algn="ctr"/>
                      <a:r>
                        <a:rPr sz="1350" b="1">
                          <a:solidFill>
                            <a:srgbClr val="FFFFFF"/>
                          </a:solidFill>
                          <a:latin typeface="Arial"/>
                          <a:ea typeface="Arial"/>
                          <a:cs typeface="Arial"/>
                        </a:rPr>
                        <a:t>Updates</a:t>
                      </a:r>
                    </a:p>
                  </a:txBody>
                  <a:tcPr marL="91440" marR="91440" marT="45720" marB="45720">
                    <a:solidFill>
                      <a:srgbClr val="0B1F33"/>
                    </a:solidFill>
                  </a:tcPr>
                </a:tc>
                <a:tc>
                  <a:txBody>
                    <a:bodyPr/>
                    <a:lstStyle/>
                    <a:p>
                      <a:pPr algn="ctr"/>
                      <a:r>
                        <a:rPr sz="1350" b="1">
                          <a:solidFill>
                            <a:srgbClr val="FFFFFF"/>
                          </a:solidFill>
                          <a:latin typeface="Arial"/>
                          <a:ea typeface="Arial"/>
                          <a:cs typeface="Arial"/>
                        </a:rPr>
                        <a:t>Final train MSE</a:t>
                      </a:r>
                    </a:p>
                  </a:txBody>
                  <a:tcPr marL="91440" marR="91440" marT="45720" marB="45720">
                    <a:solidFill>
                      <a:srgbClr val="0B1F33"/>
                    </a:solidFill>
                  </a:tcPr>
                </a:tc>
              </a:tr>
              <a:tr h="714375">
                <a:tc>
                  <a:txBody>
                    <a:bodyPr/>
                    <a:lstStyle/>
                    <a:p>
                      <a:pPr algn="l"/>
                      <a:r>
                        <a:rPr sz="1350" b="1">
                          <a:solidFill>
                            <a:srgbClr val="0B1F33"/>
                          </a:solidFill>
                          <a:latin typeface="Arial"/>
                          <a:ea typeface="Arial"/>
                          <a:cs typeface="Arial"/>
                        </a:rPr>
                        <a:t>Full batch</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220</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40</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0.0530</a:t>
                      </a:r>
                    </a:p>
                  </a:txBody>
                  <a:tcPr marL="91440" marR="91440" marT="45720" marB="45720">
                    <a:solidFill>
                      <a:srgbClr val="FFFFFF"/>
                    </a:solidFill>
                  </a:tcPr>
                </a:tc>
              </a:tr>
              <a:tr h="714375">
                <a:tc>
                  <a:txBody>
                    <a:bodyPr/>
                    <a:lstStyle/>
                    <a:p>
                      <a:pPr algn="l"/>
                      <a:r>
                        <a:rPr sz="1350" b="1">
                          <a:solidFill>
                            <a:srgbClr val="0B1F33"/>
                          </a:solidFill>
                          <a:latin typeface="Arial"/>
                          <a:ea typeface="Arial"/>
                          <a:cs typeface="Arial"/>
                        </a:rPr>
                        <a:t>Stochastic</a:t>
                      </a:r>
                    </a:p>
                  </a:txBody>
                  <a:tcPr marL="91440" marR="91440" marT="45720" marB="45720">
                    <a:solidFill>
                      <a:srgbClr val="E9F2F1"/>
                    </a:solidFill>
                  </a:tcPr>
                </a:tc>
                <a:tc>
                  <a:txBody>
                    <a:bodyPr/>
                    <a:lstStyle/>
                    <a:p>
                      <a:pPr algn="ctr"/>
                      <a:r>
                        <a:rPr sz="1350" b="0">
                          <a:solidFill>
                            <a:srgbClr val="172B3A"/>
                          </a:solidFill>
                          <a:latin typeface="Arial"/>
                          <a:ea typeface="Arial"/>
                          <a:cs typeface="Arial"/>
                        </a:rPr>
                        <a:t>1</a:t>
                      </a:r>
                    </a:p>
                  </a:txBody>
                  <a:tcPr marL="91440" marR="91440" marT="45720" marB="45720">
                    <a:solidFill>
                      <a:srgbClr val="E9F2F1"/>
                    </a:solidFill>
                  </a:tcPr>
                </a:tc>
                <a:tc>
                  <a:txBody>
                    <a:bodyPr/>
                    <a:lstStyle/>
                    <a:p>
                      <a:pPr algn="ctr"/>
                      <a:r>
                        <a:rPr sz="1350" b="0">
                          <a:solidFill>
                            <a:srgbClr val="172B3A"/>
                          </a:solidFill>
                          <a:latin typeface="Arial"/>
                          <a:ea typeface="Arial"/>
                          <a:cs typeface="Arial"/>
                        </a:rPr>
                        <a:t>8,800</a:t>
                      </a:r>
                    </a:p>
                  </a:txBody>
                  <a:tcPr marL="91440" marR="91440" marT="45720" marB="45720">
                    <a:solidFill>
                      <a:srgbClr val="E9F2F1"/>
                    </a:solidFill>
                  </a:tcPr>
                </a:tc>
                <a:tc>
                  <a:txBody>
                    <a:bodyPr/>
                    <a:lstStyle/>
                    <a:p>
                      <a:pPr algn="ctr"/>
                      <a:r>
                        <a:rPr sz="1350" b="0">
                          <a:solidFill>
                            <a:srgbClr val="172B3A"/>
                          </a:solidFill>
                          <a:latin typeface="Arial"/>
                          <a:ea typeface="Arial"/>
                          <a:cs typeface="Arial"/>
                        </a:rPr>
                        <a:t>0.0579</a:t>
                      </a:r>
                    </a:p>
                  </a:txBody>
                  <a:tcPr marL="91440" marR="91440" marT="45720" marB="45720">
                    <a:solidFill>
                      <a:srgbClr val="E9F2F1"/>
                    </a:solidFill>
                  </a:tcPr>
                </a:tc>
              </a:tr>
              <a:tr h="714375">
                <a:tc>
                  <a:txBody>
                    <a:bodyPr/>
                    <a:lstStyle/>
                    <a:p>
                      <a:pPr algn="l"/>
                      <a:r>
                        <a:rPr sz="1350" b="1">
                          <a:solidFill>
                            <a:srgbClr val="0B1F33"/>
                          </a:solidFill>
                          <a:latin typeface="Arial"/>
                          <a:ea typeface="Arial"/>
                          <a:cs typeface="Arial"/>
                        </a:rPr>
                        <a:t>Mini-batch</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32</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280</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0.0522</a:t>
                      </a:r>
                    </a:p>
                  </a:txBody>
                  <a:tcPr marL="91440" marR="91440" marT="45720" marB="45720">
                    <a:solidFill>
                      <a:srgbClr val="FFFFFF"/>
                    </a:solidFill>
                  </a:tcPr>
                </a:tc>
              </a:tr>
            </a:tbl>
          </a:graphicData>
        </a:graphic>
      </p:graphicFrame>
      <p:graphicFrame>
        <p:nvGraphicFramePr>
          <p:cNvPr id="16" name=""/>
          <p:cNvGraphicFramePr/>
          <p:nvPr/>
        </p:nvGraphicFramePr>
        <p:xfrm>
          <a:off xmlns:a="http://schemas.openxmlformats.org/drawingml/2006/main" x="6286500" y="1952625"/>
          <a:ext xmlns:a="http://schemas.openxmlformats.org/drawingml/2006/main" cx="5191125" cy="3190875"/>
        </p:xfrm>
        <a:graphic xmlns:a="http://schemas.openxmlformats.org/drawingml/2006/main">
          <a:graphicData uri="http://schemas.openxmlformats.org/drawingml/2006/table">
            <a:tbl>
              <a:tblPr/>
              <a:tblGrid>
                <a:gridCol w="1714500"/>
                <a:gridCol w="1809750"/>
                <a:gridCol w="1666875"/>
              </a:tblGrid>
              <a:tr h="531813">
                <a:tc>
                  <a:txBody>
                    <a:bodyPr/>
                    <a:lstStyle/>
                    <a:p>
                      <a:pPr algn="l"/>
                      <a:r>
                        <a:rPr sz="1350" b="1">
                          <a:solidFill>
                            <a:srgbClr val="FFFFFF"/>
                          </a:solidFill>
                          <a:latin typeface="Arial"/>
                          <a:ea typeface="Arial"/>
                          <a:cs typeface="Arial"/>
                        </a:rPr>
                        <a:t>Learning rate</a:t>
                      </a:r>
                    </a:p>
                  </a:txBody>
                  <a:tcPr marL="91440" marR="91440" marT="45720" marB="45720">
                    <a:solidFill>
                      <a:srgbClr val="0B1F33"/>
                    </a:solidFill>
                  </a:tcPr>
                </a:tc>
                <a:tc>
                  <a:txBody>
                    <a:bodyPr/>
                    <a:lstStyle/>
                    <a:p>
                      <a:pPr algn="ctr"/>
                      <a:r>
                        <a:rPr sz="1350" b="1">
                          <a:solidFill>
                            <a:srgbClr val="FFFFFF"/>
                          </a:solidFill>
                          <a:latin typeface="Arial"/>
                          <a:ea typeface="Arial"/>
                          <a:cs typeface="Arial"/>
                        </a:rPr>
                        <a:t>Validation MSE</a:t>
                      </a:r>
                    </a:p>
                  </a:txBody>
                  <a:tcPr marL="91440" marR="91440" marT="45720" marB="45720">
                    <a:solidFill>
                      <a:srgbClr val="0B1F33"/>
                    </a:solidFill>
                  </a:tcPr>
                </a:tc>
                <a:tc>
                  <a:txBody>
                    <a:bodyPr/>
                    <a:lstStyle/>
                    <a:p>
                      <a:pPr algn="ctr"/>
                      <a:r>
                        <a:rPr sz="1350" b="1">
                          <a:solidFill>
                            <a:srgbClr val="FFFFFF"/>
                          </a:solidFill>
                          <a:latin typeface="Arial"/>
                          <a:ea typeface="Arial"/>
                          <a:cs typeface="Arial"/>
                        </a:rPr>
                        <a:t>Status</a:t>
                      </a:r>
                    </a:p>
                  </a:txBody>
                  <a:tcPr marL="91440" marR="91440" marT="45720" marB="45720">
                    <a:solidFill>
                      <a:srgbClr val="0B1F33"/>
                    </a:solidFill>
                  </a:tcPr>
                </a:tc>
              </a:tr>
              <a:tr h="531813">
                <a:tc>
                  <a:txBody>
                    <a:bodyPr/>
                    <a:lstStyle/>
                    <a:p>
                      <a:pPr algn="l"/>
                      <a:r>
                        <a:rPr sz="1350" b="1">
                          <a:solidFill>
                            <a:srgbClr val="0B1F33"/>
                          </a:solidFill>
                          <a:latin typeface="Arial"/>
                          <a:ea typeface="Arial"/>
                          <a:cs typeface="Arial"/>
                        </a:rPr>
                        <a:t>0.001</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0.3143</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finite</a:t>
                      </a:r>
                    </a:p>
                  </a:txBody>
                  <a:tcPr marL="91440" marR="91440" marT="45720" marB="45720">
                    <a:solidFill>
                      <a:srgbClr val="FFFFFF"/>
                    </a:solidFill>
                  </a:tcPr>
                </a:tc>
              </a:tr>
              <a:tr h="531813">
                <a:tc>
                  <a:txBody>
                    <a:bodyPr/>
                    <a:lstStyle/>
                    <a:p>
                      <a:pPr algn="l"/>
                      <a:r>
                        <a:rPr sz="1350" b="1">
                          <a:solidFill>
                            <a:srgbClr val="0B1F33"/>
                          </a:solidFill>
                          <a:latin typeface="Arial"/>
                          <a:ea typeface="Arial"/>
                          <a:cs typeface="Arial"/>
                        </a:rPr>
                        <a:t>0.010</a:t>
                      </a:r>
                    </a:p>
                  </a:txBody>
                  <a:tcPr marL="91440" marR="91440" marT="45720" marB="45720">
                    <a:solidFill>
                      <a:srgbClr val="E9F2F1"/>
                    </a:solidFill>
                  </a:tcPr>
                </a:tc>
                <a:tc>
                  <a:txBody>
                    <a:bodyPr/>
                    <a:lstStyle/>
                    <a:p>
                      <a:pPr algn="ctr"/>
                      <a:r>
                        <a:rPr sz="1350" b="0">
                          <a:solidFill>
                            <a:srgbClr val="172B3A"/>
                          </a:solidFill>
                          <a:latin typeface="Arial"/>
                          <a:ea typeface="Arial"/>
                          <a:cs typeface="Arial"/>
                        </a:rPr>
                        <a:t>0.0481</a:t>
                      </a:r>
                    </a:p>
                  </a:txBody>
                  <a:tcPr marL="91440" marR="91440" marT="45720" marB="45720">
                    <a:solidFill>
                      <a:srgbClr val="E9F2F1"/>
                    </a:solidFill>
                  </a:tcPr>
                </a:tc>
                <a:tc>
                  <a:txBody>
                    <a:bodyPr/>
                    <a:lstStyle/>
                    <a:p>
                      <a:pPr algn="ctr"/>
                      <a:r>
                        <a:rPr sz="1350" b="0">
                          <a:solidFill>
                            <a:srgbClr val="172B3A"/>
                          </a:solidFill>
                          <a:latin typeface="Arial"/>
                          <a:ea typeface="Arial"/>
                          <a:cs typeface="Arial"/>
                        </a:rPr>
                        <a:t>selected</a:t>
                      </a:r>
                    </a:p>
                  </a:txBody>
                  <a:tcPr marL="91440" marR="91440" marT="45720" marB="45720">
                    <a:solidFill>
                      <a:srgbClr val="E9F2F1"/>
                    </a:solidFill>
                  </a:tcPr>
                </a:tc>
              </a:tr>
              <a:tr h="531813">
                <a:tc>
                  <a:txBody>
                    <a:bodyPr/>
                    <a:lstStyle/>
                    <a:p>
                      <a:pPr algn="l"/>
                      <a:r>
                        <a:rPr sz="1350" b="1">
                          <a:solidFill>
                            <a:srgbClr val="0B1F33"/>
                          </a:solidFill>
                          <a:latin typeface="Arial"/>
                          <a:ea typeface="Arial"/>
                          <a:cs typeface="Arial"/>
                        </a:rPr>
                        <a:t>0.050</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0.0483</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finite</a:t>
                      </a:r>
                    </a:p>
                  </a:txBody>
                  <a:tcPr marL="91440" marR="91440" marT="45720" marB="45720">
                    <a:solidFill>
                      <a:srgbClr val="FFFFFF"/>
                    </a:solidFill>
                  </a:tcPr>
                </a:tc>
              </a:tr>
              <a:tr h="531813">
                <a:tc>
                  <a:txBody>
                    <a:bodyPr/>
                    <a:lstStyle/>
                    <a:p>
                      <a:pPr algn="l"/>
                      <a:r>
                        <a:rPr sz="1350" b="1">
                          <a:solidFill>
                            <a:srgbClr val="0B1F33"/>
                          </a:solidFill>
                          <a:latin typeface="Arial"/>
                          <a:ea typeface="Arial"/>
                          <a:cs typeface="Arial"/>
                        </a:rPr>
                        <a:t>0.200</a:t>
                      </a:r>
                    </a:p>
                  </a:txBody>
                  <a:tcPr marL="91440" marR="91440" marT="45720" marB="45720">
                    <a:solidFill>
                      <a:srgbClr val="E9F2F1"/>
                    </a:solidFill>
                  </a:tcPr>
                </a:tc>
                <a:tc>
                  <a:txBody>
                    <a:bodyPr/>
                    <a:lstStyle/>
                    <a:p>
                      <a:pPr algn="ctr"/>
                      <a:r>
                        <a:rPr sz="1350" b="0">
                          <a:solidFill>
                            <a:srgbClr val="172B3A"/>
                          </a:solidFill>
                          <a:latin typeface="Arial"/>
                          <a:ea typeface="Arial"/>
                          <a:cs typeface="Arial"/>
                        </a:rPr>
                        <a:t>0.0525</a:t>
                      </a:r>
                    </a:p>
                  </a:txBody>
                  <a:tcPr marL="91440" marR="91440" marT="45720" marB="45720">
                    <a:solidFill>
                      <a:srgbClr val="E9F2F1"/>
                    </a:solidFill>
                  </a:tcPr>
                </a:tc>
                <a:tc>
                  <a:txBody>
                    <a:bodyPr/>
                    <a:lstStyle/>
                    <a:p>
                      <a:pPr algn="ctr"/>
                      <a:r>
                        <a:rPr sz="1350" b="0">
                          <a:solidFill>
                            <a:srgbClr val="172B3A"/>
                          </a:solidFill>
                          <a:latin typeface="Arial"/>
                          <a:ea typeface="Arial"/>
                          <a:cs typeface="Arial"/>
                        </a:rPr>
                        <a:t>finite</a:t>
                      </a:r>
                    </a:p>
                  </a:txBody>
                  <a:tcPr marL="91440" marR="91440" marT="45720" marB="45720">
                    <a:solidFill>
                      <a:srgbClr val="E9F2F1"/>
                    </a:solidFill>
                  </a:tcPr>
                </a:tc>
              </a:tr>
              <a:tr h="531813">
                <a:tc>
                  <a:txBody>
                    <a:bodyPr/>
                    <a:lstStyle/>
                    <a:p>
                      <a:pPr algn="l"/>
                      <a:r>
                        <a:rPr sz="1350" b="1">
                          <a:solidFill>
                            <a:srgbClr val="0B1F33"/>
                          </a:solidFill>
                          <a:latin typeface="Arial"/>
                          <a:ea typeface="Arial"/>
                          <a:cs typeface="Arial"/>
                        </a:rPr>
                        <a:t>1.200</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very large</a:t>
                      </a:r>
                    </a:p>
                  </a:txBody>
                  <a:tcPr marL="91440" marR="91440" marT="45720" marB="45720">
                    <a:solidFill>
                      <a:srgbClr val="FFFFFF"/>
                    </a:solidFill>
                  </a:tcPr>
                </a:tc>
                <a:tc>
                  <a:txBody>
                    <a:bodyPr/>
                    <a:lstStyle/>
                    <a:p>
                      <a:pPr algn="ctr"/>
                      <a:r>
                        <a:rPr sz="1350" b="0">
                          <a:solidFill>
                            <a:srgbClr val="172B3A"/>
                          </a:solidFill>
                          <a:latin typeface="Arial"/>
                          <a:ea typeface="Arial"/>
                          <a:cs typeface="Arial"/>
                        </a:rPr>
                        <a:t>diverged</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CBCBDF5-6DDA-4E68-81FB-0F89FA045CD0}"/>
              </a:ext>
            </a:extLst>
          </p:cNvPr>
          <p:cNvSpPr>
            <a:spLocks xmlns:a="http://schemas.openxmlformats.org/drawingml/2006/main" noGrp="1"/>
          </p:cNvSpPr>
          <p:nvPr/>
        </p:nvSpPr>
        <p:spPr>
          <a:xfrm xmlns:a="http://schemas.openxmlformats.org/drawingml/2006/main">
            <a:off x="2286000" y="5524500"/>
            <a:ext cx="762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76D7D1"/>
                </a:solidFill>
                <a:latin typeface="Arial"/>
                <a:ea typeface="Arial"/>
                <a:cs typeface="Arial"/>
              </a:defRPr>
            </a:pPr>
            <a:r>
              <a:rPr sz="2400" b="1" i="0">
                <a:solidFill>
                  <a:srgbClr val="76D7D1"/>
                </a:solidFill>
                <a:latin typeface="Arial"/>
                <a:ea typeface="Arial"/>
                <a:cs typeface="Arial"/>
              </a:rPr>
              <a:t>Selected η = 0.010     final test MSE = 0.0532</a:t>
            </a:r>
          </a:p>
        </p:txBody>
      </p:sp>
      <p:sp>
        <p:nvSpPr>
          <p:cNvPr id="9" name="">
            <a:extLst xmlns:a="http://schemas.openxmlformats.org/drawingml/2006/main">
              <a:ext uri="{FF2B5EF4-FFF2-40B4-BE49-F238E27FC236}">
                <a16:creationId xmlns:a16="http://schemas.microsoft.com/office/drawing/2014/main" id="{CD8D3B80-28F8-418E-8CF7-E42A2D97352B}"/>
              </a:ext>
            </a:extLst>
          </p:cNvPr>
          <p:cNvSpPr>
            <a:spLocks xmlns:a="http://schemas.openxmlformats.org/drawingml/2006/main" noGrp="1"/>
          </p:cNvSpPr>
          <p:nvPr/>
        </p:nvSpPr>
        <p:spPr>
          <a:xfrm xmlns:a="http://schemas.openxmlformats.org/drawingml/2006/main">
            <a:off x="2619375" y="600075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FFFFFF"/>
                </a:solidFill>
                <a:latin typeface="Arial"/>
                <a:ea typeface="Arial"/>
                <a:cs typeface="Arial"/>
              </a:defRPr>
            </a:pPr>
            <a:r>
              <a:rPr sz="1650" b="0" i="0">
                <a:solidFill>
                  <a:srgbClr val="FFFFFF"/>
                </a:solidFill>
                <a:latin typeface="Arial"/>
                <a:ea typeface="Arial"/>
                <a:cs typeface="Arial"/>
              </a:rPr>
              <a:t>The schedule comparison uses equal epochs and unequal update counts.</a:t>
            </a:r>
          </a:p>
        </p:txBody>
      </p:sp>
    </p:spTree>
    <p:extLst>
      <p:ext uri="{BB962C8B-B14F-4D97-AF65-F5344CB8AC3E}">
        <p14:creationId xmlns:p14="http://schemas.microsoft.com/office/powerpoint/2010/main" val="2033111915"/>
      </p:ext>
    </p:extLst>
  </p:cSld>
</p:sld>
</file>

<file path=ppt/slides/slide1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8D7CA27-F9B9-4D7C-883C-DEB467DFEEF7}"/>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What the lab establishes</a:t>
            </a:r>
          </a:p>
        </p:txBody>
      </p:sp>
      <p:sp>
        <p:nvSpPr>
          <p:cNvPr id="2" name="">
            <a:extLst xmlns:a="http://schemas.openxmlformats.org/drawingml/2006/main">
              <a:ext uri="{FF2B5EF4-FFF2-40B4-BE49-F238E27FC236}">
                <a16:creationId xmlns:a16="http://schemas.microsoft.com/office/drawing/2014/main" id="{487A2E28-2FC6-47E0-BEF1-1632ECACE8DC}"/>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043B8EF-0C4D-49B0-832A-BD0A4F29B1D7}"/>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5E135F56-4854-4452-BC80-4ED1A0C6E97D}"/>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C2AFFFD7-BEFC-4847-B56B-2E5DBBFE9859}"/>
              </a:ext>
            </a:extLst>
          </p:cNvPr>
          <p:cNvSpPr>
            <a:spLocks xmlns:a="http://schemas.openxmlformats.org/drawingml/2006/main" noGrp="1"/>
          </p:cNvSpPr>
          <p:nvPr/>
        </p:nvSpPr>
        <p:spPr>
          <a:xfrm xmlns:a="http://schemas.openxmlformats.org/drawingml/2006/main">
            <a:off x="809625" y="15240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0A7A5"/>
                </a:solidFill>
                <a:latin typeface="Arial"/>
                <a:ea typeface="Arial"/>
                <a:cs typeface="Arial"/>
              </a:defRPr>
            </a:pPr>
            <a:r>
              <a:rPr sz="1350" b="1" i="0">
                <a:solidFill>
                  <a:srgbClr val="10A7A5"/>
                </a:solidFill>
                <a:latin typeface="Arial"/>
                <a:ea typeface="Arial"/>
                <a:cs typeface="Arial"/>
              </a:rPr>
              <a:t>SUPPORTED</a:t>
            </a:r>
          </a:p>
        </p:txBody>
      </p:sp>
      <p:sp>
        <p:nvSpPr>
          <p:cNvPr id="6" name="">
            <a:extLst xmlns:a="http://schemas.openxmlformats.org/drawingml/2006/main">
              <a:ext uri="{FF2B5EF4-FFF2-40B4-BE49-F238E27FC236}">
                <a16:creationId xmlns:a16="http://schemas.microsoft.com/office/drawing/2014/main" id="{95CB63E5-9DFA-4152-BCA3-82EDBFFC0B85}"/>
              </a:ext>
            </a:extLst>
          </p:cNvPr>
          <p:cNvSpPr>
            <a:spLocks xmlns:a="http://schemas.openxmlformats.org/drawingml/2006/main" noGrp="1"/>
          </p:cNvSpPr>
          <p:nvPr/>
        </p:nvSpPr>
        <p:spPr>
          <a:xfrm xmlns:a="http://schemas.openxmlformats.org/drawingml/2006/main">
            <a:off x="809625" y="2200275"/>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6B1F3BE-57CA-42DC-8493-BD4409FBED48}"/>
              </a:ext>
            </a:extLst>
          </p:cNvPr>
          <p:cNvSpPr>
            <a:spLocks xmlns:a="http://schemas.openxmlformats.org/drawingml/2006/main" noGrp="1"/>
          </p:cNvSpPr>
          <p:nvPr/>
        </p:nvSpPr>
        <p:spPr>
          <a:xfrm xmlns:a="http://schemas.openxmlformats.org/drawingml/2006/main">
            <a:off x="1076325" y="2095500"/>
            <a:ext cx="4495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172B3A"/>
                </a:solidFill>
                <a:latin typeface="Arial"/>
                <a:ea typeface="Arial"/>
                <a:cs typeface="Arial"/>
              </a:defRPr>
            </a:pPr>
            <a:r>
              <a:rPr sz="1950" b="0" i="0">
                <a:solidFill>
                  <a:srgbClr val="172B3A"/>
                </a:solidFill>
                <a:latin typeface="Arial"/>
                <a:ea typeface="Arial"/>
                <a:cs typeface="Arial"/>
              </a:rPr>
              <a:t>analytical and numerical gradients agree</a:t>
            </a:r>
          </a:p>
        </p:txBody>
      </p:sp>
      <p:sp>
        <p:nvSpPr>
          <p:cNvPr id="8" name="">
            <a:extLst xmlns:a="http://schemas.openxmlformats.org/drawingml/2006/main">
              <a:ext uri="{FF2B5EF4-FFF2-40B4-BE49-F238E27FC236}">
                <a16:creationId xmlns:a16="http://schemas.microsoft.com/office/drawing/2014/main" id="{B78654B1-4CF9-4928-B2BD-44903C767CB6}"/>
              </a:ext>
            </a:extLst>
          </p:cNvPr>
          <p:cNvSpPr>
            <a:spLocks xmlns:a="http://schemas.openxmlformats.org/drawingml/2006/main" noGrp="1"/>
          </p:cNvSpPr>
          <p:nvPr/>
        </p:nvSpPr>
        <p:spPr>
          <a:xfrm xmlns:a="http://schemas.openxmlformats.org/drawingml/2006/main">
            <a:off x="809625" y="2943225"/>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531657D-FC2D-4A76-8149-4780D2534BF7}"/>
              </a:ext>
            </a:extLst>
          </p:cNvPr>
          <p:cNvSpPr>
            <a:spLocks xmlns:a="http://schemas.openxmlformats.org/drawingml/2006/main" noGrp="1"/>
          </p:cNvSpPr>
          <p:nvPr/>
        </p:nvSpPr>
        <p:spPr>
          <a:xfrm xmlns:a="http://schemas.openxmlformats.org/drawingml/2006/main">
            <a:off x="1076325" y="2838450"/>
            <a:ext cx="4495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172B3A"/>
                </a:solidFill>
                <a:latin typeface="Arial"/>
                <a:ea typeface="Arial"/>
                <a:cs typeface="Arial"/>
              </a:defRPr>
            </a:pPr>
            <a:r>
              <a:rPr sz="1950" b="0" i="0">
                <a:solidFill>
                  <a:srgbClr val="172B3A"/>
                </a:solidFill>
                <a:latin typeface="Arial"/>
                <a:ea typeface="Arial"/>
                <a:cs typeface="Arial"/>
              </a:rPr>
              <a:t>stable settings reduce the objective</a:t>
            </a:r>
          </a:p>
        </p:txBody>
      </p:sp>
      <p:sp>
        <p:nvSpPr>
          <p:cNvPr id="10" name="">
            <a:extLst xmlns:a="http://schemas.openxmlformats.org/drawingml/2006/main">
              <a:ext uri="{FF2B5EF4-FFF2-40B4-BE49-F238E27FC236}">
                <a16:creationId xmlns:a16="http://schemas.microsoft.com/office/drawing/2014/main" id="{39A9E9CC-187E-4664-A52A-53561BEACDA9}"/>
              </a:ext>
            </a:extLst>
          </p:cNvPr>
          <p:cNvSpPr>
            <a:spLocks xmlns:a="http://schemas.openxmlformats.org/drawingml/2006/main" noGrp="1"/>
          </p:cNvSpPr>
          <p:nvPr/>
        </p:nvSpPr>
        <p:spPr>
          <a:xfrm xmlns:a="http://schemas.openxmlformats.org/drawingml/2006/main">
            <a:off x="809625" y="3686175"/>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FC9A3D7-8925-43CE-A74D-137A76E2D2AD}"/>
              </a:ext>
            </a:extLst>
          </p:cNvPr>
          <p:cNvSpPr>
            <a:spLocks xmlns:a="http://schemas.openxmlformats.org/drawingml/2006/main" noGrp="1"/>
          </p:cNvSpPr>
          <p:nvPr/>
        </p:nvSpPr>
        <p:spPr>
          <a:xfrm xmlns:a="http://schemas.openxmlformats.org/drawingml/2006/main">
            <a:off x="1076325" y="3581400"/>
            <a:ext cx="4495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172B3A"/>
                </a:solidFill>
                <a:latin typeface="Arial"/>
                <a:ea typeface="Arial"/>
                <a:cs typeface="Arial"/>
              </a:defRPr>
            </a:pPr>
            <a:r>
              <a:rPr sz="1950" b="0" i="0">
                <a:solidFill>
                  <a:srgbClr val="172B3A"/>
                </a:solidFill>
                <a:latin typeface="Arial"/>
                <a:ea typeface="Arial"/>
                <a:cs typeface="Arial"/>
              </a:rPr>
              <a:t>every epoch covers all examples</a:t>
            </a:r>
          </a:p>
        </p:txBody>
      </p:sp>
      <p:sp>
        <p:nvSpPr>
          <p:cNvPr id="12" name="">
            <a:extLst xmlns:a="http://schemas.openxmlformats.org/drawingml/2006/main">
              <a:ext uri="{FF2B5EF4-FFF2-40B4-BE49-F238E27FC236}">
                <a16:creationId xmlns:a16="http://schemas.microsoft.com/office/drawing/2014/main" id="{59BCC8E5-FE9C-4188-B6BA-2A4794770F9C}"/>
              </a:ext>
            </a:extLst>
          </p:cNvPr>
          <p:cNvSpPr>
            <a:spLocks xmlns:a="http://schemas.openxmlformats.org/drawingml/2006/main" noGrp="1"/>
          </p:cNvSpPr>
          <p:nvPr/>
        </p:nvSpPr>
        <p:spPr>
          <a:xfrm xmlns:a="http://schemas.openxmlformats.org/drawingml/2006/main">
            <a:off x="809625" y="4429125"/>
            <a:ext cx="95250" cy="95250"/>
          </a:xfrm>
          <a:prstGeom xmlns:a="http://schemas.openxmlformats.org/drawingml/2006/main" prst="ellipse">
            <a:avLst/>
          </a:prstGeom>
          <a:solidFill xmlns:a="http://schemas.openxmlformats.org/drawingml/2006/main">
            <a:srgbClr val="10A7A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0AE97F-2CE7-43BE-AAC9-9E481F7D96F7}"/>
              </a:ext>
            </a:extLst>
          </p:cNvPr>
          <p:cNvSpPr>
            <a:spLocks xmlns:a="http://schemas.openxmlformats.org/drawingml/2006/main" noGrp="1"/>
          </p:cNvSpPr>
          <p:nvPr/>
        </p:nvSpPr>
        <p:spPr>
          <a:xfrm xmlns:a="http://schemas.openxmlformats.org/drawingml/2006/main">
            <a:off x="1076325" y="4324350"/>
            <a:ext cx="4495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172B3A"/>
                </a:solidFill>
                <a:latin typeface="Arial"/>
                <a:ea typeface="Arial"/>
                <a:cs typeface="Arial"/>
              </a:defRPr>
            </a:pPr>
            <a:r>
              <a:rPr sz="1950" b="0" i="0">
                <a:solidFill>
                  <a:srgbClr val="172B3A"/>
                </a:solidFill>
                <a:latin typeface="Arial"/>
                <a:ea typeface="Arial"/>
                <a:cs typeface="Arial"/>
              </a:rPr>
              <a:t>validation selects declared candidates</a:t>
            </a:r>
          </a:p>
        </p:txBody>
      </p:sp>
      <p:sp>
        <p:nvSpPr>
          <p:cNvPr id="14" name="">
            <a:extLst xmlns:a="http://schemas.openxmlformats.org/drawingml/2006/main">
              <a:ext uri="{FF2B5EF4-FFF2-40B4-BE49-F238E27FC236}">
                <a16:creationId xmlns:a16="http://schemas.microsoft.com/office/drawing/2014/main" id="{E7A38AC4-184F-4375-8529-D555C98FF8ED}"/>
              </a:ext>
            </a:extLst>
          </p:cNvPr>
          <p:cNvSpPr>
            <a:spLocks xmlns:a="http://schemas.openxmlformats.org/drawingml/2006/main" noGrp="1"/>
          </p:cNvSpPr>
          <p:nvPr/>
        </p:nvSpPr>
        <p:spPr>
          <a:xfrm xmlns:a="http://schemas.openxmlformats.org/drawingml/2006/main">
            <a:off x="6048375" y="1571625"/>
            <a:ext cx="0" cy="3714750"/>
          </a:xfrm>
          <a:prstGeom xmlns:a="http://schemas.openxmlformats.org/drawingml/2006/main" prst="line">
            <a:avLst/>
          </a:prstGeom>
          <a:noFill xmlns:a="http://schemas.openxmlformats.org/drawingml/2006/main"/>
          <a:ln xmlns:a="http://schemas.openxmlformats.org/drawingml/2006/main" w="19050">
            <a:solidFill>
              <a:srgbClr val="C9D6D4"/>
            </a:solidFill>
            <a:prstDash val="solid"/>
          </a:ln>
        </p:spPr>
      </p:sp>
      <p:sp>
        <p:nvSpPr>
          <p:cNvPr id="15" name="">
            <a:extLst xmlns:a="http://schemas.openxmlformats.org/drawingml/2006/main">
              <a:ext uri="{FF2B5EF4-FFF2-40B4-BE49-F238E27FC236}">
                <a16:creationId xmlns:a16="http://schemas.microsoft.com/office/drawing/2014/main" id="{C8DE761A-0F5B-4D51-A69C-FE75F5A84A01}"/>
              </a:ext>
            </a:extLst>
          </p:cNvPr>
          <p:cNvSpPr>
            <a:spLocks xmlns:a="http://schemas.openxmlformats.org/drawingml/2006/main" noGrp="1"/>
          </p:cNvSpPr>
          <p:nvPr/>
        </p:nvSpPr>
        <p:spPr>
          <a:xfrm xmlns:a="http://schemas.openxmlformats.org/drawingml/2006/main">
            <a:off x="6667500" y="15240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STILL UNTESTED</a:t>
            </a:r>
          </a:p>
        </p:txBody>
      </p:sp>
      <p:sp>
        <p:nvSpPr>
          <p:cNvPr id="16" name="">
            <a:extLst xmlns:a="http://schemas.openxmlformats.org/drawingml/2006/main">
              <a:ext uri="{FF2B5EF4-FFF2-40B4-BE49-F238E27FC236}">
                <a16:creationId xmlns:a16="http://schemas.microsoft.com/office/drawing/2014/main" id="{62D01F31-50B1-456D-8D15-F5BDF22BF0E6}"/>
              </a:ext>
            </a:extLst>
          </p:cNvPr>
          <p:cNvSpPr>
            <a:spLocks xmlns:a="http://schemas.openxmlformats.org/drawingml/2006/main" noGrp="1"/>
          </p:cNvSpPr>
          <p:nvPr/>
        </p:nvSpPr>
        <p:spPr>
          <a:xfrm xmlns:a="http://schemas.openxmlformats.org/drawingml/2006/main">
            <a:off x="6667500" y="22002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1159B28-A1E1-4483-8968-BBFC4837F9C4}"/>
              </a:ext>
            </a:extLst>
          </p:cNvPr>
          <p:cNvSpPr>
            <a:spLocks xmlns:a="http://schemas.openxmlformats.org/drawingml/2006/main" noGrp="1"/>
          </p:cNvSpPr>
          <p:nvPr/>
        </p:nvSpPr>
        <p:spPr>
          <a:xfrm xmlns:a="http://schemas.openxmlformats.org/drawingml/2006/main">
            <a:off x="6934200" y="2095500"/>
            <a:ext cx="4305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172B3A"/>
                </a:solidFill>
                <a:latin typeface="Arial"/>
                <a:ea typeface="Arial"/>
                <a:cs typeface="Arial"/>
              </a:defRPr>
            </a:pPr>
            <a:r>
              <a:rPr sz="1950" b="0" i="0">
                <a:solidFill>
                  <a:srgbClr val="172B3A"/>
                </a:solidFill>
                <a:latin typeface="Arial"/>
                <a:ea typeface="Arial"/>
                <a:cs typeface="Arial"/>
              </a:rPr>
              <a:t>transfer to another dataset</a:t>
            </a:r>
          </a:p>
        </p:txBody>
      </p:sp>
      <p:sp>
        <p:nvSpPr>
          <p:cNvPr id="18" name="">
            <a:extLst xmlns:a="http://schemas.openxmlformats.org/drawingml/2006/main">
              <a:ext uri="{FF2B5EF4-FFF2-40B4-BE49-F238E27FC236}">
                <a16:creationId xmlns:a16="http://schemas.microsoft.com/office/drawing/2014/main" id="{AE5293B5-9C43-475E-9E0D-63F176642684}"/>
              </a:ext>
            </a:extLst>
          </p:cNvPr>
          <p:cNvSpPr>
            <a:spLocks xmlns:a="http://schemas.openxmlformats.org/drawingml/2006/main" noGrp="1"/>
          </p:cNvSpPr>
          <p:nvPr/>
        </p:nvSpPr>
        <p:spPr>
          <a:xfrm xmlns:a="http://schemas.openxmlformats.org/drawingml/2006/main">
            <a:off x="6667500" y="2943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89CB91F-EA56-4D46-9155-78BC3BC5D1E2}"/>
              </a:ext>
            </a:extLst>
          </p:cNvPr>
          <p:cNvSpPr>
            <a:spLocks xmlns:a="http://schemas.openxmlformats.org/drawingml/2006/main" noGrp="1"/>
          </p:cNvSpPr>
          <p:nvPr/>
        </p:nvSpPr>
        <p:spPr>
          <a:xfrm xmlns:a="http://schemas.openxmlformats.org/drawingml/2006/main">
            <a:off x="6934200" y="2838450"/>
            <a:ext cx="4305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172B3A"/>
                </a:solidFill>
                <a:latin typeface="Arial"/>
                <a:ea typeface="Arial"/>
                <a:cs typeface="Arial"/>
              </a:defRPr>
            </a:pPr>
            <a:r>
              <a:rPr sz="1950" b="0" i="0">
                <a:solidFill>
                  <a:srgbClr val="172B3A"/>
                </a:solidFill>
                <a:latin typeface="Arial"/>
                <a:ea typeface="Arial"/>
                <a:cs typeface="Arial"/>
              </a:rPr>
              <a:t>universal schedule ranking</a:t>
            </a:r>
          </a:p>
        </p:txBody>
      </p:sp>
      <p:sp>
        <p:nvSpPr>
          <p:cNvPr id="20" name="">
            <a:extLst xmlns:a="http://schemas.openxmlformats.org/drawingml/2006/main">
              <a:ext uri="{FF2B5EF4-FFF2-40B4-BE49-F238E27FC236}">
                <a16:creationId xmlns:a16="http://schemas.microsoft.com/office/drawing/2014/main" id="{A13606CA-A924-46DA-BAA6-EEF5B93F9F5D}"/>
              </a:ext>
            </a:extLst>
          </p:cNvPr>
          <p:cNvSpPr>
            <a:spLocks xmlns:a="http://schemas.openxmlformats.org/drawingml/2006/main" noGrp="1"/>
          </p:cNvSpPr>
          <p:nvPr/>
        </p:nvSpPr>
        <p:spPr>
          <a:xfrm xmlns:a="http://schemas.openxmlformats.org/drawingml/2006/main">
            <a:off x="6667500" y="3686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594FFC8-601D-4EF3-979D-E2619F354F42}"/>
              </a:ext>
            </a:extLst>
          </p:cNvPr>
          <p:cNvSpPr>
            <a:spLocks xmlns:a="http://schemas.openxmlformats.org/drawingml/2006/main" noGrp="1"/>
          </p:cNvSpPr>
          <p:nvPr/>
        </p:nvSpPr>
        <p:spPr>
          <a:xfrm xmlns:a="http://schemas.openxmlformats.org/drawingml/2006/main">
            <a:off x="6934200" y="3581400"/>
            <a:ext cx="4305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172B3A"/>
                </a:solidFill>
                <a:latin typeface="Arial"/>
                <a:ea typeface="Arial"/>
                <a:cs typeface="Arial"/>
              </a:defRPr>
            </a:pPr>
            <a:r>
              <a:rPr sz="1950" b="0" i="0">
                <a:solidFill>
                  <a:srgbClr val="172B3A"/>
                </a:solidFill>
                <a:latin typeface="Arial"/>
                <a:ea typeface="Arial"/>
                <a:cs typeface="Arial"/>
              </a:rPr>
              <a:t>generalization of a project model</a:t>
            </a:r>
          </a:p>
        </p:txBody>
      </p:sp>
      <p:sp>
        <p:nvSpPr>
          <p:cNvPr id="22" name="">
            <a:extLst xmlns:a="http://schemas.openxmlformats.org/drawingml/2006/main">
              <a:ext uri="{FF2B5EF4-FFF2-40B4-BE49-F238E27FC236}">
                <a16:creationId xmlns:a16="http://schemas.microsoft.com/office/drawing/2014/main" id="{B8C12BD7-941C-4FE0-B3FA-9559E24E9EAB}"/>
              </a:ext>
            </a:extLst>
          </p:cNvPr>
          <p:cNvSpPr>
            <a:spLocks xmlns:a="http://schemas.openxmlformats.org/drawingml/2006/main" noGrp="1"/>
          </p:cNvSpPr>
          <p:nvPr/>
        </p:nvSpPr>
        <p:spPr>
          <a:xfrm xmlns:a="http://schemas.openxmlformats.org/drawingml/2006/main">
            <a:off x="6667500" y="4429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8F835A3-93E9-498A-BEFF-A5AF61121833}"/>
              </a:ext>
            </a:extLst>
          </p:cNvPr>
          <p:cNvSpPr>
            <a:spLocks xmlns:a="http://schemas.openxmlformats.org/drawingml/2006/main" noGrp="1"/>
          </p:cNvSpPr>
          <p:nvPr/>
        </p:nvSpPr>
        <p:spPr>
          <a:xfrm xmlns:a="http://schemas.openxmlformats.org/drawingml/2006/main">
            <a:off x="6934200" y="4324350"/>
            <a:ext cx="4305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172B3A"/>
                </a:solidFill>
                <a:latin typeface="Arial"/>
                <a:ea typeface="Arial"/>
                <a:cs typeface="Arial"/>
              </a:defRPr>
            </a:pPr>
            <a:r>
              <a:rPr sz="1950" b="0" i="0">
                <a:solidFill>
                  <a:srgbClr val="172B3A"/>
                </a:solidFill>
                <a:latin typeface="Arial"/>
                <a:ea typeface="Arial"/>
                <a:cs typeface="Arial"/>
              </a:rPr>
              <a:t>benefit from a deeper network</a:t>
            </a:r>
          </a:p>
        </p:txBody>
      </p:sp>
      <p:sp>
        <p:nvSpPr>
          <p:cNvPr id="24" name="">
            <a:extLst xmlns:a="http://schemas.openxmlformats.org/drawingml/2006/main">
              <a:ext uri="{FF2B5EF4-FFF2-40B4-BE49-F238E27FC236}">
                <a16:creationId xmlns:a16="http://schemas.microsoft.com/office/drawing/2014/main" id="{DBA3F044-DCFA-45BE-B649-AEC707802EC6}"/>
              </a:ext>
            </a:extLst>
          </p:cNvPr>
          <p:cNvSpPr>
            <a:spLocks xmlns:a="http://schemas.openxmlformats.org/drawingml/2006/main" noGrp="1"/>
          </p:cNvSpPr>
          <p:nvPr/>
        </p:nvSpPr>
        <p:spPr>
          <a:xfrm xmlns:a="http://schemas.openxmlformats.org/drawingml/2006/main">
            <a:off x="2333625" y="571500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187"/>
          </a:bodyPr>
          <a:lstStyle xmlns:a="http://schemas.openxmlformats.org/drawingml/2006/main"/>
          <a:p xmlns:a="http://schemas.openxmlformats.org/drawingml/2006/main">
            <a:pPr algn="ctr">
              <a:defRPr sz="2100" b="1" i="0">
                <a:solidFill>
                  <a:srgbClr val="0B1F33"/>
                </a:solidFill>
                <a:latin typeface="Arial"/>
                <a:ea typeface="Arial"/>
                <a:cs typeface="Arial"/>
              </a:defRPr>
            </a:pPr>
            <a:r>
              <a:rPr sz="2100" b="1" i="0">
                <a:solidFill>
                  <a:srgbClr val="0B1F33"/>
                </a:solidFill>
                <a:latin typeface="Arial"/>
                <a:ea typeface="Arial"/>
                <a:cs typeface="Arial"/>
              </a:rPr>
              <a:t>Generated linear data expose the mechanism, not a universal result.</a:t>
            </a:r>
          </a:p>
        </p:txBody>
      </p:sp>
    </p:spTree>
    <p:extLst>
      <p:ext uri="{BB962C8B-B14F-4D97-AF65-F5344CB8AC3E}">
        <p14:creationId xmlns:p14="http://schemas.microsoft.com/office/powerpoint/2010/main" val="895341074"/>
      </p:ext>
    </p:extLst>
  </p:cSld>
</p:sld>
</file>

<file path=ppt/slides/slide2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3CEBB49-277A-450A-989E-09CCDEC3DE86}"/>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0B1F33"/>
                </a:solidFill>
                <a:latin typeface="Arial"/>
                <a:ea typeface="Arial"/>
                <a:cs typeface="Arial"/>
              </a:defRPr>
            </a:pPr>
            <a:r>
              <a:rPr sz="3150" b="1" i="0">
                <a:solidFill>
                  <a:srgbClr val="0B1F33"/>
                </a:solidFill>
                <a:latin typeface="Arial"/>
                <a:ea typeface="Arial"/>
                <a:cs typeface="Arial"/>
              </a:rPr>
              <a:t>Baseline experiment plan</a:t>
            </a:r>
          </a:p>
        </p:txBody>
      </p:sp>
      <p:sp>
        <p:nvSpPr>
          <p:cNvPr id="2" name="">
            <a:extLst xmlns:a="http://schemas.openxmlformats.org/drawingml/2006/main">
              <a:ext uri="{FF2B5EF4-FFF2-40B4-BE49-F238E27FC236}">
                <a16:creationId xmlns:a16="http://schemas.microsoft.com/office/drawing/2014/main" id="{E41D31F6-7E2E-4E4B-82F2-27E19C4BA5EB}"/>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10A7A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3840B9-A1EF-41B9-BB0D-713FFA914AC2}"/>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36878"/>
                </a:solidFill>
                <a:latin typeface="Arial"/>
                <a:ea typeface="Arial"/>
                <a:cs typeface="Arial"/>
              </a:defRPr>
            </a:pPr>
            <a:r>
              <a:rPr sz="1200" b="1" i="0">
                <a:solidFill>
                  <a:srgbClr val="536878"/>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4A4C0C62-3684-4CD7-A322-A139DADA3EAF}"/>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536878"/>
                </a:solidFill>
                <a:latin typeface="Arial"/>
                <a:ea typeface="Arial"/>
                <a:cs typeface="Arial"/>
              </a:defRPr>
            </a:pPr>
            <a:r>
              <a:rPr sz="1200" b="1" i="0">
                <a:solidFill>
                  <a:srgbClr val="536878"/>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837ADC68-0AE4-42E6-B7E5-F1CCEAD159A5}"/>
              </a:ext>
            </a:extLst>
          </p:cNvPr>
          <p:cNvSpPr>
            <a:spLocks xmlns:a="http://schemas.openxmlformats.org/drawingml/2006/main" noGrp="1"/>
          </p:cNvSpPr>
          <p:nvPr/>
        </p:nvSpPr>
        <p:spPr>
          <a:xfrm xmlns:a="http://schemas.openxmlformats.org/drawingml/2006/main">
            <a:off x="714375" y="14763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A7A5"/>
                </a:solidFill>
                <a:latin typeface="Arial"/>
                <a:ea typeface="Arial"/>
                <a:cs typeface="Arial"/>
              </a:defRPr>
            </a:pPr>
            <a:r>
              <a:rPr sz="1500" b="1" i="0">
                <a:solidFill>
                  <a:srgbClr val="10A7A5"/>
                </a:solidFill>
                <a:latin typeface="Arial"/>
                <a:ea typeface="Arial"/>
                <a:cs typeface="Arial"/>
              </a:rPr>
              <a:t>QUESTION</a:t>
            </a:r>
          </a:p>
        </p:txBody>
      </p:sp>
      <p:sp>
        <p:nvSpPr>
          <p:cNvPr id="6" name="">
            <a:extLst xmlns:a="http://schemas.openxmlformats.org/drawingml/2006/main">
              <a:ext uri="{FF2B5EF4-FFF2-40B4-BE49-F238E27FC236}">
                <a16:creationId xmlns:a16="http://schemas.microsoft.com/office/drawing/2014/main" id="{58C94688-95EE-4C43-998E-47C4CBE787E9}"/>
              </a:ext>
            </a:extLst>
          </p:cNvPr>
          <p:cNvSpPr>
            <a:spLocks xmlns:a="http://schemas.openxmlformats.org/drawingml/2006/main" noGrp="1"/>
          </p:cNvSpPr>
          <p:nvPr/>
        </p:nvSpPr>
        <p:spPr>
          <a:xfrm xmlns:a="http://schemas.openxmlformats.org/drawingml/2006/main">
            <a:off x="2619375" y="14763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research claim and simplest credible baseline</a:t>
            </a:r>
          </a:p>
        </p:txBody>
      </p:sp>
      <p:sp>
        <p:nvSpPr>
          <p:cNvPr id="7" name="">
            <a:extLst xmlns:a="http://schemas.openxmlformats.org/drawingml/2006/main">
              <a:ext uri="{FF2B5EF4-FFF2-40B4-BE49-F238E27FC236}">
                <a16:creationId xmlns:a16="http://schemas.microsoft.com/office/drawing/2014/main" id="{7415477E-97B3-4118-875D-F97EF4731B4B}"/>
              </a:ext>
            </a:extLst>
          </p:cNvPr>
          <p:cNvSpPr>
            <a:spLocks xmlns:a="http://schemas.openxmlformats.org/drawingml/2006/main" noGrp="1"/>
          </p:cNvSpPr>
          <p:nvPr/>
        </p:nvSpPr>
        <p:spPr>
          <a:xfrm xmlns:a="http://schemas.openxmlformats.org/drawingml/2006/main">
            <a:off x="2619375" y="1971675"/>
            <a:ext cx="8572500"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8" name="">
            <a:extLst xmlns:a="http://schemas.openxmlformats.org/drawingml/2006/main">
              <a:ext uri="{FF2B5EF4-FFF2-40B4-BE49-F238E27FC236}">
                <a16:creationId xmlns:a16="http://schemas.microsoft.com/office/drawing/2014/main" id="{2DA46C21-4819-438E-8565-A649CD800B55}"/>
              </a:ext>
            </a:extLst>
          </p:cNvPr>
          <p:cNvSpPr>
            <a:spLocks xmlns:a="http://schemas.openxmlformats.org/drawingml/2006/main" noGrp="1"/>
          </p:cNvSpPr>
          <p:nvPr/>
        </p:nvSpPr>
        <p:spPr>
          <a:xfrm xmlns:a="http://schemas.openxmlformats.org/drawingml/2006/main">
            <a:off x="714375" y="22002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F2B84B"/>
                </a:solidFill>
                <a:latin typeface="Arial"/>
                <a:ea typeface="Arial"/>
                <a:cs typeface="Arial"/>
              </a:defRPr>
            </a:pPr>
            <a:r>
              <a:rPr sz="1500" b="1" i="0">
                <a:solidFill>
                  <a:srgbClr val="F2B84B"/>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CB095009-69A0-4B61-9D1B-C678AB8E8A7F}"/>
              </a:ext>
            </a:extLst>
          </p:cNvPr>
          <p:cNvSpPr>
            <a:spLocks xmlns:a="http://schemas.openxmlformats.org/drawingml/2006/main" noGrp="1"/>
          </p:cNvSpPr>
          <p:nvPr/>
        </p:nvSpPr>
        <p:spPr>
          <a:xfrm xmlns:a="http://schemas.openxmlformats.org/drawingml/2006/main">
            <a:off x="2619375" y="22002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version, observation unit, frozen split, leakage check</a:t>
            </a:r>
          </a:p>
        </p:txBody>
      </p:sp>
      <p:sp>
        <p:nvSpPr>
          <p:cNvPr id="10" name="">
            <a:extLst xmlns:a="http://schemas.openxmlformats.org/drawingml/2006/main">
              <a:ext uri="{FF2B5EF4-FFF2-40B4-BE49-F238E27FC236}">
                <a16:creationId xmlns:a16="http://schemas.microsoft.com/office/drawing/2014/main" id="{AA762EEF-7378-4D1F-B204-88934E010DB0}"/>
              </a:ext>
            </a:extLst>
          </p:cNvPr>
          <p:cNvSpPr>
            <a:spLocks xmlns:a="http://schemas.openxmlformats.org/drawingml/2006/main" noGrp="1"/>
          </p:cNvSpPr>
          <p:nvPr/>
        </p:nvSpPr>
        <p:spPr>
          <a:xfrm xmlns:a="http://schemas.openxmlformats.org/drawingml/2006/main">
            <a:off x="2619375" y="2695575"/>
            <a:ext cx="8572500"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11" name="">
            <a:extLst xmlns:a="http://schemas.openxmlformats.org/drawingml/2006/main">
              <a:ext uri="{FF2B5EF4-FFF2-40B4-BE49-F238E27FC236}">
                <a16:creationId xmlns:a16="http://schemas.microsoft.com/office/drawing/2014/main" id="{CF234A70-4F8C-4CF5-9AA9-BD507DEF9544}"/>
              </a:ext>
            </a:extLst>
          </p:cNvPr>
          <p:cNvSpPr>
            <a:spLocks xmlns:a="http://schemas.openxmlformats.org/drawingml/2006/main" noGrp="1"/>
          </p:cNvSpPr>
          <p:nvPr/>
        </p:nvSpPr>
        <p:spPr>
          <a:xfrm xmlns:a="http://schemas.openxmlformats.org/drawingml/2006/main">
            <a:off x="714375" y="29241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A7A5"/>
                </a:solidFill>
                <a:latin typeface="Arial"/>
                <a:ea typeface="Arial"/>
                <a:cs typeface="Arial"/>
              </a:defRPr>
            </a:pPr>
            <a:r>
              <a:rPr sz="1500" b="1" i="0">
                <a:solidFill>
                  <a:srgbClr val="10A7A5"/>
                </a:solidFill>
                <a:latin typeface="Arial"/>
                <a:ea typeface="Arial"/>
                <a:cs typeface="Arial"/>
              </a:rPr>
              <a:t>TRAIN</a:t>
            </a:r>
          </a:p>
        </p:txBody>
      </p:sp>
      <p:sp>
        <p:nvSpPr>
          <p:cNvPr id="12" name="">
            <a:extLst xmlns:a="http://schemas.openxmlformats.org/drawingml/2006/main">
              <a:ext uri="{FF2B5EF4-FFF2-40B4-BE49-F238E27FC236}">
                <a16:creationId xmlns:a16="http://schemas.microsoft.com/office/drawing/2014/main" id="{8AE39910-8EF7-43C8-9A47-CD2B6F0EA77E}"/>
              </a:ext>
            </a:extLst>
          </p:cNvPr>
          <p:cNvSpPr>
            <a:spLocks xmlns:a="http://schemas.openxmlformats.org/drawingml/2006/main" noGrp="1"/>
          </p:cNvSpPr>
          <p:nvPr/>
        </p:nvSpPr>
        <p:spPr>
          <a:xfrm xmlns:a="http://schemas.openxmlformats.org/drawingml/2006/main">
            <a:off x="2619375" y="29241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preprocessing, objective, rate candidates, batch, stopping</a:t>
            </a:r>
          </a:p>
        </p:txBody>
      </p:sp>
      <p:sp>
        <p:nvSpPr>
          <p:cNvPr id="13" name="">
            <a:extLst xmlns:a="http://schemas.openxmlformats.org/drawingml/2006/main">
              <a:ext uri="{FF2B5EF4-FFF2-40B4-BE49-F238E27FC236}">
                <a16:creationId xmlns:a16="http://schemas.microsoft.com/office/drawing/2014/main" id="{2EAD8387-ECFB-489B-AC44-9F60375B912E}"/>
              </a:ext>
            </a:extLst>
          </p:cNvPr>
          <p:cNvSpPr>
            <a:spLocks xmlns:a="http://schemas.openxmlformats.org/drawingml/2006/main" noGrp="1"/>
          </p:cNvSpPr>
          <p:nvPr/>
        </p:nvSpPr>
        <p:spPr>
          <a:xfrm xmlns:a="http://schemas.openxmlformats.org/drawingml/2006/main">
            <a:off x="2619375" y="3419475"/>
            <a:ext cx="8572500"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14" name="">
            <a:extLst xmlns:a="http://schemas.openxmlformats.org/drawingml/2006/main">
              <a:ext uri="{FF2B5EF4-FFF2-40B4-BE49-F238E27FC236}">
                <a16:creationId xmlns:a16="http://schemas.microsoft.com/office/drawing/2014/main" id="{69C6CB81-C950-48C4-8850-697EE69978D3}"/>
              </a:ext>
            </a:extLst>
          </p:cNvPr>
          <p:cNvSpPr>
            <a:spLocks xmlns:a="http://schemas.openxmlformats.org/drawingml/2006/main" noGrp="1"/>
          </p:cNvSpPr>
          <p:nvPr/>
        </p:nvSpPr>
        <p:spPr>
          <a:xfrm xmlns:a="http://schemas.openxmlformats.org/drawingml/2006/main">
            <a:off x="714375" y="36480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F2B84B"/>
                </a:solidFill>
                <a:latin typeface="Arial"/>
                <a:ea typeface="Arial"/>
                <a:cs typeface="Arial"/>
              </a:defRPr>
            </a:pPr>
            <a:r>
              <a:rPr sz="1500" b="1" i="0">
                <a:solidFill>
                  <a:srgbClr val="F2B84B"/>
                </a:solidFill>
                <a:latin typeface="Arial"/>
                <a:ea typeface="Arial"/>
                <a:cs typeface="Arial"/>
              </a:rPr>
              <a:t>SELECT</a:t>
            </a:r>
          </a:p>
        </p:txBody>
      </p:sp>
      <p:sp>
        <p:nvSpPr>
          <p:cNvPr id="15" name="">
            <a:extLst xmlns:a="http://schemas.openxmlformats.org/drawingml/2006/main">
              <a:ext uri="{FF2B5EF4-FFF2-40B4-BE49-F238E27FC236}">
                <a16:creationId xmlns:a16="http://schemas.microsoft.com/office/drawing/2014/main" id="{031E3B7D-96FB-47F4-B5AA-7DBB5D64D592}"/>
              </a:ext>
            </a:extLst>
          </p:cNvPr>
          <p:cNvSpPr>
            <a:spLocks xmlns:a="http://schemas.openxmlformats.org/drawingml/2006/main" noGrp="1"/>
          </p:cNvSpPr>
          <p:nvPr/>
        </p:nvSpPr>
        <p:spPr>
          <a:xfrm xmlns:a="http://schemas.openxmlformats.org/drawingml/2006/main">
            <a:off x="2619375" y="36480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validation metric and one controlled decision</a:t>
            </a:r>
          </a:p>
        </p:txBody>
      </p:sp>
      <p:sp>
        <p:nvSpPr>
          <p:cNvPr id="16" name="">
            <a:extLst xmlns:a="http://schemas.openxmlformats.org/drawingml/2006/main">
              <a:ext uri="{FF2B5EF4-FFF2-40B4-BE49-F238E27FC236}">
                <a16:creationId xmlns:a16="http://schemas.microsoft.com/office/drawing/2014/main" id="{DF244B30-2C74-4CF4-BB36-C3F155EAD281}"/>
              </a:ext>
            </a:extLst>
          </p:cNvPr>
          <p:cNvSpPr>
            <a:spLocks xmlns:a="http://schemas.openxmlformats.org/drawingml/2006/main" noGrp="1"/>
          </p:cNvSpPr>
          <p:nvPr/>
        </p:nvSpPr>
        <p:spPr>
          <a:xfrm xmlns:a="http://schemas.openxmlformats.org/drawingml/2006/main">
            <a:off x="2619375" y="4143375"/>
            <a:ext cx="8572500"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17" name="">
            <a:extLst xmlns:a="http://schemas.openxmlformats.org/drawingml/2006/main">
              <a:ext uri="{FF2B5EF4-FFF2-40B4-BE49-F238E27FC236}">
                <a16:creationId xmlns:a16="http://schemas.microsoft.com/office/drawing/2014/main" id="{4F2FF72D-6D88-4261-959F-8B62DD9356E6}"/>
              </a:ext>
            </a:extLst>
          </p:cNvPr>
          <p:cNvSpPr>
            <a:spLocks xmlns:a="http://schemas.openxmlformats.org/drawingml/2006/main" noGrp="1"/>
          </p:cNvSpPr>
          <p:nvPr/>
        </p:nvSpPr>
        <p:spPr>
          <a:xfrm xmlns:a="http://schemas.openxmlformats.org/drawingml/2006/main">
            <a:off x="714375" y="43719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0A7A5"/>
                </a:solidFill>
                <a:latin typeface="Arial"/>
                <a:ea typeface="Arial"/>
                <a:cs typeface="Arial"/>
              </a:defRPr>
            </a:pPr>
            <a:r>
              <a:rPr sz="1500" b="1" i="0">
                <a:solidFill>
                  <a:srgbClr val="10A7A5"/>
                </a:solidFill>
                <a:latin typeface="Arial"/>
                <a:ea typeface="Arial"/>
                <a:cs typeface="Arial"/>
              </a:rPr>
              <a:t>RECORD</a:t>
            </a:r>
          </a:p>
        </p:txBody>
      </p:sp>
      <p:sp>
        <p:nvSpPr>
          <p:cNvPr id="18" name="">
            <a:extLst xmlns:a="http://schemas.openxmlformats.org/drawingml/2006/main">
              <a:ext uri="{FF2B5EF4-FFF2-40B4-BE49-F238E27FC236}">
                <a16:creationId xmlns:a16="http://schemas.microsoft.com/office/drawing/2014/main" id="{9ABD6988-DD0E-4B17-B087-4A313341E51E}"/>
              </a:ext>
            </a:extLst>
          </p:cNvPr>
          <p:cNvSpPr>
            <a:spLocks xmlns:a="http://schemas.openxmlformats.org/drawingml/2006/main" noGrp="1"/>
          </p:cNvSpPr>
          <p:nvPr/>
        </p:nvSpPr>
        <p:spPr>
          <a:xfrm xmlns:a="http://schemas.openxmlformats.org/drawingml/2006/main">
            <a:off x="2619375" y="43719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seed, command, environment, compute, expected outputs</a:t>
            </a:r>
          </a:p>
        </p:txBody>
      </p:sp>
      <p:sp>
        <p:nvSpPr>
          <p:cNvPr id="19" name="">
            <a:extLst xmlns:a="http://schemas.openxmlformats.org/drawingml/2006/main">
              <a:ext uri="{FF2B5EF4-FFF2-40B4-BE49-F238E27FC236}">
                <a16:creationId xmlns:a16="http://schemas.microsoft.com/office/drawing/2014/main" id="{12D5FD92-2AA0-49B1-9B62-00CD028FB587}"/>
              </a:ext>
            </a:extLst>
          </p:cNvPr>
          <p:cNvSpPr>
            <a:spLocks xmlns:a="http://schemas.openxmlformats.org/drawingml/2006/main" noGrp="1"/>
          </p:cNvSpPr>
          <p:nvPr/>
        </p:nvSpPr>
        <p:spPr>
          <a:xfrm xmlns:a="http://schemas.openxmlformats.org/drawingml/2006/main">
            <a:off x="2619375" y="4867275"/>
            <a:ext cx="8572500" cy="0"/>
          </a:xfrm>
          <a:prstGeom xmlns:a="http://schemas.openxmlformats.org/drawingml/2006/main" prst="line">
            <a:avLst/>
          </a:prstGeom>
          <a:noFill xmlns:a="http://schemas.openxmlformats.org/drawingml/2006/main"/>
          <a:ln xmlns:a="http://schemas.openxmlformats.org/drawingml/2006/main" w="9525">
            <a:solidFill>
              <a:srgbClr val="C9D6D4"/>
            </a:solidFill>
            <a:prstDash val="solid"/>
          </a:ln>
        </p:spPr>
      </p:sp>
      <p:sp>
        <p:nvSpPr>
          <p:cNvPr id="20" name="">
            <a:extLst xmlns:a="http://schemas.openxmlformats.org/drawingml/2006/main">
              <a:ext uri="{FF2B5EF4-FFF2-40B4-BE49-F238E27FC236}">
                <a16:creationId xmlns:a16="http://schemas.microsoft.com/office/drawing/2014/main" id="{C8014069-608D-4773-9B14-F464CE94E766}"/>
              </a:ext>
            </a:extLst>
          </p:cNvPr>
          <p:cNvSpPr>
            <a:spLocks xmlns:a="http://schemas.openxmlformats.org/drawingml/2006/main" noGrp="1"/>
          </p:cNvSpPr>
          <p:nvPr/>
        </p:nvSpPr>
        <p:spPr>
          <a:xfrm xmlns:a="http://schemas.openxmlformats.org/drawingml/2006/main">
            <a:off x="714375" y="50958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F2B84B"/>
                </a:solidFill>
                <a:latin typeface="Arial"/>
                <a:ea typeface="Arial"/>
                <a:cs typeface="Arial"/>
              </a:defRPr>
            </a:pPr>
            <a:r>
              <a:rPr sz="1500" b="1" i="0">
                <a:solidFill>
                  <a:srgbClr val="F2B84B"/>
                </a:solidFill>
                <a:latin typeface="Arial"/>
                <a:ea typeface="Arial"/>
                <a:cs typeface="Arial"/>
              </a:rPr>
              <a:t>INTERPRET</a:t>
            </a:r>
          </a:p>
        </p:txBody>
      </p:sp>
      <p:sp>
        <p:nvSpPr>
          <p:cNvPr id="21" name="">
            <a:extLst xmlns:a="http://schemas.openxmlformats.org/drawingml/2006/main">
              <a:ext uri="{FF2B5EF4-FFF2-40B4-BE49-F238E27FC236}">
                <a16:creationId xmlns:a16="http://schemas.microsoft.com/office/drawing/2014/main" id="{BFEC47C3-FACF-4389-966F-58BEA9E89E1A}"/>
              </a:ext>
            </a:extLst>
          </p:cNvPr>
          <p:cNvSpPr>
            <a:spLocks xmlns:a="http://schemas.openxmlformats.org/drawingml/2006/main" noGrp="1"/>
          </p:cNvSpPr>
          <p:nvPr/>
        </p:nvSpPr>
        <p:spPr>
          <a:xfrm xmlns:a="http://schemas.openxmlformats.org/drawingml/2006/main">
            <a:off x="2619375" y="50958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learning, instability, credibility, revision conditions</a:t>
            </a:r>
          </a:p>
        </p:txBody>
      </p:sp>
      <p:sp>
        <p:nvSpPr>
          <p:cNvPr id="22" name="">
            <a:extLst xmlns:a="http://schemas.openxmlformats.org/drawingml/2006/main">
              <a:ext uri="{FF2B5EF4-FFF2-40B4-BE49-F238E27FC236}">
                <a16:creationId xmlns:a16="http://schemas.microsoft.com/office/drawing/2014/main" id="{335B689C-1C07-47AC-82AD-1DB1675D3D54}"/>
              </a:ext>
            </a:extLst>
          </p:cNvPr>
          <p:cNvSpPr>
            <a:spLocks xmlns:a="http://schemas.openxmlformats.org/drawingml/2006/main" noGrp="1"/>
          </p:cNvSpPr>
          <p:nvPr/>
        </p:nvSpPr>
        <p:spPr>
          <a:xfrm xmlns:a="http://schemas.openxmlformats.org/drawingml/2006/main">
            <a:off x="2857500" y="5953125"/>
            <a:ext cx="647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i="0">
                <a:solidFill>
                  <a:srgbClr val="10A7A5"/>
                </a:solidFill>
                <a:latin typeface="Arial"/>
                <a:ea typeface="Arial"/>
                <a:cs typeface="Arial"/>
              </a:defRPr>
            </a:pPr>
            <a:r>
              <a:rPr sz="1950" b="1" i="0">
                <a:solidFill>
                  <a:srgbClr val="10A7A5"/>
                </a:solidFill>
                <a:latin typeface="Arial"/>
                <a:ea typeface="Arial"/>
                <a:cs typeface="Arial"/>
              </a:rPr>
              <a:t>Freeze the plan before running the Week 6 baseline.</a:t>
            </a:r>
          </a:p>
        </p:txBody>
      </p:sp>
    </p:spTree>
    <p:extLst>
      <p:ext uri="{BB962C8B-B14F-4D97-AF65-F5344CB8AC3E}">
        <p14:creationId xmlns:p14="http://schemas.microsoft.com/office/powerpoint/2010/main" val="1228209161"/>
      </p:ext>
    </p:extLst>
  </p:cSld>
</p:sld>
</file>

<file path=ppt/slides/slide2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B8B2B87-3180-4F2E-A58C-75D98352B2A7}"/>
              </a:ext>
            </a:extLst>
          </p:cNvPr>
          <p:cNvSpPr>
            <a:spLocks xmlns:a="http://schemas.openxmlformats.org/drawingml/2006/main" noGrp="1"/>
          </p:cNvSpPr>
          <p:nvPr/>
        </p:nvSpPr>
        <p:spPr>
          <a:xfrm xmlns:a="http://schemas.openxmlformats.org/drawingml/2006/main">
            <a:off x="666750" y="4000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FFFFFF"/>
                </a:solidFill>
                <a:latin typeface="Arial"/>
                <a:ea typeface="Arial"/>
                <a:cs typeface="Arial"/>
              </a:defRPr>
            </a:pPr>
            <a:r>
              <a:rPr sz="3150" b="1" i="0">
                <a:solidFill>
                  <a:srgbClr val="FFFFFF"/>
                </a:solidFill>
                <a:latin typeface="Arial"/>
                <a:ea typeface="Arial"/>
                <a:cs typeface="Arial"/>
              </a:rPr>
              <a:t>Exit and next step</a:t>
            </a:r>
          </a:p>
        </p:txBody>
      </p:sp>
      <p:sp>
        <p:nvSpPr>
          <p:cNvPr id="2" name="">
            <a:extLst xmlns:a="http://schemas.openxmlformats.org/drawingml/2006/main">
              <a:ext uri="{FF2B5EF4-FFF2-40B4-BE49-F238E27FC236}">
                <a16:creationId xmlns:a16="http://schemas.microsoft.com/office/drawing/2014/main" id="{A3797E54-0074-42EE-9C0A-5000C9350FA8}"/>
              </a:ext>
            </a:extLst>
          </p:cNvPr>
          <p:cNvSpPr>
            <a:spLocks xmlns:a="http://schemas.openxmlformats.org/drawingml/2006/main" noGrp="1"/>
          </p:cNvSpPr>
          <p:nvPr/>
        </p:nvSpPr>
        <p:spPr>
          <a:xfrm xmlns:a="http://schemas.openxmlformats.org/drawingml/2006/main">
            <a:off x="666750" y="1066800"/>
            <a:ext cx="838200" cy="57150"/>
          </a:xfrm>
          <a:prstGeom xmlns:a="http://schemas.openxmlformats.org/drawingml/2006/main" prst="rect">
            <a:avLst/>
          </a:prstGeom>
          <a:solidFill xmlns:a="http://schemas.openxmlformats.org/drawingml/2006/main">
            <a:srgbClr val="F2B84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4466AB-81B9-4B1E-A326-9F2E1DC369D7}"/>
              </a:ext>
            </a:extLst>
          </p:cNvPr>
          <p:cNvSpPr>
            <a:spLocks xmlns:a="http://schemas.openxmlformats.org/drawingml/2006/main" noGrp="1"/>
          </p:cNvSpPr>
          <p:nvPr/>
        </p:nvSpPr>
        <p:spPr>
          <a:xfrm xmlns:a="http://schemas.openxmlformats.org/drawingml/2006/main">
            <a:off x="666750" y="64579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76D7D1"/>
                </a:solidFill>
                <a:latin typeface="Arial"/>
                <a:ea typeface="Arial"/>
                <a:cs typeface="Arial"/>
              </a:defRPr>
            </a:pPr>
            <a:r>
              <a:rPr sz="1200" b="1" i="0">
                <a:solidFill>
                  <a:srgbClr val="76D7D1"/>
                </a:solidFill>
                <a:latin typeface="Arial"/>
                <a:ea typeface="Arial"/>
                <a:cs typeface="Arial"/>
              </a:rPr>
              <a:t>CME705</a:t>
            </a:r>
          </a:p>
        </p:txBody>
      </p:sp>
      <p:sp>
        <p:nvSpPr>
          <p:cNvPr id="4" name="">
            <a:extLst xmlns:a="http://schemas.openxmlformats.org/drawingml/2006/main">
              <a:ext uri="{FF2B5EF4-FFF2-40B4-BE49-F238E27FC236}">
                <a16:creationId xmlns:a16="http://schemas.microsoft.com/office/drawing/2014/main" id="{056CB4B2-B08F-4D44-BB0C-404EC8E9E426}"/>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i="0">
                <a:solidFill>
                  <a:srgbClr val="76D7D1"/>
                </a:solidFill>
                <a:latin typeface="Arial"/>
                <a:ea typeface="Arial"/>
                <a:cs typeface="Arial"/>
              </a:defRPr>
            </a:pPr>
            <a:r>
              <a:rPr sz="1200" b="1" i="0">
                <a:solidFill>
                  <a:srgbClr val="76D7D1"/>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4251B5A1-D4C3-4DAA-973E-2F3C85302FC8}"/>
              </a:ext>
            </a:extLst>
          </p:cNvPr>
          <p:cNvSpPr>
            <a:spLocks xmlns:a="http://schemas.openxmlformats.org/drawingml/2006/main" noGrp="1"/>
          </p:cNvSpPr>
          <p:nvPr/>
        </p:nvSpPr>
        <p:spPr>
          <a:xfrm xmlns:a="http://schemas.openxmlformats.org/drawingml/2006/main">
            <a:off x="809625" y="14287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2B84B"/>
                </a:solidFill>
                <a:latin typeface="Arial"/>
                <a:ea typeface="Arial"/>
                <a:cs typeface="Arial"/>
              </a:defRPr>
            </a:pPr>
            <a:r>
              <a:rPr sz="1350" b="1" i="0">
                <a:solidFill>
                  <a:srgbClr val="F2B84B"/>
                </a:solidFill>
                <a:latin typeface="Arial"/>
                <a:ea typeface="Arial"/>
                <a:cs typeface="Arial"/>
              </a:rPr>
              <a:t>EXPLAIN</a:t>
            </a:r>
          </a:p>
        </p:txBody>
      </p:sp>
      <p:sp>
        <p:nvSpPr>
          <p:cNvPr id="6" name="">
            <a:extLst xmlns:a="http://schemas.openxmlformats.org/drawingml/2006/main">
              <a:ext uri="{FF2B5EF4-FFF2-40B4-BE49-F238E27FC236}">
                <a16:creationId xmlns:a16="http://schemas.microsoft.com/office/drawing/2014/main" id="{6FE30E1E-0100-4B9C-800B-EABEEFF06A62}"/>
              </a:ext>
            </a:extLst>
          </p:cNvPr>
          <p:cNvSpPr>
            <a:spLocks xmlns:a="http://schemas.openxmlformats.org/drawingml/2006/main" noGrp="1"/>
          </p:cNvSpPr>
          <p:nvPr/>
        </p:nvSpPr>
        <p:spPr>
          <a:xfrm xmlns:a="http://schemas.openxmlformats.org/drawingml/2006/main">
            <a:off x="904875" y="200025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76D7D1"/>
                </a:solidFill>
                <a:latin typeface="Arial"/>
                <a:ea typeface="Arial"/>
                <a:cs typeface="Arial"/>
              </a:defRPr>
            </a:pPr>
            <a:r>
              <a:rPr sz="2100" b="1" i="0">
                <a:solidFill>
                  <a:srgbClr val="76D7D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8F5BFDF-EEC6-442F-AF64-B3B0B8F894BC}"/>
              </a:ext>
            </a:extLst>
          </p:cNvPr>
          <p:cNvSpPr>
            <a:spLocks xmlns:a="http://schemas.openxmlformats.org/drawingml/2006/main" noGrp="1"/>
          </p:cNvSpPr>
          <p:nvPr/>
        </p:nvSpPr>
        <p:spPr>
          <a:xfrm xmlns:a="http://schemas.openxmlformats.org/drawingml/2006/main">
            <a:off x="1905000" y="200025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FFFFFF"/>
                </a:solidFill>
                <a:latin typeface="Arial"/>
                <a:ea typeface="Arial"/>
                <a:cs typeface="Arial"/>
              </a:defRPr>
            </a:pPr>
            <a:r>
              <a:rPr sz="2325" b="1" i="0">
                <a:solidFill>
                  <a:srgbClr val="FFFFFF"/>
                </a:solidFill>
                <a:latin typeface="Arial"/>
                <a:ea typeface="Arial"/>
                <a:cs typeface="Arial"/>
              </a:rPr>
              <a:t>Why subtract the gradient?</a:t>
            </a:r>
          </a:p>
        </p:txBody>
      </p:sp>
      <p:sp>
        <p:nvSpPr>
          <p:cNvPr id="8" name="">
            <a:extLst xmlns:a="http://schemas.openxmlformats.org/drawingml/2006/main">
              <a:ext uri="{FF2B5EF4-FFF2-40B4-BE49-F238E27FC236}">
                <a16:creationId xmlns:a16="http://schemas.microsoft.com/office/drawing/2014/main" id="{BA26A64B-E50E-49EB-8B10-9DFA4ACF8EE0}"/>
              </a:ext>
            </a:extLst>
          </p:cNvPr>
          <p:cNvSpPr>
            <a:spLocks xmlns:a="http://schemas.openxmlformats.org/drawingml/2006/main" noGrp="1"/>
          </p:cNvSpPr>
          <p:nvPr/>
        </p:nvSpPr>
        <p:spPr>
          <a:xfrm xmlns:a="http://schemas.openxmlformats.org/drawingml/2006/main">
            <a:off x="1905000" y="2524125"/>
            <a:ext cx="8763000" cy="0"/>
          </a:xfrm>
          <a:prstGeom xmlns:a="http://schemas.openxmlformats.org/drawingml/2006/main" prst="line">
            <a:avLst/>
          </a:prstGeom>
          <a:noFill xmlns:a="http://schemas.openxmlformats.org/drawingml/2006/main"/>
          <a:ln xmlns:a="http://schemas.openxmlformats.org/drawingml/2006/main" w="9525">
            <a:solidFill>
              <a:srgbClr val="40596D"/>
            </a:solidFill>
            <a:prstDash val="solid"/>
          </a:ln>
        </p:spPr>
      </p:sp>
      <p:sp>
        <p:nvSpPr>
          <p:cNvPr id="9" name="">
            <a:extLst xmlns:a="http://schemas.openxmlformats.org/drawingml/2006/main">
              <a:ext uri="{FF2B5EF4-FFF2-40B4-BE49-F238E27FC236}">
                <a16:creationId xmlns:a16="http://schemas.microsoft.com/office/drawing/2014/main" id="{BD7F4BFD-4017-4AA9-9B94-BC3B1EA74DAD}"/>
              </a:ext>
            </a:extLst>
          </p:cNvPr>
          <p:cNvSpPr>
            <a:spLocks xmlns:a="http://schemas.openxmlformats.org/drawingml/2006/main" noGrp="1"/>
          </p:cNvSpPr>
          <p:nvPr/>
        </p:nvSpPr>
        <p:spPr>
          <a:xfrm xmlns:a="http://schemas.openxmlformats.org/drawingml/2006/main">
            <a:off x="904875" y="278130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F2B84B"/>
                </a:solidFill>
                <a:latin typeface="Arial"/>
                <a:ea typeface="Arial"/>
                <a:cs typeface="Arial"/>
              </a:defRPr>
            </a:pPr>
            <a:r>
              <a:rPr sz="2100" b="1" i="0">
                <a:solidFill>
                  <a:srgbClr val="F2B84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4D096275-1749-4D78-97A8-2B95EE263F10}"/>
              </a:ext>
            </a:extLst>
          </p:cNvPr>
          <p:cNvSpPr>
            <a:spLocks xmlns:a="http://schemas.openxmlformats.org/drawingml/2006/main" noGrp="1"/>
          </p:cNvSpPr>
          <p:nvPr/>
        </p:nvSpPr>
        <p:spPr>
          <a:xfrm xmlns:a="http://schemas.openxmlformats.org/drawingml/2006/main">
            <a:off x="1905000" y="27813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FFFFFF"/>
                </a:solidFill>
                <a:latin typeface="Arial"/>
                <a:ea typeface="Arial"/>
                <a:cs typeface="Arial"/>
              </a:defRPr>
            </a:pPr>
            <a:r>
              <a:rPr sz="2325" b="1" i="0">
                <a:solidFill>
                  <a:srgbClr val="FFFFFF"/>
                </a:solidFill>
                <a:latin typeface="Arial"/>
                <a:ea typeface="Arial"/>
                <a:cs typeface="Arial"/>
              </a:rPr>
              <a:t>How does an epoch differ from an update?</a:t>
            </a:r>
          </a:p>
        </p:txBody>
      </p:sp>
      <p:sp>
        <p:nvSpPr>
          <p:cNvPr id="11" name="">
            <a:extLst xmlns:a="http://schemas.openxmlformats.org/drawingml/2006/main">
              <a:ext uri="{FF2B5EF4-FFF2-40B4-BE49-F238E27FC236}">
                <a16:creationId xmlns:a16="http://schemas.microsoft.com/office/drawing/2014/main" id="{FBEDB713-8124-427E-B367-669FF0A1DC1E}"/>
              </a:ext>
            </a:extLst>
          </p:cNvPr>
          <p:cNvSpPr>
            <a:spLocks xmlns:a="http://schemas.openxmlformats.org/drawingml/2006/main" noGrp="1"/>
          </p:cNvSpPr>
          <p:nvPr/>
        </p:nvSpPr>
        <p:spPr>
          <a:xfrm xmlns:a="http://schemas.openxmlformats.org/drawingml/2006/main">
            <a:off x="1905000" y="3305175"/>
            <a:ext cx="8763000" cy="0"/>
          </a:xfrm>
          <a:prstGeom xmlns:a="http://schemas.openxmlformats.org/drawingml/2006/main" prst="line">
            <a:avLst/>
          </a:prstGeom>
          <a:noFill xmlns:a="http://schemas.openxmlformats.org/drawingml/2006/main"/>
          <a:ln xmlns:a="http://schemas.openxmlformats.org/drawingml/2006/main" w="9525">
            <a:solidFill>
              <a:srgbClr val="40596D"/>
            </a:solidFill>
            <a:prstDash val="solid"/>
          </a:ln>
        </p:spPr>
      </p:sp>
      <p:sp>
        <p:nvSpPr>
          <p:cNvPr id="12" name="">
            <a:extLst xmlns:a="http://schemas.openxmlformats.org/drawingml/2006/main">
              <a:ext uri="{FF2B5EF4-FFF2-40B4-BE49-F238E27FC236}">
                <a16:creationId xmlns:a16="http://schemas.microsoft.com/office/drawing/2014/main" id="{AD919FC1-D285-4E7B-98E0-36F4BEEC8D36}"/>
              </a:ext>
            </a:extLst>
          </p:cNvPr>
          <p:cNvSpPr>
            <a:spLocks xmlns:a="http://schemas.openxmlformats.org/drawingml/2006/main" noGrp="1"/>
          </p:cNvSpPr>
          <p:nvPr/>
        </p:nvSpPr>
        <p:spPr>
          <a:xfrm xmlns:a="http://schemas.openxmlformats.org/drawingml/2006/main">
            <a:off x="904875" y="356235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76D7D1"/>
                </a:solidFill>
                <a:latin typeface="Arial"/>
                <a:ea typeface="Arial"/>
                <a:cs typeface="Arial"/>
              </a:defRPr>
            </a:pPr>
            <a:r>
              <a:rPr sz="2100" b="1" i="0">
                <a:solidFill>
                  <a:srgbClr val="76D7D1"/>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18F6E50D-E657-4C20-9F6D-898CEF42C41C}"/>
              </a:ext>
            </a:extLst>
          </p:cNvPr>
          <p:cNvSpPr>
            <a:spLocks xmlns:a="http://schemas.openxmlformats.org/drawingml/2006/main" noGrp="1"/>
          </p:cNvSpPr>
          <p:nvPr/>
        </p:nvSpPr>
        <p:spPr>
          <a:xfrm xmlns:a="http://schemas.openxmlformats.org/drawingml/2006/main">
            <a:off x="1905000" y="356235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FFFFFF"/>
                </a:solidFill>
                <a:latin typeface="Arial"/>
                <a:ea typeface="Arial"/>
                <a:cs typeface="Arial"/>
              </a:defRPr>
            </a:pPr>
            <a:r>
              <a:rPr sz="2325" b="1" i="0">
                <a:solidFill>
                  <a:srgbClr val="FFFFFF"/>
                </a:solidFill>
                <a:latin typeface="Arial"/>
                <a:ea typeface="Arial"/>
                <a:cs typeface="Arial"/>
              </a:rPr>
              <a:t>What does validation select?</a:t>
            </a:r>
          </a:p>
        </p:txBody>
      </p:sp>
      <p:sp>
        <p:nvSpPr>
          <p:cNvPr id="14" name="">
            <a:extLst xmlns:a="http://schemas.openxmlformats.org/drawingml/2006/main">
              <a:ext uri="{FF2B5EF4-FFF2-40B4-BE49-F238E27FC236}">
                <a16:creationId xmlns:a16="http://schemas.microsoft.com/office/drawing/2014/main" id="{0FBC09CC-3ADF-4BC2-B022-4C6B8FF6CA84}"/>
              </a:ext>
            </a:extLst>
          </p:cNvPr>
          <p:cNvSpPr>
            <a:spLocks xmlns:a="http://schemas.openxmlformats.org/drawingml/2006/main" noGrp="1"/>
          </p:cNvSpPr>
          <p:nvPr/>
        </p:nvSpPr>
        <p:spPr>
          <a:xfrm xmlns:a="http://schemas.openxmlformats.org/drawingml/2006/main">
            <a:off x="1905000" y="4086225"/>
            <a:ext cx="8763000" cy="0"/>
          </a:xfrm>
          <a:prstGeom xmlns:a="http://schemas.openxmlformats.org/drawingml/2006/main" prst="line">
            <a:avLst/>
          </a:prstGeom>
          <a:noFill xmlns:a="http://schemas.openxmlformats.org/drawingml/2006/main"/>
          <a:ln xmlns:a="http://schemas.openxmlformats.org/drawingml/2006/main" w="9525">
            <a:solidFill>
              <a:srgbClr val="40596D"/>
            </a:solidFill>
            <a:prstDash val="solid"/>
          </a:ln>
        </p:spPr>
      </p:sp>
      <p:sp>
        <p:nvSpPr>
          <p:cNvPr id="15" name="">
            <a:extLst xmlns:a="http://schemas.openxmlformats.org/drawingml/2006/main">
              <a:ext uri="{FF2B5EF4-FFF2-40B4-BE49-F238E27FC236}">
                <a16:creationId xmlns:a16="http://schemas.microsoft.com/office/drawing/2014/main" id="{4F164346-CFE7-4564-BF77-B2ECCEDE3DA6}"/>
              </a:ext>
            </a:extLst>
          </p:cNvPr>
          <p:cNvSpPr>
            <a:spLocks xmlns:a="http://schemas.openxmlformats.org/drawingml/2006/main" noGrp="1"/>
          </p:cNvSpPr>
          <p:nvPr/>
        </p:nvSpPr>
        <p:spPr>
          <a:xfrm xmlns:a="http://schemas.openxmlformats.org/drawingml/2006/main">
            <a:off x="904875" y="4343400"/>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F2B84B"/>
                </a:solidFill>
                <a:latin typeface="Arial"/>
                <a:ea typeface="Arial"/>
                <a:cs typeface="Arial"/>
              </a:defRPr>
            </a:pPr>
            <a:r>
              <a:rPr sz="2100" b="1" i="0">
                <a:solidFill>
                  <a:srgbClr val="F2B84B"/>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CA8473B3-53A2-45DC-8C05-3B26487953DD}"/>
              </a:ext>
            </a:extLst>
          </p:cNvPr>
          <p:cNvSpPr>
            <a:spLocks xmlns:a="http://schemas.openxmlformats.org/drawingml/2006/main" noGrp="1"/>
          </p:cNvSpPr>
          <p:nvPr/>
        </p:nvSpPr>
        <p:spPr>
          <a:xfrm xmlns:a="http://schemas.openxmlformats.org/drawingml/2006/main">
            <a:off x="1905000" y="4343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FFFFFF"/>
                </a:solidFill>
                <a:latin typeface="Arial"/>
                <a:ea typeface="Arial"/>
                <a:cs typeface="Arial"/>
              </a:defRPr>
            </a:pPr>
            <a:r>
              <a:rPr sz="2325" b="1" i="0">
                <a:solidFill>
                  <a:srgbClr val="FFFFFF"/>
                </a:solidFill>
                <a:latin typeface="Arial"/>
                <a:ea typeface="Arial"/>
                <a:cs typeface="Arial"/>
              </a:rPr>
              <a:t>When are test data used?</a:t>
            </a:r>
          </a:p>
        </p:txBody>
      </p:sp>
      <p:sp>
        <p:nvSpPr>
          <p:cNvPr id="17" name="">
            <a:extLst xmlns:a="http://schemas.openxmlformats.org/drawingml/2006/main">
              <a:ext uri="{FF2B5EF4-FFF2-40B4-BE49-F238E27FC236}">
                <a16:creationId xmlns:a16="http://schemas.microsoft.com/office/drawing/2014/main" id="{4E88AF74-DBFB-4678-A87F-F0AFF31A07A5}"/>
              </a:ext>
            </a:extLst>
          </p:cNvPr>
          <p:cNvSpPr>
            <a:spLocks xmlns:a="http://schemas.openxmlformats.org/drawingml/2006/main" noGrp="1"/>
          </p:cNvSpPr>
          <p:nvPr/>
        </p:nvSpPr>
        <p:spPr>
          <a:xfrm xmlns:a="http://schemas.openxmlformats.org/drawingml/2006/main">
            <a:off x="2619375" y="5667375"/>
            <a:ext cx="695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76D7D1"/>
                </a:solidFill>
                <a:latin typeface="Arial"/>
                <a:ea typeface="Arial"/>
                <a:cs typeface="Arial"/>
              </a:defRPr>
            </a:pPr>
            <a:r>
              <a:rPr sz="2250" b="1" i="0">
                <a:solidFill>
                  <a:srgbClr val="76D7D1"/>
                </a:solidFill>
                <a:latin typeface="Arial"/>
                <a:ea typeface="Arial"/>
                <a:cs typeface="Arial"/>
              </a:rPr>
              <a:t>Next: chain rule and multilayer backpropagation</a:t>
            </a:r>
          </a:p>
        </p:txBody>
      </p:sp>
    </p:spTree>
    <p:extLst>
      <p:ext uri="{BB962C8B-B14F-4D97-AF65-F5344CB8AC3E}">
        <p14:creationId xmlns:p14="http://schemas.microsoft.com/office/powerpoint/2010/main" val="1642371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2026-09-06T12:44:22.0260000Z</dcterms:created>
  <dcterms:modified xsi:type="dcterms:W3CDTF">2026-09-06T12:44:22.0260000Z</dcterms:modified>
</coreProperties>
</file>