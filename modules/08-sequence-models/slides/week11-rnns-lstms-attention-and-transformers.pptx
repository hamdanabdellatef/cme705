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080122986d4022" /><Relationship Type="http://schemas.openxmlformats.org/officeDocument/2006/relationships/extended-properties" Target="/docProps/app.xml" Id="Rfa84a8b99075453b" /><Relationship Type="http://schemas.openxmlformats.org/officeDocument/2006/relationships/officeDocument" Target="/ppt/presentation.xml" Id="R055adf2c154746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62548956bf4dbe"/>
  </p:sldMasterIdLst>
  <p:notesMasterIdLst>
    <p:notesMasterId xmlns:r="http://schemas.openxmlformats.org/officeDocument/2006/relationships" r:id="Rece3136d75604042"/>
  </p:notesMasterIdLst>
  <p:sldIdLst>
    <p:sldId xmlns:r="http://schemas.openxmlformats.org/officeDocument/2006/relationships" id="256" r:id="R086b8bb1f8484f78"/>
    <p:sldId xmlns:r="http://schemas.openxmlformats.org/officeDocument/2006/relationships" id="257" r:id="R79f007591b7e4d92"/>
    <p:sldId xmlns:r="http://schemas.openxmlformats.org/officeDocument/2006/relationships" id="258" r:id="R36172b61c34545dd"/>
    <p:sldId xmlns:r="http://schemas.openxmlformats.org/officeDocument/2006/relationships" id="259" r:id="R3907ad330f444e65"/>
    <p:sldId xmlns:r="http://schemas.openxmlformats.org/officeDocument/2006/relationships" id="260" r:id="R6858a946f41d4791"/>
    <p:sldId xmlns:r="http://schemas.openxmlformats.org/officeDocument/2006/relationships" id="261" r:id="R0f35ede449ee4406"/>
    <p:sldId xmlns:r="http://schemas.openxmlformats.org/officeDocument/2006/relationships" id="262" r:id="R27854f0bfd3f45f6"/>
    <p:sldId xmlns:r="http://schemas.openxmlformats.org/officeDocument/2006/relationships" id="263" r:id="R3f33e24e1f0143f0"/>
    <p:sldId xmlns:r="http://schemas.openxmlformats.org/officeDocument/2006/relationships" id="264" r:id="R99017e1fb33849ea"/>
    <p:sldId xmlns:r="http://schemas.openxmlformats.org/officeDocument/2006/relationships" id="265" r:id="Rcb64981e6a2d484a"/>
    <p:sldId xmlns:r="http://schemas.openxmlformats.org/officeDocument/2006/relationships" id="266" r:id="R36e2faf3c6764086"/>
    <p:sldId xmlns:r="http://schemas.openxmlformats.org/officeDocument/2006/relationships" id="267" r:id="R1a15b7db19594e47"/>
    <p:sldId xmlns:r="http://schemas.openxmlformats.org/officeDocument/2006/relationships" id="268" r:id="R5d629f5a0f8c46ff"/>
    <p:sldId xmlns:r="http://schemas.openxmlformats.org/officeDocument/2006/relationships" id="269" r:id="Redd12974f3304e5a"/>
    <p:sldId xmlns:r="http://schemas.openxmlformats.org/officeDocument/2006/relationships" id="270" r:id="R696f99a285b64ea2"/>
    <p:sldId xmlns:r="http://schemas.openxmlformats.org/officeDocument/2006/relationships" id="271" r:id="R6536d5b81e86437c"/>
    <p:sldId xmlns:r="http://schemas.openxmlformats.org/officeDocument/2006/relationships" id="272" r:id="R1298150cbe70442a"/>
    <p:sldId xmlns:r="http://schemas.openxmlformats.org/officeDocument/2006/relationships" id="273" r:id="R72bb3610157c4a05"/>
    <p:sldId xmlns:r="http://schemas.openxmlformats.org/officeDocument/2006/relationships" id="274" r:id="Reb14855168ab4565"/>
    <p:sldId xmlns:r="http://schemas.openxmlformats.org/officeDocument/2006/relationships" id="275" r:id="R69f4bbd2dbdb4639"/>
    <p:sldId xmlns:r="http://schemas.openxmlformats.org/officeDocument/2006/relationships" id="276" r:id="Rd5bb28cfb2b54428"/>
    <p:sldId xmlns:r="http://schemas.openxmlformats.org/officeDocument/2006/relationships" id="277" r:id="Rf2a6a865e9644f5c"/>
    <p:sldId xmlns:r="http://schemas.openxmlformats.org/officeDocument/2006/relationships" id="278" r:id="R20dc5f0d57c843b5"/>
    <p:sldId xmlns:r="http://schemas.openxmlformats.org/officeDocument/2006/relationships" id="279" r:id="R71f4b80295444501"/>
    <p:sldId xmlns:r="http://schemas.openxmlformats.org/officeDocument/2006/relationships" id="280" r:id="R55aa55a2f8f943df"/>
    <p:sldId xmlns:r="http://schemas.openxmlformats.org/officeDocument/2006/relationships" id="281" r:id="R79128f1f501443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ce5dcc168d4f82" /><Relationship Type="http://schemas.openxmlformats.org/officeDocument/2006/relationships/slideMaster" Target="/ppt/slideMasters/slideMaster1.xml" Id="R1e62548956bf4dbe" /><Relationship Type="http://schemas.openxmlformats.org/officeDocument/2006/relationships/notesMaster" Target="/ppt/notesMasters/notesMaster1.xml" Id="Rece3136d75604042" /><Relationship Type="http://schemas.openxmlformats.org/officeDocument/2006/relationships/presProps" Target="/ppt/presProps.xml" Id="Rd0d9330fcb204121" /><Relationship Type="http://schemas.openxmlformats.org/officeDocument/2006/relationships/tableStyles" Target="/ppt/tableStyles.xml" Id="R33b83b9d9cff4573" /><Relationship Type="http://schemas.openxmlformats.org/officeDocument/2006/relationships/slide" Target="/ppt/slides/slide1.xml" Id="R086b8bb1f8484f78" /><Relationship Type="http://schemas.openxmlformats.org/officeDocument/2006/relationships/slide" Target="/ppt/slides/slide2.xml" Id="R79f007591b7e4d92" /><Relationship Type="http://schemas.openxmlformats.org/officeDocument/2006/relationships/slide" Target="/ppt/slides/slide3.xml" Id="R36172b61c34545dd" /><Relationship Type="http://schemas.openxmlformats.org/officeDocument/2006/relationships/slide" Target="/ppt/slides/slide4.xml" Id="R3907ad330f444e65" /><Relationship Type="http://schemas.openxmlformats.org/officeDocument/2006/relationships/slide" Target="/ppt/slides/slide5.xml" Id="R6858a946f41d4791" /><Relationship Type="http://schemas.openxmlformats.org/officeDocument/2006/relationships/slide" Target="/ppt/slides/slide6.xml" Id="R0f35ede449ee4406" /><Relationship Type="http://schemas.openxmlformats.org/officeDocument/2006/relationships/slide" Target="/ppt/slides/slide7.xml" Id="R27854f0bfd3f45f6" /><Relationship Type="http://schemas.openxmlformats.org/officeDocument/2006/relationships/slide" Target="/ppt/slides/slide8.xml" Id="R3f33e24e1f0143f0" /><Relationship Type="http://schemas.openxmlformats.org/officeDocument/2006/relationships/slide" Target="/ppt/slides/slide9.xml" Id="R99017e1fb33849ea" /><Relationship Type="http://schemas.openxmlformats.org/officeDocument/2006/relationships/slide" Target="/ppt/slides/slide10.xml" Id="Rcb64981e6a2d484a" /><Relationship Type="http://schemas.openxmlformats.org/officeDocument/2006/relationships/slide" Target="/ppt/slides/slide11.xml" Id="R36e2faf3c6764086" /><Relationship Type="http://schemas.openxmlformats.org/officeDocument/2006/relationships/slide" Target="/ppt/slides/slide12.xml" Id="R1a15b7db19594e47" /><Relationship Type="http://schemas.openxmlformats.org/officeDocument/2006/relationships/slide" Target="/ppt/slides/slide13.xml" Id="R5d629f5a0f8c46ff" /><Relationship Type="http://schemas.openxmlformats.org/officeDocument/2006/relationships/slide" Target="/ppt/slides/slide14.xml" Id="Redd12974f3304e5a" /><Relationship Type="http://schemas.openxmlformats.org/officeDocument/2006/relationships/slide" Target="/ppt/slides/slide15.xml" Id="R696f99a285b64ea2" /><Relationship Type="http://schemas.openxmlformats.org/officeDocument/2006/relationships/slide" Target="/ppt/slides/slide16.xml" Id="R6536d5b81e86437c" /><Relationship Type="http://schemas.openxmlformats.org/officeDocument/2006/relationships/slide" Target="/ppt/slides/slide17.xml" Id="R1298150cbe70442a" /><Relationship Type="http://schemas.openxmlformats.org/officeDocument/2006/relationships/slide" Target="/ppt/slides/slide18.xml" Id="R72bb3610157c4a05" /><Relationship Type="http://schemas.openxmlformats.org/officeDocument/2006/relationships/slide" Target="/ppt/slides/slide19.xml" Id="Reb14855168ab4565" /><Relationship Type="http://schemas.openxmlformats.org/officeDocument/2006/relationships/slide" Target="/ppt/slides/slide20.xml" Id="R69f4bbd2dbdb4639" /><Relationship Type="http://schemas.openxmlformats.org/officeDocument/2006/relationships/slide" Target="/ppt/slides/slide21.xml" Id="Rd5bb28cfb2b54428" /><Relationship Type="http://schemas.openxmlformats.org/officeDocument/2006/relationships/slide" Target="/ppt/slides/slide22.xml" Id="Rf2a6a865e9644f5c" /><Relationship Type="http://schemas.openxmlformats.org/officeDocument/2006/relationships/slide" Target="/ppt/slides/slide23.xml" Id="R20dc5f0d57c843b5" /><Relationship Type="http://schemas.openxmlformats.org/officeDocument/2006/relationships/slide" Target="/ppt/slides/slide24.xml" Id="R71f4b80295444501" /><Relationship Type="http://schemas.openxmlformats.org/officeDocument/2006/relationships/slide" Target="/ppt/slides/slide25.xml" Id="R55aa55a2f8f943df" /><Relationship Type="http://schemas.openxmlformats.org/officeDocument/2006/relationships/slide" Target="/ppt/slides/slide26.xml" Id="R79128f1f5014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92f544e97f47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1eca4fcdc64f0c" /><Relationship Type="http://schemas.openxmlformats.org/officeDocument/2006/relationships/notesMaster" Target="/ppt/notesMasters/notesMaster1.xml" Id="R76e24732db2a4f1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8395463b4a4abf" /><Relationship Type="http://schemas.openxmlformats.org/officeDocument/2006/relationships/notesMaster" Target="/ppt/notesMasters/notesMaster1.xml" Id="Rb24c053774784d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570a5afb4743e4" /><Relationship Type="http://schemas.openxmlformats.org/officeDocument/2006/relationships/notesMaster" Target="/ppt/notesMasters/notesMaster1.xml" Id="Rad057d437ac540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d742b73a405442d" /><Relationship Type="http://schemas.openxmlformats.org/officeDocument/2006/relationships/notesMaster" Target="/ppt/notesMasters/notesMaster1.xml" Id="Rfcb9f636b91e40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64312201d40c8" /><Relationship Type="http://schemas.openxmlformats.org/officeDocument/2006/relationships/notesMaster" Target="/ppt/notesMasters/notesMaster1.xml" Id="Rc23c379790b2442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b5f6bab3c9f45ae" /><Relationship Type="http://schemas.openxmlformats.org/officeDocument/2006/relationships/notesMaster" Target="/ppt/notesMasters/notesMaster1.xml" Id="R62bd24ac3a5a464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4cd76d71264d82" /><Relationship Type="http://schemas.openxmlformats.org/officeDocument/2006/relationships/notesMaster" Target="/ppt/notesMasters/notesMaster1.xml" Id="Ra5092e78eadf4a7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f421759bba480b" /><Relationship Type="http://schemas.openxmlformats.org/officeDocument/2006/relationships/notesMaster" Target="/ppt/notesMasters/notesMaster1.xml" Id="R7c55e5599a3c4a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0ab260ae234d7a" /><Relationship Type="http://schemas.openxmlformats.org/officeDocument/2006/relationships/notesMaster" Target="/ppt/notesMasters/notesMaster1.xml" Id="Rb86294b48ef041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e360ee78643d8" /><Relationship Type="http://schemas.openxmlformats.org/officeDocument/2006/relationships/notesMaster" Target="/ppt/notesMasters/notesMaster1.xml" Id="R05a4c42d4d354a4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56833dfa154ab4" /><Relationship Type="http://schemas.openxmlformats.org/officeDocument/2006/relationships/notesMaster" Target="/ppt/notesMasters/notesMaster1.xml" Id="R15894eb2bf7346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ceade98ee54d4d" /><Relationship Type="http://schemas.openxmlformats.org/officeDocument/2006/relationships/notesMaster" Target="/ppt/notesMasters/notesMaster1.xml" Id="R32b66c84716247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b22b3e77454e93" /><Relationship Type="http://schemas.openxmlformats.org/officeDocument/2006/relationships/notesMaster" Target="/ppt/notesMasters/notesMaster1.xml" Id="R49df4e6bec0b4c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0d1b19994a44cd" /><Relationship Type="http://schemas.openxmlformats.org/officeDocument/2006/relationships/notesMaster" Target="/ppt/notesMasters/notesMaster1.xml" Id="R8da7b2cc20454f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fd50a8e22bb42b2" /><Relationship Type="http://schemas.openxmlformats.org/officeDocument/2006/relationships/notesMaster" Target="/ppt/notesMasters/notesMaster1.xml" Id="Rcc193c73562249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d4a46f1ad14491" /><Relationship Type="http://schemas.openxmlformats.org/officeDocument/2006/relationships/notesMaster" Target="/ppt/notesMasters/notesMaster1.xml" Id="R2e1a0021cb9240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becab047d154c2d" /><Relationship Type="http://schemas.openxmlformats.org/officeDocument/2006/relationships/notesMaster" Target="/ppt/notesMasters/notesMaster1.xml" Id="R8e4fc45cdc284e3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0b8b6bb301d4205" /><Relationship Type="http://schemas.openxmlformats.org/officeDocument/2006/relationships/notesMaster" Target="/ppt/notesMasters/notesMaster1.xml" Id="R0b545c2fe82349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f107ec59d64ac0" /><Relationship Type="http://schemas.openxmlformats.org/officeDocument/2006/relationships/notesMaster" Target="/ppt/notesMasters/notesMaster1.xml" Id="Rb1bcac4e4fa149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2a2870f9ae143e8" /><Relationship Type="http://schemas.openxmlformats.org/officeDocument/2006/relationships/notesMaster" Target="/ppt/notesMasters/notesMaster1.xml" Id="R58a12caea1ff43f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62e36c1ae4c4d4e" /><Relationship Type="http://schemas.openxmlformats.org/officeDocument/2006/relationships/notesMaster" Target="/ppt/notesMasters/notesMaster1.xml" Id="R324c3c39c78b4ea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bacf4556064328" /><Relationship Type="http://schemas.openxmlformats.org/officeDocument/2006/relationships/notesMaster" Target="/ppt/notesMasters/notesMaster1.xml" Id="R9787a2c3259c4e2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510b6249304f08" /><Relationship Type="http://schemas.openxmlformats.org/officeDocument/2006/relationships/notesMaster" Target="/ppt/notesMasters/notesMaster1.xml" Id="R530e2bae4a274d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b19516032984586" /><Relationship Type="http://schemas.openxmlformats.org/officeDocument/2006/relationships/notesMaster" Target="/ppt/notesMasters/notesMaster1.xml" Id="R27b85717688046e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ee8637067974346" /><Relationship Type="http://schemas.openxmlformats.org/officeDocument/2006/relationships/notesMaster" Target="/ppt/notesMasters/notesMaster1.xml" Id="R72a1d2fa56d84c1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ee4ae40323d413f" /><Relationship Type="http://schemas.openxmlformats.org/officeDocument/2006/relationships/notesMaster" Target="/ppt/notesMasters/notesMaster1.xml" Id="R799fcc1c40e547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2 minutes. Ask the guiding question: how should a model store, retrieve, and evaluate evidence when order and distance matter? The illustration is an original generated course asset.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4 minutes. Each row becomes evidence students calculate, run, or qualify. Point to the worksheet before introducing architecture names.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Give one archived-document example and one streaming example. The legal context follows the deployment prediction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Ask what future information or shared raw observation could cross a partition in each student's problem.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Trace D input features to H hidden features and C logits. Shared transition parameters allow variable sequence lengths.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Follow the arrows from x1 to h5. The final state is a fixed-width summary in a many-to-one classifier.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number of Jacobian factors grows with the distance between evidence and loss. Directions and activation derivatives matter, not only one scalar norm.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Have students estimate 0.9 to the power 50 and 1.1 to the power 50 on the worksheet.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Separate cell memory from exposed hidden output. Gates are learned vectors, not fixed switches.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Calculate one scalar gate example before discussing vector operations. Sigmoid gates lie between zero and one.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Use the worksheet values to compute c_t = 0.68 and h_t approximately 0.414.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Counts use D=4, H=32, C=3, one layer, and two recurrent bias vectors. Ask for a parameter-matched extension.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Both models receive the same data, width, optimizer, batch size, epochs, and checkpoint rule. The longer split is never used for selection.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7 minutes. Ask what evidence would reveal a failure that matched validation cannot show.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Do not say LSTMs always win. Propose multiple seeds, parameter matching, several lengths, random cue locations, and stronger distractors.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Contrast recurrent compression with direct content-addressed access. Attention still has finite context and computational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Complete the two-token worksheet calculation. The course code returns weights so normalization can be tested.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Read the lower-triangular allowed-access matrix. A bidirectional encoder can use both directions only when the complete input is legal.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Heads use different learned projections, then concatenate and project. Interpretability requires more than a heat map.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Trace the pre-normalization residual equations. Attention mixes positions and the feed-forward network transforms each position.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Without position information, self-attention is permutation-equivariant. Training length and inference length are experimental variables.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Require measured latency and peak memory on target hardware when efficiency is part of a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Sources: S4 Table 4, S5 Table 1, and Mega Table 2. This is a common-task comparison, not a universal model ranking.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10 minutes. Separate architecture ideas from benchmark scores. Discuss Mamba selection, xLSTM memory, ModernBERT encoders, Titans test-time memory, and LongBench Pro effective context.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12 minutes. The dataset card lists unknown license metadata and research use. Keep data, weights, and checkpoints outside Git. Record GPU, revision, errors, latency, and memory.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8 minutes. Collect a falsifiable question and a rejection condition. The Week 12 ablation or robustness experiment should follow from this note.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0485e9ee5341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22e4294109e46ed" /><Relationship Type="http://schemas.openxmlformats.org/officeDocument/2006/relationships/slideLayout" Target="/ppt/slideLayouts/slideLayout1.xml" Id="Re37440416000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7440416000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d6c79ce524095" /><Relationship Type="http://schemas.openxmlformats.org/officeDocument/2006/relationships/image" Target="/ppt/media/image.png" Id="R6c2d2a3dfc7e4746" /><Relationship Type="http://schemas.openxmlformats.org/officeDocument/2006/relationships/notesSlide" Target="/ppt/notesSlides/notesSlide1.xml" Id="R1e26a9ce5c2a4e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49bd4dd94488b" /><Relationship Type="http://schemas.openxmlformats.org/officeDocument/2006/relationships/notesSlide" Target="/ppt/notesSlides/notesSlide2.xml" Id="R96b7316560b345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2cfd0084f5447b" /><Relationship Type="http://schemas.openxmlformats.org/officeDocument/2006/relationships/notesSlide" Target="/ppt/notesSlides/notesSlide3.xml" Id="Rd37adf99d27b45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52b8cd9d5410c" /><Relationship Type="http://schemas.openxmlformats.org/officeDocument/2006/relationships/notesSlide" Target="/ppt/notesSlides/notesSlide4.xml" Id="R93df4bf0db4d43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bdfbb291840e5" /><Relationship Type="http://schemas.openxmlformats.org/officeDocument/2006/relationships/notesSlide" Target="/ppt/notesSlides/notesSlide5.xml" Id="R06d2f2fe22494b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4df46b6bb4006" /><Relationship Type="http://schemas.openxmlformats.org/officeDocument/2006/relationships/notesSlide" Target="/ppt/notesSlides/notesSlide6.xml" Id="R27f225b2d3bf49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9b99acf7e49df" /><Relationship Type="http://schemas.openxmlformats.org/officeDocument/2006/relationships/notesSlide" Target="/ppt/notesSlides/notesSlide7.xml" Id="Rce247c81446542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1db1a3d85c40c3" /><Relationship Type="http://schemas.openxmlformats.org/officeDocument/2006/relationships/notesSlide" Target="/ppt/notesSlides/notesSlide8.xml" Id="R93a2cbdb6ebd4c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86536735b46cf" /><Relationship Type="http://schemas.openxmlformats.org/officeDocument/2006/relationships/notesSlide" Target="/ppt/notesSlides/notesSlide9.xml" Id="R9847a02bc2ad421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c317268f746a4" /><Relationship Type="http://schemas.openxmlformats.org/officeDocument/2006/relationships/notesSlide" Target="/ppt/notesSlides/notesSlide10.xml" Id="Rc3544804cc9a42f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fb9788de24311" /><Relationship Type="http://schemas.openxmlformats.org/officeDocument/2006/relationships/notesSlide" Target="/ppt/notesSlides/notesSlide11.xml" Id="R50bd6fd80c7c453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36e2bd62145e7" /><Relationship Type="http://schemas.openxmlformats.org/officeDocument/2006/relationships/notesSlide" Target="/ppt/notesSlides/notesSlide12.xml" Id="R1d4ec0d1d036451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5f974e0db4a28" /><Relationship Type="http://schemas.openxmlformats.org/officeDocument/2006/relationships/notesSlide" Target="/ppt/notesSlides/notesSlide13.xml" Id="R735b151a3e4347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a8d4c4094d41a7" /><Relationship Type="http://schemas.openxmlformats.org/officeDocument/2006/relationships/notesSlide" Target="/ppt/notesSlides/notesSlide14.xml" Id="Re20f4c9db19644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e009c24344092" /><Relationship Type="http://schemas.openxmlformats.org/officeDocument/2006/relationships/notesSlide" Target="/ppt/notesSlides/notesSlide15.xml" Id="R3450b19a387d428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da589f1acd4c0e" /><Relationship Type="http://schemas.openxmlformats.org/officeDocument/2006/relationships/notesSlide" Target="/ppt/notesSlides/notesSlide16.xml" Id="R41b2600721cc4b7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e30edd528424d" /><Relationship Type="http://schemas.openxmlformats.org/officeDocument/2006/relationships/notesSlide" Target="/ppt/notesSlides/notesSlide17.xml" Id="Rd9d5831ca3f5499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9cd73c08d34a4b" /><Relationship Type="http://schemas.openxmlformats.org/officeDocument/2006/relationships/notesSlide" Target="/ppt/notesSlides/notesSlide18.xml" Id="R44df97cac7244dc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ada1bc9154a82" /><Relationship Type="http://schemas.openxmlformats.org/officeDocument/2006/relationships/notesSlide" Target="/ppt/notesSlides/notesSlide19.xml" Id="R860179e8dd664b6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c44b35da704872" /><Relationship Type="http://schemas.openxmlformats.org/officeDocument/2006/relationships/notesSlide" Target="/ppt/notesSlides/notesSlide20.xml" Id="R97c81d5b392b484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bc01321e844ce" /><Relationship Type="http://schemas.openxmlformats.org/officeDocument/2006/relationships/notesSlide" Target="/ppt/notesSlides/notesSlide21.xml" Id="R4549f0122fd74d8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c0579b19534baa" /><Relationship Type="http://schemas.openxmlformats.org/officeDocument/2006/relationships/notesSlide" Target="/ppt/notesSlides/notesSlide22.xml" Id="R4e5f3a24471f4de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31e66fbe32475c" /><Relationship Type="http://schemas.openxmlformats.org/officeDocument/2006/relationships/notesSlide" Target="/ppt/notesSlides/notesSlide23.xml" Id="Rbdafe631c5c14a4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2a3c2352b1401e" /><Relationship Type="http://schemas.openxmlformats.org/officeDocument/2006/relationships/notesSlide" Target="/ppt/notesSlides/notesSlide24.xml" Id="R47fa64cb1995416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60feb95cb4b53" /><Relationship Type="http://schemas.openxmlformats.org/officeDocument/2006/relationships/notesSlide" Target="/ppt/notesSlides/notesSlide25.xml" Id="R8e66e4d5a2b04d91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5835e103544ba" /><Relationship Type="http://schemas.openxmlformats.org/officeDocument/2006/relationships/notesSlide" Target="/ppt/notesSlides/notesSlide26.xml" Id="Rb12f521976b548d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2d2a3dfc7e474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64D8E-A98A-45E5-9AF9-55BF9D8B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38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98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D39AEE-1EAC-4947-A0D2-91A19581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495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CME705</a:t>
            </a:r>
          </a:p>
          <a:p xmlns:a="http://schemas.openxmlformats.org/drawingml/2006/main">
            <a:pPr algn="l">
              <a:defRPr sz="4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Machine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1A2DED-C08A-41E1-A2DC-2CFAE15E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288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Neural Networks, Deep Learning,</a:t>
            </a:r>
          </a:p>
          <a:p xmlns:a="http://schemas.openxmlformats.org/drawingml/2006/main">
            <a:pPr algn="l">
              <a:defRPr sz="20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and Research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8E208-84CB-473C-8930-C295638D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F23D8-191B-4B40-9E57-D3E0B1B5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WEEK 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39DEC-8609-4D07-B06F-2E8A22C1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5238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RNNs, LSTMs, attention,</a:t>
            </a:r>
          </a:p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Transformers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A3634-E182-413F-85F8-C20ED3D8F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2865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B9CFD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B9CFD8"/>
                </a:solidFill>
                <a:latin typeface="Arial"/>
                <a:ea typeface="Arial"/>
                <a:cs typeface="Arial"/>
              </a:rPr>
              <a:t>Karabuk University   Department of Computer Engineering</a:t>
            </a:r>
          </a:p>
        </p:txBody>
      </p:sp>
    </p:spTree>
    <p:extLst>
      <p:ext uri="{BB962C8B-B14F-4D97-AF65-F5344CB8AC3E}">
        <p14:creationId xmlns:p14="http://schemas.microsoft.com/office/powerpoint/2010/main" val="1471538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A4C6489-D9BE-4115-85D8-6189449C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Today’s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5A1F15-4C0F-4516-871C-08984F1F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C8255-AF76-4109-A3B4-AFD0015E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2D6BE9-231D-4063-BFF5-28FC3FB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5438C-84B4-4B44-85AE-AAB445FF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525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7C289-1090-48EC-9733-830AE4BE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525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Legal context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F7C70-2573-4D00-9BE8-60E4F9B0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525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prediction time and allowed information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885A68-8559-44C4-8EBF-E88D0B8AB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7811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F0DC45-183B-49D2-BD31-0B4A8380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51BE8A-81EC-4A18-B7F6-03B28112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431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Recurrence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B9FFDB-CAAB-4E31-BA23-DEC7956F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shared state, shapes, and parameters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7220CA-9249-4F1E-98D9-DF263701E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717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476ACA-50E0-448B-A9F8-ACE3251C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3455D2-4801-4614-ABA4-DA8DC80F5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33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Gradient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46C0E0-361C-45FD-A29F-296AAE396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336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product across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1DCCDE-849B-4131-B01A-D0D181DE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622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D7033-DA6C-4D34-B487-5F4E0053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F30EA-C929-45CC-A6F0-3607B6CE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1242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LSTM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6E98A7-1F81-4280-BDD4-2BAA72D7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all gates and the cell update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05565D-03C5-41D8-A285-AE422C165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528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142856-E076-4D6B-A4E9-4633C6D6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90341B-8EB1-4B21-97A5-E61D7101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7147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79B87C-6A03-453D-A425-C77CEE43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matched validation plus locked length stress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4E9EE-A027-48AD-8000-DEB34A2F6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1433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93F0AE-E5CD-4A2A-B07F-D539CDB3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44EB78-B310-4D46-B6FD-2586B356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Attention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90D296-4882-45CE-8A0B-AF9652D8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053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weights, scaling, and masks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2A99C4-FA0F-4810-B0DC-30C15197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339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F44A7A-4C8D-4E67-8D0D-358B864C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45B073-631F-4FB9-ABF9-7F875784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958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Transformer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F1C404-3D36-4028-93F6-3D2638CA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958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block trace and position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551075-69E9-40F3-AC5E-6578721A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32447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1C5D89-7936-4941-B506-49AEE319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8640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CE9BCF-0122-4AAF-B6D7-DA6D0BA7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86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C9C0B8-F94A-43E1-BEF0-31DFA200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48640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benchmark-qualified next experiment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3055A6-C2EA-4E07-B6A3-A951757B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915025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69088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0C18C-9F8A-44EE-944F-32220F7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Sequence tasks begin with prediction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BF604-828D-49FE-B882-22B65B0C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81D958-1939-4C4D-9104-C8397263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1BA8BA-539E-4178-9B23-EA195E58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904875" y="1476375"/>
          <a:ext xmlns:a="http://schemas.openxmlformats.org/drawingml/2006/main" cx="103822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429000"/>
                <a:gridCol w="4000500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Mapping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Legal context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sequence → 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document 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complete document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sequence → sequence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per-step label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task dependent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autoregressive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next token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past + current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forecasting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future demand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available by origin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E9779-1E12-44A5-B6D6-AD41C2EB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8667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27C057-D2F3-4110-96F7-0237BF50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476875"/>
            <a:ext cx="790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A bidirectional model leaks when the application must predict online.</a:t>
            </a:r>
          </a:p>
        </p:txBody>
      </p:sp>
    </p:spTree>
    <p:extLst>
      <p:ext uri="{BB962C8B-B14F-4D97-AF65-F5344CB8AC3E}">
        <p14:creationId xmlns:p14="http://schemas.microsoft.com/office/powerpoint/2010/main" val="14916096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20F1C3-42D8-47CA-8D1D-806E1D83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Split the process, not arbitrary rows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849C2C-D301-4A66-ABA9-44D48048A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7F3C25-6975-4F23-AEFC-D3AF8973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2FC43-D10B-497E-A3E7-5947FB7C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72C6E-06FA-4308-A68A-4DFACE57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00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9808A2-7898-46E3-9361-2B2F18F81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3095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C31F2-29E5-4831-864D-E979193B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past / entities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984872-E997-4D4A-A5FB-DA1EE0D6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670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9C845-2C0B-498F-9233-D37DF95ED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00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5F0EB1-58A7-4342-AA4A-C76144C3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47875"/>
            <a:ext cx="3095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FF06D0-6557-459A-BD8B-965B7C77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95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later / entities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17F4C8-4AF7-43A1-A6F8-F23C40FC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670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2B46D-197F-4EFF-AB66-03E62565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00200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LOCKED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61E9FA-0451-43C4-8B7E-6A08D970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47875"/>
            <a:ext cx="3095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4FD298-35FE-41A9-BF68-3B6A10ED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619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future / entities 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2FFE63-59CA-49CD-8166-B70D126A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91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93C070-C72C-4FE6-B70D-8958A1BF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2100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entity disjoint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6B94AF-9884-4C23-AA97-FFCB0457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91000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8B39F-3235-4E8A-9792-ED896C59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10050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overlapping windows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407112-3F08-4988-BD34-185769CB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05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135E2-211F-4B3D-B25A-FD4445471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9244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chronological when forecasting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155CC7-A75F-4D64-9A64-BA63D9BA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361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A16132-777F-4034-8A4A-186202D0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24425"/>
            <a:ext cx="3857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training-only preprocessing</a:t>
            </a:r>
          </a:p>
        </p:txBody>
      </p:sp>
    </p:spTree>
    <p:extLst>
      <p:ext uri="{BB962C8B-B14F-4D97-AF65-F5344CB8AC3E}">
        <p14:creationId xmlns:p14="http://schemas.microsoft.com/office/powerpoint/2010/main" val="392824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582E71-9F1E-4FDE-8A53-548222E7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Vanilla recurrent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EE4C9-63EF-4D22-B53F-417C0EA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A766D-E31D-4909-9F30-DAEE267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FF0DA-5EF7-41C1-97F9-C5FA0A98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31D38-17B5-45BB-BBDF-44825986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4953000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504FD5-04C7-464C-AC46-B7B0CBD1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0478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aₜ = Wₓₕxₜ + Wₕₕhₜ₋₁ + bₕ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1E42D0-24FB-4BEB-AF08-A6DAC937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57500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hₜ = tanh(aₜ)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51DF36-C931-4507-999E-8C012C8D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19250"/>
            <a:ext cx="4619625" cy="2333625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F284B-1506-428D-89E0-1AE9ACAD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00250"/>
            <a:ext cx="3952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sequence → 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01E1C4-C80C-4792-AA45-940CFE0D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714625"/>
            <a:ext cx="3952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 = WₕᵧhT + bᵧ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7DCEF0-4A9D-447A-862E-BCCC9CE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05375"/>
            <a:ext cx="7810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33383B-0673-4039-A5F8-7244C477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08635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One transition is shared across every time step.</a:t>
            </a:r>
          </a:p>
        </p:txBody>
      </p:sp>
    </p:spTree>
    <p:extLst>
      <p:ext uri="{BB962C8B-B14F-4D97-AF65-F5344CB8AC3E}">
        <p14:creationId xmlns:p14="http://schemas.microsoft.com/office/powerpoint/2010/main" val="335183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1F64C5-844A-40F9-AA02-E4CEFE0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Unroll the shared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6FEDE-2282-49F6-AECB-91C36E23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A3126-43A6-4232-9C04-DB27F53D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823E8A-B2E7-4E3A-BA9F-D3F7AB06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866506-5F4A-408B-861A-69EBAEF9B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19375"/>
            <a:ext cx="1143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2AE39-6FB4-4E09-B389-854A28CD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5DE539-8A9F-47AF-B042-F7A53270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52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AA6B2-502F-4AC8-8804-296BD127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D7D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961A56-4037-4AC6-9E82-A890EB4D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670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9C9900-FE1B-425E-9937-0C1B73FB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1143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E7AF43-FB4F-483B-9973-29E105F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D5723C-EE0F-4B3E-B1BE-E75A287B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952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4F8857-DB7A-4A3A-9723-044800658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D7D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C2EB01-B1BE-43C1-8823-AF4B80AF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70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C0A30A-B602-470C-880A-CA098089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19375"/>
            <a:ext cx="1143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36D217-7F51-407C-AB9D-1E86CD87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08B56B-1A70-4E2C-9CC9-21C59E0B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52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EE70FB-CFFD-401B-85D9-D2D228A7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D7D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EFF692-946D-4A47-AC00-64A88DA4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670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5399AE-2F3B-403C-9B60-9FC5D54D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9375"/>
            <a:ext cx="1143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317BF-F48D-4D24-A6A3-0992E95F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5A01F1-942F-4B44-89C5-5CFBE06B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92D5C-5FE4-4CCC-8F50-D2879E3D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D7D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ABE085-9BD7-4A45-9407-57933D63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E6C9F-3704-4CE4-8AE4-1E846044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2619375"/>
            <a:ext cx="11430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0E31B-ADEE-40F2-9450-343CCB228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575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5074B3-4ABA-47D9-B5BC-1EDED81A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9526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99804-4744-4327-93C4-786BDD366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381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6D7D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036632-EE92-4944-B6EB-AAC1C34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same Wₓₕ and Wₕₕ at every step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DF9B76-8777-46E7-9DB7-0EBA95F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86375"/>
            <a:ext cx="7239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72A151-3CF2-4B81-A0EF-DB1DB0D6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483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2218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 early cue reaches the loss through every intervening state.</a:t>
            </a:r>
          </a:p>
        </p:txBody>
      </p:sp>
    </p:spTree>
    <p:extLst>
      <p:ext uri="{BB962C8B-B14F-4D97-AF65-F5344CB8AC3E}">
        <p14:creationId xmlns:p14="http://schemas.microsoft.com/office/powerpoint/2010/main" val="3425887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43667-3D10-4AAF-89C4-4F413F9F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Backpropagation through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E14E9-2B85-4426-8827-6DF0A79F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A3D308-E30C-4F45-9FA2-2E3DAAD3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E828B-0876-4BF8-BE73-69557B14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BD3F2B-AFB2-4DD4-8898-EF44340D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CHAIN RULE ACROSS STATES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866A5C-4DFC-4B42-BEF6-AC3022BE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103822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CD6EB-513C-42D1-94AA-00C06B54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812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∂L/∂hₜ  =  ∂L/∂hT  ·  ∏ₖ₌ₜ₊₁ᵀ  ∂hₖ/∂hₖ₋₁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440BC-E757-49D0-9056-D3AEDF78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FOR TANH RECURRENCE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066A6-E1C3-4669-A8D1-B52CA2BE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382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4E311C-558E-4452-8619-E22981AC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48200"/>
            <a:ext cx="923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∂hₖ/∂hₖ₋₁  =  diag(1 − hₖ²) Wₕₕ</a:t>
            </a:r>
          </a:p>
        </p:txBody>
      </p:sp>
    </p:spTree>
    <p:extLst>
      <p:ext uri="{BB962C8B-B14F-4D97-AF65-F5344CB8AC3E}">
        <p14:creationId xmlns:p14="http://schemas.microsoft.com/office/powerpoint/2010/main" val="8618824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C5A2E0-D026-48E3-B458-3D82A904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Repeated factors change gradient scale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D7C18E-D211-4A63-90E3-91B5830B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A65AD1-BDB3-4367-9D91-8F196F16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5E35F-A838-4AD9-A5B9-F34C5A2F0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039CB-9388-4873-BAC3-0B57CDE0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SHRINKING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C4854-96AF-4CA6-84BE-9D9A9FA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95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0.8³⁰  ≈  0.00124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AC33B-7A1A-45AB-AA31-BE19476E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713600-8FC2-4560-9802-415BB9E49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3333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D7D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CEE48D-461A-4DC4-80E0-F59DDB23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2476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GROWING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BB2570-BD75-4218-B666-43B0A3E5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1.2³⁰  ≈  237.4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87ED8-6F18-4C15-8BBE-8F725355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16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92444-CF5D-4D10-8A42-492399751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371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0345CA-017D-410C-9CBF-22C5E19F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971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C89322-0D34-4FD9-B347-D761E584A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14875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 clipping limits explosion before the optimizer step.</a:t>
            </a:r>
          </a:p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It cannot reconstruct a signal that already vanished.</a:t>
            </a:r>
          </a:p>
        </p:txBody>
      </p:sp>
    </p:spTree>
    <p:extLst>
      <p:ext uri="{BB962C8B-B14F-4D97-AF65-F5344CB8AC3E}">
        <p14:creationId xmlns:p14="http://schemas.microsoft.com/office/powerpoint/2010/main" val="6089587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AA4E59-864D-4A21-9FCC-61D750F0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LSTM adds an explicit cell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4EC0A-0F0B-43E3-9FA6-E1956FFFF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5DA7C7-AEBE-442C-87AE-E65427CE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F1553C-8406-443D-9EE7-2E3DFF33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F2CC4-02A2-4B07-88C2-107DB5861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971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4D75B-2347-46A9-B333-609A3F23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333625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cell state 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D57C1B-1151-43DD-978E-75ADF876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4520F-DA3B-46CF-98E4-261473AAD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576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FORGET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A592C1-35F8-4B2F-B24F-F8CCE410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retain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21926F-A3A1-4C33-B9DC-14D84888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571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A2792-ACB3-4145-8BF9-7EC36465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12DA29-5FDA-45C9-92D2-661D68A0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576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02CB6-8B98-4790-9440-335C39F0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862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2FE82-C4B8-401D-9E0E-A7A5EB88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3571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85A39-A057-4595-9219-0DA19EE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EAE05-5B20-460A-8F45-F9FC900D6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576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2661B-D1CB-4730-A525-15928A8B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862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propose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332B00-4DB4-483F-893E-F7B422BB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571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CF2E35-AC7E-48C9-B7B3-8D67033D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3667125"/>
            <a:ext cx="2333625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05DD78-DED4-4076-A626-738217E7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57625"/>
            <a:ext cx="1857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46D662-2031-4761-9793-F3E0D09B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28625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reveal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65B100-12D1-4312-AE2A-E4AD75D3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357187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03208A-BE1B-4BD9-B10E-CB69EA77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334000"/>
            <a:ext cx="7143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32E30D-4FD9-4814-A539-EF15F79F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57825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Hidden state h exposes the selected current output.</a:t>
            </a:r>
          </a:p>
        </p:txBody>
      </p:sp>
    </p:spTree>
    <p:extLst>
      <p:ext uri="{BB962C8B-B14F-4D97-AF65-F5344CB8AC3E}">
        <p14:creationId xmlns:p14="http://schemas.microsoft.com/office/powerpoint/2010/main" val="1059991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0654E1-C319-4B92-A6CB-74800195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LSTM gate equations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EA0A1-BE25-4734-805B-3DE4D7159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51A6D-4A44-489B-AC42-F976015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7A4D68-100F-43CF-8A14-F98C0E32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BBC677-11DA-41E2-B326-3193413C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5048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D8192-3E1D-4C2D-B2A1-C86E4973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097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301F-AC24-4C1F-A879-027A6FC4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145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iₜ = σ(Wᵢxₜ + Uᵢhₜ₋₁ + bᵢ)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12AB72-1563-410D-88A0-4A03A880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5048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332DC-0829-4EB8-B554-373473731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FORGET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F1569-3435-43D0-9420-C60DE391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145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fₜ = σ(Wfxₜ + Ufhₜ₋₁ + bf)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D6D74D-2387-4756-AB79-3328667C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67125"/>
            <a:ext cx="5048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100F9-1962-4D31-A199-8F2DC7B9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9052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CANDIDATE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BF7EA7-2EE9-4D65-AC66-DAAC7A91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10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gₜ = tanh(Wgxₜ + Ughₜ₋₁ + bg)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781673-3908-4BCB-9A3F-72986D94A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667125"/>
            <a:ext cx="50482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360651-BD35-4113-954C-6E110EFAB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905250"/>
            <a:ext cx="2000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7432DC-D20B-4DC5-B993-DBB72304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410075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oₜ = σ(Wₒxₜ + Uₒhₜ₋₁ + bₒ)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6827A2-A08D-4520-A744-129C5DD8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762625"/>
            <a:ext cx="8667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PyTorch stores the gates in the order input, forget, candidate, output.</a:t>
            </a:r>
          </a:p>
        </p:txBody>
      </p:sp>
    </p:spTree>
    <p:extLst>
      <p:ext uri="{BB962C8B-B14F-4D97-AF65-F5344CB8AC3E}">
        <p14:creationId xmlns:p14="http://schemas.microsoft.com/office/powerpoint/2010/main" val="4553304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999E0-7EAC-42A2-B7DE-DE6B08AE9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Cell update and gradient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91DE7-96E7-46BA-BA66-0C212DA9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C1D00-B087-454B-AE53-7251ADC4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C287A-CF91-455C-8108-E7E0CD27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E32AE8-1EE4-493F-81F0-B199D677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571625"/>
            <a:ext cx="100012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432D4-B04D-4239-BD6F-A85AD10DC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857375"/>
            <a:ext cx="904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cₜ = fₜ ⊙ cₜ₋₁ + iₜ ⊙ gₜ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464CDB-B149-43BB-ACA8-38DF78C1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000375"/>
            <a:ext cx="10001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0618C1-C8FB-47CC-B979-257C63C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257550"/>
            <a:ext cx="904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4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hₜ = oₜ ⊙ tanh(cₜ)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A0227-21F9-4F18-9D08-E8286CB9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19625"/>
            <a:ext cx="8382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DDEEEA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4BF1B2-B8E9-40C2-85C1-9D434E25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829175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local direct path:  ∂cₜ/∂cₜ₋₁ = fₜ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B0265-4E36-465D-9DB1-36665C17B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810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9552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forget gate near one can preserve information. It does not guarantee useful memory.</a:t>
            </a:r>
          </a:p>
        </p:txBody>
      </p:sp>
    </p:spTree>
    <p:extLst>
      <p:ext uri="{BB962C8B-B14F-4D97-AF65-F5344CB8AC3E}">
        <p14:creationId xmlns:p14="http://schemas.microsoft.com/office/powerpoint/2010/main" val="17968798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A4E82-DBC6-4573-9512-3C9952B3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PyTorch shapes and parameters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ACAC2A-247B-47AA-94F6-493B6044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FE4E-17EE-4D42-A83B-699707A0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1B43E7-4DF2-4824-82B3-2D0137C4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1238250" y="1428750"/>
          <a:ext xmlns:a="http://schemas.openxmlformats.org/drawingml/2006/main" cx="97155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048000"/>
                <a:gridCol w="333375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RNN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T, 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T, D)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state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(L, N, H)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h and c: (L, N, H)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logits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C)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(N, C)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parameters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1,315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4,963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79AF8-A891-454E-9068-987B1E9D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38750"/>
            <a:ext cx="81915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A830FD-6EE1-4F66-914D-9435C310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29250"/>
            <a:ext cx="733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Equal hidden width is not an equal parameter budget.</a:t>
            </a:r>
          </a:p>
        </p:txBody>
      </p:sp>
    </p:spTree>
    <p:extLst>
      <p:ext uri="{BB962C8B-B14F-4D97-AF65-F5344CB8AC3E}">
        <p14:creationId xmlns:p14="http://schemas.microsoft.com/office/powerpoint/2010/main" val="15913094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DADF77-29AE-478F-87EB-F6E66F3C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Delayed-memory protocol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63F9D-B2E0-4093-91B8-358F7165B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566AB-8B09-4BAE-96A4-BF6CEDB4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BF973-7E32-41D8-9B2A-115ED4AB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94297C-DC22-4648-94AE-02AAEB8F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DA5ACD-3368-4952-8C3D-FC6B040C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8E1F5-2858-409B-BB78-3D17F27A1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 + flag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3D405-AC9C-479D-BB9A-934773BBF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86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E7810-2453-47E0-9E82-B30021DB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DELAY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4DB68-928F-4F2E-AC84-A1424377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F6514A-555C-4806-BB1E-1B6C2E6C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76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29 noisy steps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5336D-CA8A-4A1F-AE6F-CF7CA362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86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9A11A7-7666-4230-8C20-105CD0FB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192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0E9EF-49EF-4485-A50F-7ADEED98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8B10A9-E81D-4FDD-86ED-445FC65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76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validation 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391DF0-56F9-4AD4-AD6D-B360C1BB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860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87CE95-B2FE-4E37-B8F8-7A04210AE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228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ED063A-B757-4FBC-A5BF-EDEE3767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47650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40F3F3-7B14-4A4A-96E0-27D77B33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4765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60 steps locked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2524125" y="4048125"/>
          <a:ext xmlns:a="http://schemas.openxmlformats.org/drawingml/2006/main" cx="714375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190750"/>
                <a:gridCol w="2286000"/>
              </a:tblGrid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Length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1,200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locked stress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887853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984DA-D0E3-4234-A365-9C2E3D56E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Validation can hide a memory failure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7AA33-286A-41C8-B3C0-A1140AF3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6931D-1C2F-4AAC-8A14-6CB3C934D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FAC90-8BEF-4E19-A64E-FD2DA117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1524000" y="1809750"/>
          <a:ext xmlns:a="http://schemas.openxmlformats.org/drawingml/2006/main" cx="91440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571750"/>
                <a:gridCol w="2571750"/>
              </a:tblGrid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loss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Validation accuracy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vanilla RNN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0.0005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pPr algn="l"/>
                      <a:r>
                        <a:rPr sz="18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0.0005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D9708F-61EA-4D09-A35D-8D572C3A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53000"/>
            <a:ext cx="91440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DEAF6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219F1-0992-4E7A-82A9-A557BD60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143500"/>
            <a:ext cx="828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Both models solve the matched length-30 problem.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518A0E-E69A-410C-A1B2-ED826168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505450"/>
            <a:ext cx="771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72B3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72B3A"/>
                </a:solidFill>
                <a:latin typeface="Arial"/>
                <a:ea typeface="Arial"/>
                <a:cs typeface="Arial"/>
              </a:rPr>
              <a:t>The selected checkpoint has not yet answered the length question.</a:t>
            </a:r>
          </a:p>
        </p:txBody>
      </p:sp>
    </p:spTree>
    <p:extLst>
      <p:ext uri="{BB962C8B-B14F-4D97-AF65-F5344CB8AC3E}">
        <p14:creationId xmlns:p14="http://schemas.microsoft.com/office/powerpoint/2010/main" val="6343309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6AD1B-5CA6-4C0D-AA4E-74AC0E082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Locked longer-sequence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41D3B-BE59-4145-828A-62E0251D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15FA8C-2EAA-45A4-BFC2-29217064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AD882-53F9-45D1-8B2C-A0ED98F0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1190625" y="1428750"/>
          <a:ext xmlns:a="http://schemas.openxmlformats.org/drawingml/2006/main" cx="9810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857500"/>
                <a:gridCol w="2952750"/>
              </a:tblGrid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T=30 validation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T=60 locked stress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vanilla RNN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LSTM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majority baseline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0.333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37E3DF-2B3D-47FA-A8D4-5089ED3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9535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2B69B-7E64-435C-ABB9-33100816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095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Supported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B97C61-E9BB-4B5E-BCA6-C3C93D16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657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 this run, the LSTM retained the cue when the delay doubled.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E2699-5BC5-4B6D-82DC-C1E685A9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95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One task, one seed, unequal parameter counts.</a:t>
            </a:r>
          </a:p>
        </p:txBody>
      </p:sp>
    </p:spTree>
    <p:extLst>
      <p:ext uri="{BB962C8B-B14F-4D97-AF65-F5344CB8AC3E}">
        <p14:creationId xmlns:p14="http://schemas.microsoft.com/office/powerpoint/2010/main" val="101666472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205C13-5445-4F62-A436-26F4FFBD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Attention changes the access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5D05D-129D-4809-8F9E-624B730F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CB42D8-346A-46D0-A6CC-6C691873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75F8A5-A9C3-4BC0-80EE-7DC9CD25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3C3CE-0662-4F42-BC1D-2D60C343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FD4CE4-6A11-4704-9152-98CA0F2B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667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CC024-7CC9-4DCB-A738-8DBD76BA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66B6E4-AE7D-4A1A-BF06-4BCFAB46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67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A8658-0608-4306-9EBE-153CD56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E57E4-CFA4-4BAF-B8C9-5C185B02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67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7F785-2A30-499F-8432-DEE47AB2D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4B9EC-3D27-424A-9B8F-D4B78B8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A5069A-701D-4CAE-89D4-24AA8C5E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76625"/>
            <a:ext cx="762000" cy="762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CE831C-9A7E-4ACF-9A5D-497F1A2F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667125"/>
            <a:ext cx="47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B79346-3F6D-49F8-A7F4-97B94F9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571625"/>
            <a:ext cx="1047750" cy="1047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C115C-7426-4B3B-B5BE-3EEACEAA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90500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A45C3-FDF4-4691-9519-28F59C6B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19375"/>
            <a:ext cx="47625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69EE1-1896-4B7A-BC63-EC687763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19375"/>
            <a:ext cx="27146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B9A652-6646-4DD8-A852-C64F45D5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19375"/>
            <a:ext cx="66675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2D35F1-B687-497F-A554-C75F257B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13811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D19766-467C-45EE-A760-ADF0448D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19375"/>
            <a:ext cx="3429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2B84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6F958-6BC2-4CC7-A288-435EAFF7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000625"/>
            <a:ext cx="7905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5C90BD-1220-44A8-95D2-B2AF0A4A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18160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66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query directly weights stored values; distance alone does not set the path length.</a:t>
            </a:r>
          </a:p>
        </p:txBody>
      </p:sp>
    </p:spTree>
    <p:extLst>
      <p:ext uri="{BB962C8B-B14F-4D97-AF65-F5344CB8AC3E}">
        <p14:creationId xmlns:p14="http://schemas.microsoft.com/office/powerpoint/2010/main" val="82248878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558FF0-053A-4876-AE92-834968E45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Scaled dot-product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B99E6C-43DC-4C76-8A85-6925B1C3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9D059-304E-4A89-A4C7-6BF98D7D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6A2490-8BCA-48EC-9E55-B67631F9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AE9AD-02A2-41ED-85C9-B9640694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9906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00BFBD-031E-48BF-BB4F-E543FD64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145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6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6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 = softmax(QKᵀ / √dₖ)       O = AV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2190750" y="3000375"/>
          <a:ext xmlns:a="http://schemas.openxmlformats.org/drawingml/2006/main" cx="7810500" cy="2238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1714500"/>
                <a:gridCol w="1714500"/>
                <a:gridCol w="1714500"/>
              </a:tblGrid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Query row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 1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weight 2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row sum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q₁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46125">
                <a:tc>
                  <a:txBody>
                    <a:bodyPr/>
                    <a:lstStyle/>
                    <a:p>
                      <a:pPr algn="l"/>
                      <a:r>
                        <a:rPr sz="17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q₂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0.330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0.670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C67C55-6D4D-41FC-ABF6-2A12827A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57150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The scale controls dot-product magnitude as key width grows.</a:t>
            </a:r>
          </a:p>
        </p:txBody>
      </p:sp>
    </p:spTree>
    <p:extLst>
      <p:ext uri="{BB962C8B-B14F-4D97-AF65-F5344CB8AC3E}">
        <p14:creationId xmlns:p14="http://schemas.microsoft.com/office/powerpoint/2010/main" val="6125860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DFB7FB-4FCF-403B-8425-A1E92988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Masks define legal access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23DB29-CD54-4FAF-A52B-D28C3979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9FDC03-D5E4-4F0F-8F86-535793E6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514E0-6C81-4EFB-8C97-4DBF355E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57250" y="1476375"/>
          <a:ext xmlns:a="http://schemas.openxmlformats.org/drawingml/2006/main" cx="5905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952500"/>
                <a:gridCol w="952500"/>
                <a:gridCol w="952500"/>
                <a:gridCol w="952500"/>
              </a:tblGrid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query  key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163149"/>
                    </a:solidFill>
                  </a:tcPr>
                </a:tc>
              </a:tr>
              <a:tr h="742950">
                <a:tc>
                  <a:txBody>
                    <a:bodyPr/>
                    <a:lstStyle/>
                    <a:p>
                      <a:pPr algn="l"/>
                      <a:r>
                        <a:rPr sz="165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10A7A5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5A92D-04AD-4209-B66E-C3A455A2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145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PADDING MASK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CFA47A-B19D-4757-AC7D-3F28342A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blocks artificial pad tokens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1E5D1-2373-4C5C-99C2-6C31AF04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9087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CAUSAL MASK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3018D5-614A-46C0-BD20-8FE0225B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67125"/>
            <a:ext cx="371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blocks future positions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EC8461-1F86-413F-9BB6-F8ED5A5C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62500"/>
            <a:ext cx="39052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0979DC-6F8A-47DD-83B1-E8D0A31F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33950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697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audit: row sums 1.000</a:t>
            </a:r>
          </a:p>
          <a:p xmlns:a="http://schemas.openxmlformats.org/drawingml/2006/main">
            <a:pPr algn="ctr">
              <a:defRPr sz="16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blocked weights 0.000</a:t>
            </a:r>
          </a:p>
        </p:txBody>
      </p:sp>
    </p:spTree>
    <p:extLst>
      <p:ext uri="{BB962C8B-B14F-4D97-AF65-F5344CB8AC3E}">
        <p14:creationId xmlns:p14="http://schemas.microsoft.com/office/powerpoint/2010/main" val="23968031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AC2F1C-2D6E-45CC-AEBC-E4A1D739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Multi-head attention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AD8E5-3A1A-4B19-9934-2A96C84A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0C5930-D33C-45CA-B9AE-F8279FA8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31A9A4-565E-400E-AD6D-2DFE356E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39BF7-4625-431C-9778-7DDBFBA1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381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D78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DEB51-9910-40CF-82F3-B881BE6F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7240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D78C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D78C4"/>
                </a:solidFill>
                <a:latin typeface="Arial"/>
                <a:ea typeface="Arial"/>
                <a:cs typeface="Arial"/>
              </a:rPr>
              <a:t>head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8B4D2-1673-4FF5-B995-FC2B7962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7240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Q1  K1  V1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95786-2402-4495-8251-A0C8C99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669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78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1B78F-F6EA-46EE-BE85-7BFBA37A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381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B79F04-7742-45CE-962F-39BECB8B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2890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head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3287A9-DC75-4A4B-A04A-B9F8D437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289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Q2  K2 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F77809-0D6A-46C3-B7F7-776C4EC9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717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A7A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802C9B-3333-4907-BA6B-4D4A9CFBF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81375"/>
            <a:ext cx="3381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59C1AC-705D-43B1-AB07-DC3EFCB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5337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head 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1CC7F-EFD7-4C73-B3B9-485A06B0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5337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Q3  K3  V3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7C102F-9FCA-4AED-8917-06D96977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766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2B84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068CB5-F48F-4C2E-93D6-D6DC292F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3381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9F2F1"/>
          </a:solidFill>
          <a:ln xmlns:a="http://schemas.openxmlformats.org/drawingml/2006/main" w="19050">
            <a:solidFill>
              <a:srgbClr val="2B7A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B53570-CA5F-49A5-90B0-8AB13E48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386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B7A6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B7A6D"/>
                </a:solidFill>
                <a:latin typeface="Arial"/>
                <a:ea typeface="Arial"/>
                <a:cs typeface="Arial"/>
              </a:rPr>
              <a:t>head 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25F93-C0A2-4679-8570-6D173BAF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386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Q4  K4  V4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EE7945-9340-4D59-88A2-012E072B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815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B7A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51C729-12A8-4132-A011-A66F9464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21907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7B43BB-0D64-406C-B1C9-015E1B61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857500"/>
            <a:ext cx="152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B27BEB-7835-48F8-94DE-B0E7006B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190875"/>
            <a:ext cx="904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9D6D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1318AE-9F0E-4671-9277-2F478481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2190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E5522-832F-4C74-9856-FA6B8A25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152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OUTPUT</a:t>
            </a:r>
          </a:p>
          <a:p xmlns:a="http://schemas.openxmlformats.org/drawingml/2006/main">
            <a:pPr algn="ctr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PROJECTION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85521-D8A9-4272-BAA5-2A189741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6737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 head is not automatically a human concept.</a:t>
            </a:r>
          </a:p>
        </p:txBody>
      </p:sp>
    </p:spTree>
    <p:extLst>
      <p:ext uri="{BB962C8B-B14F-4D97-AF65-F5344CB8AC3E}">
        <p14:creationId xmlns:p14="http://schemas.microsoft.com/office/powerpoint/2010/main" val="27096254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150257-DCAA-43A9-8E14-27C9E90A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block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83B134-71B5-4BB1-B9C7-1D3FA8BA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34D6EA-46D8-4153-B746-A5D646FC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7C973E-D977-40BC-912C-CE95D4A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9AAB86-FA49-468C-8013-7AC92FCC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A488ED-375F-49FA-AAC8-B89BD302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288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+ POSITION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5BA508-D525-4BFD-A41F-45192DB9D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002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B2A0B-11D7-437A-81C3-00E2139F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524000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AAFA2E-2A60-419D-A820-27551DEC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8288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 NORM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456E1D-C3B7-453B-8F7A-39704BD9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002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00C537-D7B5-4F50-8B28-793C65DE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524000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446D4-04A2-423D-AA64-15B2931B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288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059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MULTI-HEAD ATTENTION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09DC7B-903C-4B75-9816-27A5F69FB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3E0222-D8C4-4509-9DA0-5AF58BBB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524000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FDF07-7BCD-410F-95E9-9C8910418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828800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 ADD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EC2A37-74A0-4E5A-987F-F11963ED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002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4BF03-FB98-4781-98E7-30257685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623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76D7D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9D15BA-8D88-48A5-8F88-BA42F41D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6717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 NORM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774D9-CB06-412E-928D-DF164CEF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3862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7B401-60F6-47EA-8A82-824D6688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7623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B0587A-1720-42DC-8CB5-D00D4C012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6717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FEED-FORWARD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2DC197-E4D8-41BD-9A84-D58F936C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3862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9D6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F3A8BD-B952-42BF-A307-0C1E3F19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762375"/>
            <a:ext cx="242887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BADBC0-AD39-41FA-952A-5EADB0A2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067175"/>
            <a:ext cx="2047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 ADD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16DFFF-61D2-432B-8077-78896C07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86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X′ = X + MHA(LN(X))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960A2C-CEA2-4121-8DFC-C6E8C13A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Y = X′ + FFN(LN(X′))</a:t>
            </a:r>
          </a:p>
        </p:txBody>
      </p:sp>
    </p:spTree>
    <p:extLst>
      <p:ext uri="{BB962C8B-B14F-4D97-AF65-F5344CB8AC3E}">
        <p14:creationId xmlns:p14="http://schemas.microsoft.com/office/powerpoint/2010/main" val="176856497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575B99-7A37-4412-9466-E6A51588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Position must enter the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B52689-0A74-410C-AC14-0A145C97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ED348C-6705-4864-B82B-9330ACE8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6ED15-0975-474B-BD93-3C596C0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E92DCA-96A3-4832-BCF2-2EF881B1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811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SINUSOIDAL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DD1237-6701-4DF0-A845-A7BF8A31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90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fixed basis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1FC18A-1F7C-441F-8853-F9D907D49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4287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7FF606-8119-4E9C-9F15-DC7E54B0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362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113FF3-4B0D-4036-8AF5-D70FE593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ABSOLUTE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A6FD9D-3561-414B-8202-93CBCAA2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479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learned index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5E5AC2-5FFB-4E37-AE8C-6BE0F365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860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AAF743-DE89-4BC5-99EE-0B9EA9A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2193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8A3EEA-C7AD-492F-B60C-FF18ACA6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956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RELATIVE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0E367-C7D0-4310-BFA4-58D8E9A9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05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pairwise offset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75EE47-8E2A-4EDA-A5AB-EF1E427A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8027F-2E02-4200-B877-3A973F283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76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A78054-41BA-4957-A95D-F9AB7A5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ROTARY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B07932-141B-41A4-8721-B8F0EEAE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rotate Q and 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774E4C-3A74-451E-9590-30E36593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005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C0E9F7-6A00-4FAD-9EC6-C2A1A4E0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9338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2F447AF-8025-4FAA-84F3-55C7CF2A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238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STRUCTURE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004200-0E8B-4ECF-B3C5-51A09189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8196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local / recurrent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265D0-75C1-4F36-9777-9B73B61E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577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82A79-4614-4206-9914-D03A81F0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791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B5BB92-D5CE-4B51-A541-D201BD3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10250"/>
            <a:ext cx="828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DEDE"/>
          </a:solidFill>
          <a:ln xmlns:a="http://schemas.openxmlformats.org/drawingml/2006/main" w="19050">
            <a:solidFill>
              <a:srgbClr val="B6535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7AC837-83FE-4389-A063-77D7650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876925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B6535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65353"/>
                </a:solidFill>
                <a:latin typeface="Arial"/>
                <a:ea typeface="Arial"/>
                <a:cs typeface="Arial"/>
              </a:rPr>
              <a:t>Configured context length ≠ effective context length</a:t>
            </a:r>
          </a:p>
        </p:txBody>
      </p:sp>
    </p:spTree>
    <p:extLst>
      <p:ext uri="{BB962C8B-B14F-4D97-AF65-F5344CB8AC3E}">
        <p14:creationId xmlns:p14="http://schemas.microsoft.com/office/powerpoint/2010/main" val="158156986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BD039D-FB1F-4B2A-A49B-135B63C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Architecture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80CFB-47A8-4645-8BB7-86F3E2F9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B60DCA-B98A-4F83-9C65-9DDD6D70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F18F57-C3F9-449A-A62F-CCADAC9DA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19125" y="1381125"/>
          <a:ext xmlns:a="http://schemas.openxmlformats.org/drawingml/2006/main" cx="1095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3143250"/>
                <a:gridCol w="2381250"/>
                <a:gridCol w="2571750"/>
              </a:tblGrid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Access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Time parallelism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Sequence cost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RNN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recurrent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LSTM / GRU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gated state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no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full attention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all pairs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quadratic attention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sparse attention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selected pairs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yes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pattern dependent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state space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state + scan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often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commonly near-linear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8A0181-BE51-47B5-95B6-D4D78813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Asymptotics hide constants, precision, cache behavior, and hardware utilization.</a:t>
            </a:r>
          </a:p>
        </p:txBody>
      </p:sp>
    </p:spTree>
    <p:extLst>
      <p:ext uri="{BB962C8B-B14F-4D97-AF65-F5344CB8AC3E}">
        <p14:creationId xmlns:p14="http://schemas.microsoft.com/office/powerpoint/2010/main" val="93149004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4874CD-76CA-4F9C-91D2-73B395EF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Long Range Arena: one common benchmark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BF28D-B9DD-4375-ABD4-9EA326B2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2B3263-EBC7-4D2C-8D3F-2599D3DF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8455C4-3821-4D31-8D71-F5336B89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809625" y="1381125"/>
          <a:ext xmlns:a="http://schemas.openxmlformats.org/drawingml/2006/main" cx="1057275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000500"/>
                <a:gridCol w="1857375"/>
                <a:gridCol w="1857375"/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Family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Average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Path-X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Transformer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full attention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53.66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failed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structured state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86.09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96.35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multi-input state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87.46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98.58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Mega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gated attention + EMA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88.21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7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97.98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91C41-5B23-4521-B7D4-B1D8B80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3149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442E2-25DC-44A8-9CB2-F40EE6FA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Historical paper-reported results under LRA protocols.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214CB-7394-4E4D-B376-3AF56E31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3405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491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Check version, scale, compute, seeds, and whether baselines were reproduced.</a:t>
            </a:r>
          </a:p>
        </p:txBody>
      </p:sp>
    </p:spTree>
    <p:extLst>
      <p:ext uri="{BB962C8B-B14F-4D97-AF65-F5344CB8AC3E}">
        <p14:creationId xmlns:p14="http://schemas.microsoft.com/office/powerpoint/2010/main" val="108484565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CEE261-3195-450E-9D64-655A7505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Selected recent sequence architectures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D6FE2-0BBA-4E63-BE5C-AB685204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84B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9CF7D-53A7-45EB-8934-A3A1676A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14F23-7DB5-4EBF-BEE3-BF4E2D0F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66750" y="1333500"/>
          <a:ext xmlns:a="http://schemas.openxmlformats.org/drawingml/2006/main" cx="10858500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2667000"/>
                <a:gridCol w="6667500"/>
              </a:tblGrid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idea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Mamba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input-dependent selective state spaces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xLSTM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exponential gates; scalar or matrix memory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ModernBERT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modern long-context bidirectional encoder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2025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Titans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attention + learned long-term memory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674688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LongBench Pro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realistic bilingual long-context 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65BCA-E5FC-4AA3-8E29-6F03D2A1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810250"/>
            <a:ext cx="781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9E3AE"/>
          </a:solidFill>
          <a:ln xmlns:a="http://schemas.openxmlformats.org/drawingml/2006/main" w="19050">
            <a:solidFill>
              <a:srgbClr val="F2B84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D382E4-95AD-4E6E-9671-2EF068E2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76925"/>
            <a:ext cx="704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Dated research map checked 10 September 2026 — not one leaderboard</a:t>
            </a:r>
          </a:p>
        </p:txBody>
      </p:sp>
    </p:spTree>
    <p:extLst>
      <p:ext uri="{BB962C8B-B14F-4D97-AF65-F5344CB8AC3E}">
        <p14:creationId xmlns:p14="http://schemas.microsoft.com/office/powerpoint/2010/main" val="638250402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DD7468-EF5F-4A25-BC9E-FAE1A0E2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Real application: ModernBERT on AG News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D251FA-2C24-4A6F-9935-7FB5130E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28A18-EC79-4705-91C2-DC8D6F76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317DD-AEB6-42F0-A8CB-C1268CDB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66750" y="1285875"/>
          <a:ext xmlns:a="http://schemas.openxmlformats.org/drawingml/2006/main" cx="108585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810500"/>
              </a:tblGrid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ModernBERT-base, 149M parameters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World / Sports / Business / Sci-Tech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2,000 / 500 / 1,000 balanced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adaptation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train prediction head + classifier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tokens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maximum 128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runtime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automatic CUDA + mixed precision</a:t>
                      </a:r>
                    </a:p>
                  </a:txBody>
                  <a:tcPr marL="91440" marR="91440" marT="45720" marB="45720">
                    <a:solidFill>
                      <a:srgbClr val="E9F2F1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pPr algn="l"/>
                      <a:r>
                        <a:rPr sz="1425" b="1">
                          <a:solidFill>
                            <a:srgbClr val="0B1F33"/>
                          </a:solidFill>
                          <a:latin typeface="Arial"/>
                          <a:ea typeface="Arial"/>
                          <a:cs typeface="Arial"/>
                        </a:rPr>
                        <a:t>selection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 b="0">
                          <a:solidFill>
                            <a:srgbClr val="172B3A"/>
                          </a:solidFill>
                          <a:latin typeface="Arial"/>
                          <a:ea typeface="Arial"/>
                          <a:cs typeface="Arial"/>
                        </a:rPr>
                        <a:t>minimum validation loss, then locked 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C48E4C-70DB-417D-B7D3-7EF6B948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57875"/>
            <a:ext cx="895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76D7D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6D7D1"/>
                </a:solidFill>
                <a:latin typeface="Arial"/>
                <a:ea typeface="Arial"/>
                <a:cs typeface="Arial"/>
              </a:rPr>
              <a:t>Optional extension: unfreeze the last two encoder layers at batch size 4.</a:t>
            </a:r>
          </a:p>
        </p:txBody>
      </p:sp>
    </p:spTree>
    <p:extLst>
      <p:ext uri="{BB962C8B-B14F-4D97-AF65-F5344CB8AC3E}">
        <p14:creationId xmlns:p14="http://schemas.microsoft.com/office/powerpoint/2010/main" val="86521924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9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8A0080-EFA8-4A20-BB26-6BE090FC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Research direction and 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6B987-11EA-499A-A758-F9B3E39A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066800"/>
            <a:ext cx="838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7A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D38C6-38CE-4FA0-937C-A7BE26FB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579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CME705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9E120-904D-4653-9D40-346131C3B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A28433-DEFB-48F3-9286-A9ED0289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811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9DBA81-194D-4F85-B96D-D744B730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381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Prediction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472C87-FF7E-4211-95CE-978FEE59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3811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time and legal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2CCC7-5262-4697-ADA4-DDB312C7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8097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03763-6ED6-4E8F-A47E-4699BE5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240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0E20F7-9BC7-49BE-8FC8-6B96816F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240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6A7C3-DEA6-4441-983E-E60FDE87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240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baseline and candidate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F9E5A3-7A58-4D4F-AEC9-1347E19E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5527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5B0E01-94AA-4324-B052-0E7C30B3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E6294F-3A3B-4A39-803C-25EC96E2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670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E44AE-3CFD-4CF5-BB79-D22D252A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670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benchmark or task metric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0F9B7F-9B69-4F98-A5BA-01DB5A46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2956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E3A1CD-D83A-47AF-A9DB-0318CFDD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997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2B84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2B84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4790F6-5417-41E8-9414-F21C68A0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09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Stress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E08A1B-993D-4C77-B2B4-B2A57CB01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997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length, latency, memory, or shift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FD3EB2-FB50-4E0C-8333-069E574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03860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0B5AC0-A115-4648-AFCE-351E7AA6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52925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0A7A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A7A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D60C74-5AC5-415B-A992-339F740E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529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Decision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26DFE-4F33-4339-9137-1EAEB6C5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529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36878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36878"/>
                </a:solidFill>
                <a:latin typeface="Arial"/>
                <a:ea typeface="Arial"/>
                <a:cs typeface="Arial"/>
              </a:rPr>
              <a:t>result that rejects the direction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8B1E9C-3C00-4F55-A085-05F9F45D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781550"/>
            <a:ext cx="9505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D6D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85E04-80DF-4A99-884D-C9498935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8953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19050">
            <a:solidFill>
              <a:srgbClr val="10A7A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D33EA8-D605-4616-8023-F3BEF3108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816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58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the recurrent gradient path, LSTM memory path, attention access,</a:t>
            </a:r>
          </a:p>
          <a:p xmlns:a="http://schemas.openxmlformats.org/drawingml/2006/main">
            <a:pPr algn="ctr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one limitation of today’s evidence.</a:t>
            </a:r>
          </a:p>
        </p:txBody>
      </p:sp>
    </p:spTree>
    <p:extLst>
      <p:ext uri="{BB962C8B-B14F-4D97-AF65-F5344CB8AC3E}">
        <p14:creationId xmlns:p14="http://schemas.microsoft.com/office/powerpoint/2010/main" val="19772341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2026-09-09T21:27:54.0570000Z</dcterms:created>
  <dcterms:modified xsi:type="dcterms:W3CDTF">2026-09-09T21:27:54.0570000Z</dcterms:modified>
</coreProperties>
</file>