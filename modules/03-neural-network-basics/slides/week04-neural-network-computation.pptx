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efa2316634e39" /><Relationship Type="http://schemas.openxmlformats.org/officeDocument/2006/relationships/extended-properties" Target="/docProps/app.xml" Id="Rfa513824081442f8" /><Relationship Type="http://schemas.openxmlformats.org/officeDocument/2006/relationships/officeDocument" Target="/ppt/presentation.xml" Id="R0bd83ead0c7a49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9ea1f02e9c4844"/>
  </p:sldMasterIdLst>
  <p:notesMasterIdLst>
    <p:notesMasterId xmlns:r="http://schemas.openxmlformats.org/officeDocument/2006/relationships" r:id="R300846d94d6b47be"/>
  </p:notesMasterIdLst>
  <p:sldIdLst>
    <p:sldId xmlns:r="http://schemas.openxmlformats.org/officeDocument/2006/relationships" id="256" r:id="R580aeb672a764959"/>
    <p:sldId xmlns:r="http://schemas.openxmlformats.org/officeDocument/2006/relationships" id="257" r:id="R832763402e634ead"/>
    <p:sldId xmlns:r="http://schemas.openxmlformats.org/officeDocument/2006/relationships" id="258" r:id="Rcb053dd21f734c16"/>
    <p:sldId xmlns:r="http://schemas.openxmlformats.org/officeDocument/2006/relationships" id="259" r:id="Raefcc83546604345"/>
    <p:sldId xmlns:r="http://schemas.openxmlformats.org/officeDocument/2006/relationships" id="260" r:id="R3d696f1f8adf49b2"/>
    <p:sldId xmlns:r="http://schemas.openxmlformats.org/officeDocument/2006/relationships" id="261" r:id="R49cced0558274db6"/>
    <p:sldId xmlns:r="http://schemas.openxmlformats.org/officeDocument/2006/relationships" id="262" r:id="R21fbe252bf224be8"/>
    <p:sldId xmlns:r="http://schemas.openxmlformats.org/officeDocument/2006/relationships" id="263" r:id="Re7f59afd81754bc8"/>
    <p:sldId xmlns:r="http://schemas.openxmlformats.org/officeDocument/2006/relationships" id="264" r:id="R3561543e2a314f7d"/>
    <p:sldId xmlns:r="http://schemas.openxmlformats.org/officeDocument/2006/relationships" id="265" r:id="R0a9e93d6448d4909"/>
    <p:sldId xmlns:r="http://schemas.openxmlformats.org/officeDocument/2006/relationships" id="266" r:id="Rc78756a6150144c9"/>
    <p:sldId xmlns:r="http://schemas.openxmlformats.org/officeDocument/2006/relationships" id="267" r:id="R8b386c6dd1f74a8b"/>
    <p:sldId xmlns:r="http://schemas.openxmlformats.org/officeDocument/2006/relationships" id="268" r:id="R2b5f539fdda44bce"/>
    <p:sldId xmlns:r="http://schemas.openxmlformats.org/officeDocument/2006/relationships" id="269" r:id="R7f2f9caf870b49ce"/>
    <p:sldId xmlns:r="http://schemas.openxmlformats.org/officeDocument/2006/relationships" id="270" r:id="R634bc6a4f758425e"/>
    <p:sldId xmlns:r="http://schemas.openxmlformats.org/officeDocument/2006/relationships" id="271" r:id="R24ce2340c628424f"/>
    <p:sldId xmlns:r="http://schemas.openxmlformats.org/officeDocument/2006/relationships" id="272" r:id="Rba3b3f8076534fe5"/>
    <p:sldId xmlns:r="http://schemas.openxmlformats.org/officeDocument/2006/relationships" id="273" r:id="R2e5f6e455f364998"/>
    <p:sldId xmlns:r="http://schemas.openxmlformats.org/officeDocument/2006/relationships" id="274" r:id="R8b2208f801ed4ca5"/>
    <p:sldId xmlns:r="http://schemas.openxmlformats.org/officeDocument/2006/relationships" id="275" r:id="R671bdf7327ad4e42"/>
    <p:sldId xmlns:r="http://schemas.openxmlformats.org/officeDocument/2006/relationships" id="276" r:id="Rd7e88766ac574a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f6d918c29454f" /><Relationship Type="http://schemas.openxmlformats.org/officeDocument/2006/relationships/slideMaster" Target="/ppt/slideMasters/slideMaster1.xml" Id="R589ea1f02e9c4844" /><Relationship Type="http://schemas.openxmlformats.org/officeDocument/2006/relationships/notesMaster" Target="/ppt/notesMasters/notesMaster1.xml" Id="R300846d94d6b47be" /><Relationship Type="http://schemas.openxmlformats.org/officeDocument/2006/relationships/presProps" Target="/ppt/presProps.xml" Id="Ra5dad0063331455d" /><Relationship Type="http://schemas.openxmlformats.org/officeDocument/2006/relationships/tableStyles" Target="/ppt/tableStyles.xml" Id="R6f0b3ed134f14fa8" /><Relationship Type="http://schemas.openxmlformats.org/officeDocument/2006/relationships/slide" Target="/ppt/slides/slide1.xml" Id="R580aeb672a764959" /><Relationship Type="http://schemas.openxmlformats.org/officeDocument/2006/relationships/slide" Target="/ppt/slides/slide2.xml" Id="R832763402e634ead" /><Relationship Type="http://schemas.openxmlformats.org/officeDocument/2006/relationships/slide" Target="/ppt/slides/slide3.xml" Id="Rcb053dd21f734c16" /><Relationship Type="http://schemas.openxmlformats.org/officeDocument/2006/relationships/slide" Target="/ppt/slides/slide4.xml" Id="Raefcc83546604345" /><Relationship Type="http://schemas.openxmlformats.org/officeDocument/2006/relationships/slide" Target="/ppt/slides/slide5.xml" Id="R3d696f1f8adf49b2" /><Relationship Type="http://schemas.openxmlformats.org/officeDocument/2006/relationships/slide" Target="/ppt/slides/slide6.xml" Id="R49cced0558274db6" /><Relationship Type="http://schemas.openxmlformats.org/officeDocument/2006/relationships/slide" Target="/ppt/slides/slide7.xml" Id="R21fbe252bf224be8" /><Relationship Type="http://schemas.openxmlformats.org/officeDocument/2006/relationships/slide" Target="/ppt/slides/slide8.xml" Id="Re7f59afd81754bc8" /><Relationship Type="http://schemas.openxmlformats.org/officeDocument/2006/relationships/slide" Target="/ppt/slides/slide9.xml" Id="R3561543e2a314f7d" /><Relationship Type="http://schemas.openxmlformats.org/officeDocument/2006/relationships/slide" Target="/ppt/slides/slide10.xml" Id="R0a9e93d6448d4909" /><Relationship Type="http://schemas.openxmlformats.org/officeDocument/2006/relationships/slide" Target="/ppt/slides/slide11.xml" Id="Rc78756a6150144c9" /><Relationship Type="http://schemas.openxmlformats.org/officeDocument/2006/relationships/slide" Target="/ppt/slides/slide12.xml" Id="R8b386c6dd1f74a8b" /><Relationship Type="http://schemas.openxmlformats.org/officeDocument/2006/relationships/slide" Target="/ppt/slides/slide13.xml" Id="R2b5f539fdda44bce" /><Relationship Type="http://schemas.openxmlformats.org/officeDocument/2006/relationships/slide" Target="/ppt/slides/slide14.xml" Id="R7f2f9caf870b49ce" /><Relationship Type="http://schemas.openxmlformats.org/officeDocument/2006/relationships/slide" Target="/ppt/slides/slide15.xml" Id="R634bc6a4f758425e" /><Relationship Type="http://schemas.openxmlformats.org/officeDocument/2006/relationships/slide" Target="/ppt/slides/slide16.xml" Id="R24ce2340c628424f" /><Relationship Type="http://schemas.openxmlformats.org/officeDocument/2006/relationships/slide" Target="/ppt/slides/slide17.xml" Id="Rba3b3f8076534fe5" /><Relationship Type="http://schemas.openxmlformats.org/officeDocument/2006/relationships/slide" Target="/ppt/slides/slide18.xml" Id="R2e5f6e455f364998" /><Relationship Type="http://schemas.openxmlformats.org/officeDocument/2006/relationships/slide" Target="/ppt/slides/slide19.xml" Id="R8b2208f801ed4ca5" /><Relationship Type="http://schemas.openxmlformats.org/officeDocument/2006/relationships/slide" Target="/ppt/slides/slide20.xml" Id="R671bdf7327ad4e42" /><Relationship Type="http://schemas.openxmlformats.org/officeDocument/2006/relationships/slide" Target="/ppt/slides/slide21.xml" Id="Rd7e88766ac574a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d67e9129d44d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6387155eda480f" /><Relationship Type="http://schemas.openxmlformats.org/officeDocument/2006/relationships/notesMaster" Target="/ppt/notesMasters/notesMaster1.xml" Id="R90c43ccd26d0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7114f78d1e424c" /><Relationship Type="http://schemas.openxmlformats.org/officeDocument/2006/relationships/notesMaster" Target="/ppt/notesMasters/notesMaster1.xml" Id="R95933fda5c8a4f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274499c2bf4820" /><Relationship Type="http://schemas.openxmlformats.org/officeDocument/2006/relationships/notesMaster" Target="/ppt/notesMasters/notesMaster1.xml" Id="Ra77e6a9b07a344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05f4acfc824ee5" /><Relationship Type="http://schemas.openxmlformats.org/officeDocument/2006/relationships/notesMaster" Target="/ppt/notesMasters/notesMaster1.xml" Id="Re5818daf146c4b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57555ac9384d1c" /><Relationship Type="http://schemas.openxmlformats.org/officeDocument/2006/relationships/notesMaster" Target="/ppt/notesMasters/notesMaster1.xml" Id="R361dc241b23946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0c3162c4964d95" /><Relationship Type="http://schemas.openxmlformats.org/officeDocument/2006/relationships/notesMaster" Target="/ppt/notesMasters/notesMaster1.xml" Id="Rf4a7ad5db2e643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29f808191b4d35" /><Relationship Type="http://schemas.openxmlformats.org/officeDocument/2006/relationships/notesMaster" Target="/ppt/notesMasters/notesMaster1.xml" Id="R2df72ea007ec43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0a4a153299470b" /><Relationship Type="http://schemas.openxmlformats.org/officeDocument/2006/relationships/notesMaster" Target="/ppt/notesMasters/notesMaster1.xml" Id="R072b1a4e703e42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e58ded30d54ff8" /><Relationship Type="http://schemas.openxmlformats.org/officeDocument/2006/relationships/notesMaster" Target="/ppt/notesMasters/notesMaster1.xml" Id="R6bea34de6cf84e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9f2eaf6262402c" /><Relationship Type="http://schemas.openxmlformats.org/officeDocument/2006/relationships/notesMaster" Target="/ppt/notesMasters/notesMaster1.xml" Id="R0386a447382b4f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f86503f5b3494f" /><Relationship Type="http://schemas.openxmlformats.org/officeDocument/2006/relationships/notesMaster" Target="/ppt/notesMasters/notesMaster1.xml" Id="Rc590229ad9e645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f8b3d9787642e9" /><Relationship Type="http://schemas.openxmlformats.org/officeDocument/2006/relationships/notesMaster" Target="/ppt/notesMasters/notesMaster1.xml" Id="Rc80b5b5a610141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c68c480c61467f" /><Relationship Type="http://schemas.openxmlformats.org/officeDocument/2006/relationships/notesMaster" Target="/ppt/notesMasters/notesMaster1.xml" Id="R6175f63413714b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4a83bdfaba4a29" /><Relationship Type="http://schemas.openxmlformats.org/officeDocument/2006/relationships/notesMaster" Target="/ppt/notesMasters/notesMaster1.xml" Id="Rb503b34804784c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4dfd1367794349" /><Relationship Type="http://schemas.openxmlformats.org/officeDocument/2006/relationships/notesMaster" Target="/ppt/notesMasters/notesMaster1.xml" Id="R48abfb0b098145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2f09db13404e22" /><Relationship Type="http://schemas.openxmlformats.org/officeDocument/2006/relationships/notesMaster" Target="/ppt/notesMasters/notesMaster1.xml" Id="R6e185591801341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03bef443c34c87" /><Relationship Type="http://schemas.openxmlformats.org/officeDocument/2006/relationships/notesMaster" Target="/ppt/notesMasters/notesMaster1.xml" Id="R01017d59570742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82ccf06f114cf9" /><Relationship Type="http://schemas.openxmlformats.org/officeDocument/2006/relationships/notesMaster" Target="/ppt/notesMasters/notesMaster1.xml" Id="R1969ca613fe345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0606561f224cc8" /><Relationship Type="http://schemas.openxmlformats.org/officeDocument/2006/relationships/notesMaster" Target="/ppt/notesMasters/notesMaster1.xml" Id="R5b6c74cf57704d4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71a893e2674bd8" /><Relationship Type="http://schemas.openxmlformats.org/officeDocument/2006/relationships/notesMaster" Target="/ppt/notesMasters/notesMaster1.xml" Id="Rea6decd21cf141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213c28a71c42ab" /><Relationship Type="http://schemas.openxmlformats.org/officeDocument/2006/relationships/notesMaster" Target="/ppt/notesMasters/notesMaster1.xml" Id="R8e111abc2337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how do weighted transformations and nonlinear activations turn a batch of inputs into useful outputs? Explain that training begins in Week 5. The cover is an original generated illustration created for this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These products let you inspect both procedural accuracy and the limits of each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Students calculate every contribution before the total. Expected contributions are 0.8, 0.8, and 0.6. Name z as the pre-activation before applying a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Use the image to trace inputs, weights, aggregation, bias, activation, and output. Keep computation separate from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Change one weight or the bias while holding the other quantities fixed. Ask what the unit produces at x equal to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Establish the course convention of observations in rows. Ask which dimension is shared and which dimensions remain after multiplication.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Require students to justify each shape verbally. The inner dimensions match, and the remaining dimensions define the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Compare outputs at negative, zero, and positive pre-activations. No hidden activation should be presented as universally best.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Trace how each function responds from negative to positive z. Discuss saturation and the inactive negative region. The curves show behavior, not a universal performance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Use the generated illustration to distinguish transformation from evaluation. A nonlinear representation can help, but useful generalization still requires unseen-data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15 minutes. Derive the identity line by line. Expected equivalents are W star equal to W1 W2 and b star equal to b1 W2 plus b2.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Trace values and shapes together. The forward pass ends with probabilities. No parameter has been updated.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label each object precisely. A probability is not automatically calibrated, and a prediction depends on a decision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Students match temperature, binary fault detection, one-of-six fault type, and any-subset tags. Contrast softmax with independent sigmoids.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Explain that subtracting the same constant from every logit leaves all ratios unchanged. Require checks for finiteness, nonnegativity, and row sums.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Pause for individual work before discussion. Expected shapes are four by four, four by four, four by two, and four by two.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Count weights and biases separately. The teaching network has 26 parameters. A ten-to-eight-to-three network has 115.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20 minutes. Hide results until predictions are recorded. Run the lab, compare shapes and softmax checks, then explain the affine-collapse difference as machine precision.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Students classify observations as mathematical guarantees, fixed-value results, or future empirical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Model one row. Require a page, section, table, or figure location. Do not infer implementation details from an architecture 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Review the literature deliverables and 30-point rubric. Collect the exit ticket. Week 5 will introduce gradient descent and parameter updates.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21aa13b84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6f276d5e443fc" /><Relationship Type="http://schemas.openxmlformats.org/officeDocument/2006/relationships/slideLayout" Target="/ppt/slideLayouts/slideLayout1.xml" Id="Rdff923c4388e4c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f923c4388e4c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46aa25543466f" /><Relationship Type="http://schemas.openxmlformats.org/officeDocument/2006/relationships/image" Target="/ppt/media/image.png" Id="Rd2a7e1ad3cb1479b" /><Relationship Type="http://schemas.openxmlformats.org/officeDocument/2006/relationships/notesSlide" Target="/ppt/notesSlides/notesSlide1.xml" Id="Rfddadf8685c042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7ae2b678646d7" /><Relationship Type="http://schemas.openxmlformats.org/officeDocument/2006/relationships/notesSlide" Target="/ppt/notesSlides/notesSlide2.xml" Id="R25f744bb89ff4d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84163f9ff4830" /><Relationship Type="http://schemas.openxmlformats.org/officeDocument/2006/relationships/notesSlide" Target="/ppt/notesSlides/notesSlide3.xml" Id="Rd0fd748a2bc34c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809da0b72431f" /><Relationship Type="http://schemas.openxmlformats.org/officeDocument/2006/relationships/image" Target="/ppt/media/image2.png" Id="R64d68b5c1a95465e" /><Relationship Type="http://schemas.openxmlformats.org/officeDocument/2006/relationships/notesSlide" Target="/ppt/notesSlides/notesSlide4.xml" Id="R2f7c11f7ed6443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c9367087b48be" /><Relationship Type="http://schemas.openxmlformats.org/officeDocument/2006/relationships/notesSlide" Target="/ppt/notesSlides/notesSlide5.xml" Id="R1aeaccda5af743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67ef76f124a25" /><Relationship Type="http://schemas.openxmlformats.org/officeDocument/2006/relationships/notesSlide" Target="/ppt/notesSlides/notesSlide6.xml" Id="R61f7af4a5a094c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0f2f889eb4445" /><Relationship Type="http://schemas.openxmlformats.org/officeDocument/2006/relationships/notesSlide" Target="/ppt/notesSlides/notesSlide7.xml" Id="Ra7046081d51142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00c25b9f84098" /><Relationship Type="http://schemas.openxmlformats.org/officeDocument/2006/relationships/notesSlide" Target="/ppt/notesSlides/notesSlide8.xml" Id="Ra48908228c334c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9bce833754ba1" /><Relationship Type="http://schemas.openxmlformats.org/officeDocument/2006/relationships/notesSlide" Target="/ppt/notesSlides/notesSlide9.xml" Id="Re5f43896567947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df07b89334717" /><Relationship Type="http://schemas.openxmlformats.org/officeDocument/2006/relationships/image" Target="/ppt/media/image3.png" Id="R8020f71e493141cb" /><Relationship Type="http://schemas.openxmlformats.org/officeDocument/2006/relationships/notesSlide" Target="/ppt/notesSlides/notesSlide10.xml" Id="R35ed88d414c344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77056c42a4702" /><Relationship Type="http://schemas.openxmlformats.org/officeDocument/2006/relationships/notesSlide" Target="/ppt/notesSlides/notesSlide11.xml" Id="R0ebc7afd0ca648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8e1239ff44088" /><Relationship Type="http://schemas.openxmlformats.org/officeDocument/2006/relationships/notesSlide" Target="/ppt/notesSlides/notesSlide12.xml" Id="Rb30ff9a98c5545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1928ab9c404f" /><Relationship Type="http://schemas.openxmlformats.org/officeDocument/2006/relationships/notesSlide" Target="/ppt/notesSlides/notesSlide13.xml" Id="Rd5a8aecf487848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0b310efc64e33" /><Relationship Type="http://schemas.openxmlformats.org/officeDocument/2006/relationships/notesSlide" Target="/ppt/notesSlides/notesSlide14.xml" Id="Rf75d1a1992dc47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29cace1da4999" /><Relationship Type="http://schemas.openxmlformats.org/officeDocument/2006/relationships/notesSlide" Target="/ppt/notesSlides/notesSlide15.xml" Id="Rceb892f83e674a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a1bd8cb6a451d" /><Relationship Type="http://schemas.openxmlformats.org/officeDocument/2006/relationships/notesSlide" Target="/ppt/notesSlides/notesSlide16.xml" Id="R07be5cbc24cc43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d330ff1904412" /><Relationship Type="http://schemas.openxmlformats.org/officeDocument/2006/relationships/notesSlide" Target="/ppt/notesSlides/notesSlide17.xml" Id="Re4c5f862bb5448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08bc4e3544220" /><Relationship Type="http://schemas.openxmlformats.org/officeDocument/2006/relationships/notesSlide" Target="/ppt/notesSlides/notesSlide18.xml" Id="R562be118850447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c7c843f6b4f0f" /><Relationship Type="http://schemas.openxmlformats.org/officeDocument/2006/relationships/notesSlide" Target="/ppt/notesSlides/notesSlide19.xml" Id="Ra90daf2b790348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0c97c9c354b68" /><Relationship Type="http://schemas.openxmlformats.org/officeDocument/2006/relationships/notesSlide" Target="/ppt/notesSlides/notesSlide20.xml" Id="Ra9c6503a6a3545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37d5272384e2b" /><Relationship Type="http://schemas.openxmlformats.org/officeDocument/2006/relationships/notesSlide" Target="/ppt/notesSlides/notesSlide21.xml" Id="Rc46d85722a3e45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7e1ad3cb1479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A4AD3-BFAC-46FA-85DF-7DFC43C1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542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ED351-A338-4CAC-9CC7-8ABA9916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432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D7674-086A-4FE4-9196-71F7C1F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1C177-A36A-4266-8CD1-E88EF544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A862A-C0EF-4046-BD08-2885CAD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Neural-network</a:t>
            </a:r>
          </a:p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807BA-A7F5-4D15-8040-5066D68F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6575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C29B2-1D9C-4862-9C6B-707752B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1D09B-E16E-4F02-AE33-6B8AA640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9CAE3-FBFD-4833-9F83-B155A55B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D0972-736A-48F8-AAF0-3A08F2C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26C64-461C-4606-B8B2-60EF70A8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Six visible products connect computation to research reading.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98785-991C-4C08-8103-F717F46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609D3-F38F-4A8E-96A5-24D74D61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Neuron calculation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1BC66-154F-4794-85E2-746D9DF8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716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pre-activation and two activation outputs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E8328-1AAA-458C-982A-62619B06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391DB-5770-4660-9CF7-546B253E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1F5B0-5F56-4B28-8D19-622BB91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Dimension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C4B71-D8C7-40F7-A59C-487896D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384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every tensor justified by an operation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19DE7-B234-4C69-B849-8448E552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DB9BF-D653-4E1E-8810-F2B0FA09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270DD-6ECB-4E8F-8AAA-C2A63241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86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CAE35-A03A-43A3-AD05-54FF1443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051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head matched to the target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90C44-410B-4DF0-BC3B-BD265BA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C1A50-7725-4C80-B80C-66926512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70DC1-4481-4269-B510-77A7011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528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Parameter 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72055-3328-46B1-9B7A-01BEF90B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719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weights and biases counted from shapes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F06B2-A433-47B6-B717-6479C0E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29125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19ED3-F18C-4BDE-B249-11E3D80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60DA3-EBAD-4A1F-8765-74ED6D6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Numerical identity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C9346-3479-4018-A416-21B74D69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386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stacked affine layers compared with their collapse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A1594-1B44-49F2-8271-535C3DED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A9FB8-E0AA-4DB2-9CA8-CCFD419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D4DFD-AD5E-44BD-9F52-ADAFF54A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Paper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281D2-03C5-4C25-B96C-51C3253C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054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one architecture row tied to a source location</a:t>
            </a:r>
          </a:p>
        </p:txBody>
      </p:sp>
    </p:spTree>
    <p:extLst>
      <p:ext uri="{BB962C8B-B14F-4D97-AF65-F5344CB8AC3E}">
        <p14:creationId xmlns:p14="http://schemas.microsoft.com/office/powerpoint/2010/main" val="290142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5FB2C-C613-4CAC-B22D-5953722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Opening calculation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99EDD-D6E1-439F-A7FE-E7EA80E4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71F43-B823-4CF1-A789-2BF5FF41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16C72-EBBA-49AC-9F5D-A563E6FE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E7C8E-7AE0-4880-93B3-ADD823F7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 = [2, -1, 0.5]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EE610-583D-4353-8D10-BA0C3DB3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w = [0.4, -0.8, 1.2]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AD501-A716-4D1B-8341-6EB558B8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 = -0.3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B74CF-3230-40D8-94C6-49303CF4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28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920DC-7DDB-4C3C-A276-60CEA81B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 = xᵀw +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4A012-5A21-44B8-91EB-77501AB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= 0.8 + 0.8 + 0.6 - 0.3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191BD-2985-4C90-AD5D-4FD7D3E9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= 1.9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264AF-C2DE-44B0-B10F-26DB9AEC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sigmoid(z) ≈ 0.870     ReLU(z) = 1.9</a:t>
            </a:r>
          </a:p>
        </p:txBody>
      </p:sp>
    </p:spTree>
    <p:extLst>
      <p:ext uri="{BB962C8B-B14F-4D97-AF65-F5344CB8AC3E}">
        <p14:creationId xmlns:p14="http://schemas.microsoft.com/office/powerpoint/2010/main" val="743574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FFC68-64AC-4275-AD05-C20248A2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neuron performs two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CF543-83BD-4024-B4BF-263951D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253EB-BBA6-400F-98B8-4BFB0F6F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C13DE-ECF2-46FB-88B8-0DD638AB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68b5c1a95465e"/>
          <a:srcRect xmlns:a="http://schemas.openxmlformats.org/drawingml/2006/main" l="6000" t="0" r="6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285875"/>
            <a:ext cx="62865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030BF-AFD8-40BB-B7AF-0265BD53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E8877-B833-4660-A9EA-943C13DF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Affine transformation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F3181-0534-45A1-9DC9-6D18C6F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z = xᵀw +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846FC-7E8D-4DD3-A133-1FA42572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C66B3-2C2D-4EAE-9AB4-7CAFEEE5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Activation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78F0A-5A63-4980-9865-918A6DF4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 = φ(z)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77D4B-63D7-46D4-BDFA-A6134DD5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The forward pass computes. It does not update parameters.</a:t>
            </a:r>
          </a:p>
        </p:txBody>
      </p:sp>
    </p:spTree>
    <p:extLst>
      <p:ext uri="{BB962C8B-B14F-4D97-AF65-F5344CB8AC3E}">
        <p14:creationId xmlns:p14="http://schemas.microsoft.com/office/powerpoint/2010/main" val="544555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611A1-91C2-4D36-809F-CC65EF59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Weights orient; bias shifts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719D9-8891-4C5D-BE9C-8966828B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E82CC-AAA2-47C3-86F8-A7DC39BD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3DDB7-804A-4CA1-B343-69BFDBA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4C378-82DA-45A0-8AB9-5493A6EF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F6A49-173D-4AA6-BC6C-E42C77FC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F46D7-6A4B-4961-88F1-2AFB0337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0C5C5-1458-45DC-8539-26B6D768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52625"/>
            <a:ext cx="3257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Strength of one input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4DEDD-6EDE-4D27-9F96-0FA38D6A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BDC27-3B0F-4893-9059-CBDEAD9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33675"/>
            <a:ext cx="3257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Sign sets direction of influence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4E79D-7DFC-4C69-B84E-8CA48131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5C6F8-4604-4BAD-BF45-9037372D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14725"/>
            <a:ext cx="3257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Zero removes that input from the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16F9-B3F6-4D98-B00B-7E92989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D21AB-67F2-4EA8-9C4D-D90888D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B8829-41FA-4FFD-8077-FB190F85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4787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BEF8F-CC4E-4B79-8114-53A12296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53357-4BB2-4298-9326-BB96C7C1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Offset for one output unit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DFE34-7DD6-4CC4-BA3D-006B892E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CAEAA-41E7-48A8-A9B5-31BC528E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336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Acts even when the inputs are zero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5F1F7-AC9D-4191-9CC4-56EA42B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9104D-FC70-46F3-BEB8-808DCD35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1472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Shifts a boundary away from the origin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D95EA-11E6-4AC7-BD76-BFF5BFD3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1500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05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dense layer gives every output unit its own weight vector and bias.</a:t>
            </a:r>
          </a:p>
        </p:txBody>
      </p:sp>
    </p:spTree>
    <p:extLst>
      <p:ext uri="{BB962C8B-B14F-4D97-AF65-F5344CB8AC3E}">
        <p14:creationId xmlns:p14="http://schemas.microsoft.com/office/powerpoint/2010/main" val="1242343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BB980-4662-4691-BFD0-BC31C66D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one vector to a batch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DE5E5-5070-4365-9D2F-F4B8B8E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9D6A6-191E-4E38-9512-EB23FD4C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8BD17-6A79-4B30-AE99-F9053FC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8E0B4-F623-4F8E-BD75-40068A37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811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Rows are observations. Columns are features or units.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D7123-18D2-4F7B-82B6-51478AD7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FEAAD-1FEC-4DDB-A0A8-96B5FDB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574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3D42E-AB51-4A9A-A2CA-0FA28CC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(n, d)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4866F-61D4-4222-B353-77594F97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26BE0-37EB-4F4B-91AD-ADEF68CA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A8589-923B-40D6-9DC5-70961C40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574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C3832-8ED9-4FF9-843D-FF54612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(d, h)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0A9FA-6AF7-42F9-AD00-A77E657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93078-8E18-4742-B755-D8EC1FA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904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476A8-F89E-4814-9E39-2CCA2B72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8600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BFC25-D63B-45C0-9A7B-3602F7E8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68202-DC3B-4352-9557-1A5DD14B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385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(n, h)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0587F-B59B-46CD-9B18-E0640475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5300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729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shared dimension d is consumed. NumPy broadcasts b across n rows.</a:t>
            </a:r>
          </a:p>
        </p:txBody>
      </p:sp>
    </p:spTree>
    <p:extLst>
      <p:ext uri="{BB962C8B-B14F-4D97-AF65-F5344CB8AC3E}">
        <p14:creationId xmlns:p14="http://schemas.microsoft.com/office/powerpoint/2010/main" val="726492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0E52-1FBB-47CA-8E13-2AFCA20F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Dimension logic is part of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A30CB-D9B2-4D7C-BCC2-CB900992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B2E61-F9C3-4033-A247-39FEF65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08331-A08F-4B89-89BC-81288987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285875" y="1476375"/>
          <a:ext xmlns:a="http://schemas.openxmlformats.org/drawingml/2006/main" cx="96202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191125"/>
                <a:gridCol w="2428875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Shape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four observations, three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W₁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three inputs to four hidden units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(3, 4)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 offset per hidden unit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Z₁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four hidden values per observation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(4, 4)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EEFD8-7F0C-4973-B80C-4201771F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(4, 3) × (3, 4) = (4, 4)</a:t>
            </a:r>
          </a:p>
        </p:txBody>
      </p:sp>
    </p:spTree>
    <p:extLst>
      <p:ext uri="{BB962C8B-B14F-4D97-AF65-F5344CB8AC3E}">
        <p14:creationId xmlns:p14="http://schemas.microsoft.com/office/powerpoint/2010/main" val="10902846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2C7B8-768D-436B-8F22-58CE753C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Activation functions have different response shapes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453DE-F4A3-42AC-A179-4D1BE2E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B89AD-5190-4BC3-B0A5-26E4968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90131-F67C-46DA-8A3E-C5E91104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000250"/>
                <a:gridCol w="3333750"/>
                <a:gridCol w="3571875"/>
              </a:tblGrid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Common role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caution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all real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regression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 added nonlinearity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Sigmoid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 to 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binary or multilabel output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saturates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Tanh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-1 to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bounded hidden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saturates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ReLU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 to infinity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hidden layer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inactive negative region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F93A2-A5B2-4F8E-B808-CF3883E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0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72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Layer role and controlled evidence guide the choice.</a:t>
            </a:r>
          </a:p>
        </p:txBody>
      </p:sp>
    </p:spTree>
    <p:extLst>
      <p:ext uri="{BB962C8B-B14F-4D97-AF65-F5344CB8AC3E}">
        <p14:creationId xmlns:p14="http://schemas.microsoft.com/office/powerpoint/2010/main" val="1677163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E5BA13A-65A0-4220-AC53-7AA255E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Activation response shapes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182B-83AB-4B2E-AC98-08CAA046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9F743-A8D6-4E35-BE3D-74DE7146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CDB90-3EE3-4E45-AAA9-ECF1FB3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D1705-BD6F-41EA-B168-18AF2E5D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8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7CABF-41F9-4932-A7A1-0EE3B4B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8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BF246-39FE-4793-A88E-E801634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D60C9-2D67-4340-869B-F46A7CDA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BE62B-2D1B-46A3-9B92-FF5A4096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4C39F-6E2A-4318-8088-2F2BF51D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210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E2856-5142-477C-BEBD-A77DD9DD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8" y="51347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79531-2385-492E-A4E1-2155DB10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50593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8DE80-1E34-48CF-ABA2-125A2394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49839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0512E-550A-46C5-B5AE-3EB37B5D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425" y="4908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DC3AF-F89D-4334-8A7D-18B61C14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238" y="483314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05436-E18C-42E9-B0B0-DE56DA4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577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64E06-99FF-45A2-9EC1-1368E6AC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863" y="46823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01CFA-AAD7-4FCC-84CC-8667139F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4606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ED6A3-9F83-4D0B-A6E8-C01B5DD7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45315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53D02-7948-4EEA-B487-1FF2692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00" y="445611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DAC6F-E6ED-4784-8F6C-9C8D2A1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112" y="43807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C10DC-DAD4-4010-9BFF-0516E05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05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281E5-114B-4EE5-9181-755D68F7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738" y="42298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B8464-1BA1-454F-84DF-EED4A04D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50" y="415448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042AF-8370-485F-9845-35D87630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40790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D6DDB-0012-4810-9554-35310C4C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175" y="4003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14D61-5331-4F69-BCEB-9231D191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988" y="39282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55C3D-49E7-4CD4-A648-7223E35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528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7F3E1-68C5-4E70-924B-98A8DEAA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613" y="37774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5823A-DC2C-4D06-B40B-DFE14F5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425" y="3702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609CA3-9DB4-4959-BE1C-2BA996CA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362664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0C3A9-706D-4967-B3EB-1F780C94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5512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6DE82B-AEC7-4325-8D9B-4684ECEE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63" y="34758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BE163B-FA23-463E-A380-7A710AE0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99B7B0-82D5-416C-B83B-52284959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488" y="33250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03AAAD-E12C-4888-857E-2061A6E0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00" y="324961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96E02-4466-4881-A14C-0EA7E075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31742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93BD0B-83F7-4F9B-BFF4-618A2B7E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925" y="3098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77EECE-A3C4-44FA-92F5-C225BD5F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38" y="30233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2EEB58-F682-4AFC-BCDB-D664DB3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479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4B8432-1436-4C72-A5C6-10E481A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363" y="28725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421279-1033-478C-902D-9EF29BCE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2797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0B0D00-771C-4B4F-9CDD-B96FCD2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7217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F5130B-674C-4BD9-91D2-1EEDB58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6463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111E84-A581-44A2-95CD-AB0FC2E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613" y="25709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828C18-00BE-4E85-BD9C-E5B2533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95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F73D76-F867-4E41-80D9-450D931A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238" y="242014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96C2B1-6E19-477E-88E9-E36F937D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3447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9148A6-B898-4791-B5C3-6008D751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2693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24B178-21C2-4AE9-A541-F1241CE0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675" y="2193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E20901-FFF8-4FC4-A7F4-15281159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488" y="21185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E41F8D-5EDF-45F1-80CA-51CB18A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4311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722FCB-AEF5-494C-B099-A325B02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113" y="19677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5E0DAA-A744-42D4-AB40-0C2B9A9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1892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53FC6B-345F-466B-B726-1B9D3B6D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18168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BDD30C-D123-415D-85EF-7EFDD27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74148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1963CB-4D55-4498-94B7-3E051589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63" y="16660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31FE5A-A7B8-49CE-A105-4D4B17D0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90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B1090D-2883-4CCB-93FF-D9554EA3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5485EE9-0BE6-47CD-B22D-1A9D367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8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809D57-B278-4A1C-AE6B-66D0B0D2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C39886-A113-4FA9-A536-C3A654E5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F52B9-CF10-4F22-84D5-94E6422A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42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5A0BE2-7356-4B80-B6CF-9D0D6F2C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238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B1BC08-24D4-4416-93D7-B26429B0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92C41A-9DDE-46A4-9EFE-4381B489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863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16D977-859D-4BC7-90AD-C8A3122D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BAFBC0-C528-4EF6-AE28-A463121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BDCC33-8DB0-4B25-99BF-56C5322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00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16480B-5916-456E-A325-B8BB12D3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112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457AA00-ECDE-4FA7-A9C2-9C025C0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912BF4-ED04-4908-800C-A54CF7C9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738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05503F-000D-4697-BA0B-AA530B53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50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209F07-B915-48A8-BA0C-070F575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834B15-7838-4834-8A53-76C764E2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17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304C16-3B91-419E-B60B-3196C3D2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988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00CF5F-1867-4F29-A174-2CB35D0E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4D786EF-6B17-4325-8A30-99AD1901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613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42CFBC-27F9-4010-BB23-4D2D167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42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7D74F6-C2EB-4CB2-A4D9-EC940190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383CB34-640C-4501-BC1A-D745125E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3A1F019-49DE-4D0E-A20E-F41D5C93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63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797903-2CA4-4443-8800-4EABEFA6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2E2EB6A-117B-44D6-B8F1-5949E147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488" y="33250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17338C-71C5-476F-AD7B-0CEC0FD1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00" y="324961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45304E5-25AE-43BD-B11E-B67F50B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31742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661A3DD-C30D-4A27-85DF-9223631B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925" y="3098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5DB705A-DA5F-4B95-A812-04F28D13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38" y="30233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0C3910-2181-474C-870D-75F7B7C6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479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95B965-A89A-4A25-A70C-5997FBBF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363" y="28725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16D53D-E9A5-4067-85BE-5603997F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2797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EF18CAA-D74D-4435-A1D7-54CF75E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7217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970A9FC-B9BB-40C6-8C73-DF5C4FA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6463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A3882C1-D43F-4BD1-AB21-2FDE63E3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613" y="25709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37CE5F4-0C19-4047-B56B-545777B4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95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DD6890-FE33-434F-A2D1-914498C1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238" y="242014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5C11DE-4F1B-4347-985C-91D7EF22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3447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9DC5A0C-4017-41AC-BAE6-0035CAE8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2693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ADC0A03-ABEA-4C9A-8318-C239E988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675" y="2193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B532674-2ED5-4AB1-87E8-3218CCC8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488" y="21185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CFEA64-233E-454C-811D-BFBEE8A8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4311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3E706EB-F1F0-4D5B-9BD2-2AA6D51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113" y="19677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5EF4CC-3FA0-403F-9613-0DA66F1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1892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FD57FFA-271C-46E1-BBD2-8523282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18168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8C2621-E20B-4844-83EA-9C09483D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74148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8BAB09-00EE-4E4F-B09D-F2AC8CB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63" y="16660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9CD43A4-5847-4844-B259-CE23ED34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90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3DF71D-5057-462D-BEDF-4EB40CD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0069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8997459-8E0F-46F5-8919-31B3A7A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8" y="399984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C9AB7DF-9648-4B8A-A4D1-0E14677F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39987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044EB5-CA35-4276-BFE7-2E4AA6DA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399737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5A3C8C-6099-40D6-BFDF-AB8A7ED6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425" y="39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37138B2-C6F7-4A01-8C26-2A4CC969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238" y="399332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98BE122-60C4-4318-A1DB-9FBC330A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904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B8A941-EC30-4DE4-BCF5-D0800949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863" y="39867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399AB5-469E-4CFB-B6FA-53C8C38E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981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A04A47D-C553-400C-A27B-7E7A06D1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397595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BB98E4B-7668-425A-B8A6-98952AF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00" y="39683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C588A3A-C5E4-464C-AB35-0B9D9E36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112" y="395864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13BA1EC-3277-4320-85A8-0EB8637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464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D1E694-850D-4153-A00B-3FE8F5A7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738" y="393118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4EA9488-0345-4F5B-A45A-9085D5C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50" y="391215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99903C6-37D2-43BB-A936-7376D8E6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38886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F555C07-A627-4658-A6A4-782DB0B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175" y="385985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54BE838-653D-4615-929C-B15EFBBD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988" y="38250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7225B14-BC7D-42A9-A3CD-F0F70E1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8357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BA960D6-EE59-4DB3-A50E-82647B4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613" y="373498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D7B48DF-5044-407F-AB2F-8312989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425" y="367919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0FAF66A-5D5E-46FF-95EB-6D0DCA2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361660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8431032-D1DA-4177-9BE5-76F5AE61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54817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6E351A4-2E65-4F42-9EA8-D4333F0E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63" y="347544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3DCACEB-4EC2-46CB-B586-D423B9B8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7F654FF-A5E4-4B10-9891-2DAC71D6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488" y="332540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5E78404-7C72-4218-B853-383EEE7A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00" y="325267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88DEBAF-BE09-4228-8CDE-73DE4A1B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318424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8D070D4-6A68-457E-9F29-9A6EA1A8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925" y="312165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17133BB-A468-41DA-96DB-2E438F06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38" y="30658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E9234F2-A62D-4F57-8318-1AAA0D7E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1727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BE0585C-263E-468B-B317-39749712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363" y="29757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524CFA3-F2CA-4105-9907-74D0DE2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29409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59761C4-DDB9-437A-8F01-7612E40C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91221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C2B214C-EE5F-4234-9922-60C93CB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8886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8CA1E4F-5953-4545-A4A0-3FFB0A0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613" y="28696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DFC83E4-B92E-4CA1-BEDF-53D027AF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543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E3C2A02-A1E1-4C12-856B-3B9B61B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238" y="28422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4EB93A3-B4DA-4C00-85F4-0747FACB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83254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EA69ABA-CCF3-42A7-966B-2E176F06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82489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AE49036-FB7F-472F-8A60-93F0EF2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675" y="2818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5CD8A6D-49A7-4DAB-A96D-601207FD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488" y="281414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4DF7E36-781C-4784-90A2-520E126C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104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34EFDAD-093C-4EA2-B46C-F4AD57F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113" y="280752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CE6EEFB-879C-4ADE-81CD-749ACDF6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2805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BA26A20-BED3-4BC8-A635-1CF7453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28034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EF936A9-7CE0-4172-92BC-2614E13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280208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13ED9EA-9D12-4A7B-9027-889B64AF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63" y="280100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F1F20E2-84C7-4C77-8236-2F0F7B6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015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61A03DE-B834-4037-B93C-E5D444A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718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12B1255-C5B1-42AF-AA9E-EFA066F6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8" y="336820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1821DC5-31D0-4732-AD5F-F28AE025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336417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364425F-ACA4-4FB0-840F-DE596A71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335967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0F7C5B3-CA92-40D3-B06E-40E9E2C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425" y="33546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63B0C8B-419B-43CC-8E4C-58C1AD2A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238" y="334908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D7E59A8-2638-4EBE-A108-D97A544C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4290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473E3BB-0490-4710-AC63-41B79696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863" y="33360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D180702-282B-4FD5-8FB4-82662BAA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32851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D2C0DAF-8EAB-4B71-8AB0-A725BAAF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332021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C932740-FF6E-4009-B8B2-D4CE6CA3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00" y="331111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680C438-8972-4B0B-B495-B91F5AA3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112" y="330118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6E6A1F4-D55B-4B7D-AF88-AB79EEE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9037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161216F-1F84-45EC-A9DD-0BFB5CCB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738" y="32786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0913C36-AE34-4E4B-A8DB-E4DF19F8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50" y="32660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70CA56B-3D1D-4DD0-97F8-A4889783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325257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43BC733-FF1A-4AEE-8907-723B39A5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175" y="323818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CB14325-1A7D-41A4-8533-A79D4D32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988" y="322294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5795AE5-85AD-425B-8600-02268E87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68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F6EB4AF-97AC-4317-B44B-F19D6C77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613" y="319010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246264E-5B70-4F3C-8983-8D4594F6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425" y="317267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010B8E2-1E60-4AF1-80A7-E61A4BE7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315470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ABF453A-C483-498A-9969-A053E038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13630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BFBE534-07D5-4302-B2F1-D142EEBD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63" y="311762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5D61900-808E-448C-8D98-54AB8B24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98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AF020AB-2ADF-48C0-B16A-5D1FF3F6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488" y="30799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A93CCEE-272A-4A67-8274-53443773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00" y="306129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E1958A4-4BB4-4587-872E-84FC649A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304289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A091393-59BF-43B8-9E64-7EAFDEE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925" y="302492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E96FC70-73B6-4777-9C44-0F54738C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738" y="30074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1A65CEB-B075-40FD-A965-17AA3FC0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907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4EDADB4-B1CE-406B-883B-A198CA4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363" y="297466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0A12412-8522-4E6E-9F2A-1E7ADA41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295941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DF8F70B-833A-4795-B30E-717545A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94502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7B9FBD1-9EFC-4154-AD1F-D7171905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9315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454E459-E3E2-4C73-8934-8DF87075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613" y="29189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4D7CC45-CD23-4D65-B24A-81E1763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0722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3CF1F8B-291A-4E49-8293-E5929B7B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238" y="289642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3956743-C377-4A6E-B9B9-44109099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88648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8075E7E-2A17-40F5-879E-2A8FB896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87738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C2B1C50-656C-43C7-954A-B2DB5E6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675" y="286908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7FD6099-50DA-4E77-988B-3F992A44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488" y="28615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58D38EB-2369-4923-9A13-264DAD14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46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C8F30A2-6EC5-472E-B8C6-B4818CB4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113" y="284851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A4335E6-9C2D-4592-9B3D-DBC7A36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28429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A67727A-CCB6-4901-83BF-0EECA901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283792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BB995E1-E958-4CAA-AF9D-01BCB66A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283342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A1E4C2B-2682-4A2D-B87F-5BA55913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63" y="282939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D645E0A-BAA4-4482-A2FF-52984B3B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257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67D0951A-C632-4945-9CEF-255A42E5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A7A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DF7E50E-772F-4993-AF91-05503590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050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D5DE68C-4D43-4A4F-A637-4F0A24B9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preserves magnitude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8711E81-1F2B-4199-BDFC-F6185BDB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670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D427DD8-BFA5-4119-A53A-F9F5CA79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241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ReLU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ED4F43B-6396-465B-AADC-3F3928E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051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zero below 0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4F3E373-F67D-4629-8130-DDCAC8D8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861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6D7D1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EF47674-D929-4D9B-816B-B6F41B5B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433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Tanh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B136A3B-00B0-4071-AEAC-08C248F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243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compresses to -1 and 1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F4D7048-5DAD-4F00-A2F1-02D19DAA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053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B7A6D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98183B85-F288-413D-9C34-136CFE21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624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Sigmoid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1379A8D-EC35-4649-BD94-219686C5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434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compresses to 0 and 1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B5545E2-A529-46EB-B494-897BF447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61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plot describes behavior. It does not rank functions for every task.</a:t>
            </a:r>
          </a:p>
        </p:txBody>
      </p:sp>
    </p:spTree>
    <p:extLst>
      <p:ext uri="{BB962C8B-B14F-4D97-AF65-F5344CB8AC3E}">
        <p14:creationId xmlns:p14="http://schemas.microsoft.com/office/powerpoint/2010/main" val="1264460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6BDF6-F31A-4A50-B7AD-2965DE7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Nonlinearity changes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0119D-A8DA-416E-94D7-B48E7D10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B1FA0-2B96-4A29-86A9-41A5F50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93D56-A3B9-4E5C-B6E0-466626CF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0f71e493141cb"/>
          <a:srcRect xmlns:a="http://schemas.openxmlformats.org/drawingml/2006/main" l="16190" t="0" r="161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190625"/>
            <a:ext cx="6762750" cy="5000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6BE94-EAF7-4936-880C-964BC1E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ORIGINAL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22249-3D9C-47B6-A0F9-1F42640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3762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flat boundary</a:t>
            </a:r>
          </a:p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cannot separate</a:t>
            </a:r>
          </a:p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arrangement.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1D488-2957-4B52-A714-23426A9D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HIDDEN REPRESENTATION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85C69-6986-4A3E-884C-18E9464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nonlinear transform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make a later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boundary useful.</a:t>
            </a:r>
          </a:p>
        </p:txBody>
      </p:sp>
    </p:spTree>
    <p:extLst>
      <p:ext uri="{BB962C8B-B14F-4D97-AF65-F5344CB8AC3E}">
        <p14:creationId xmlns:p14="http://schemas.microsoft.com/office/powerpoint/2010/main" val="536332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DE1E7-67F8-4BF1-8CFF-0DA43AB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Two affine layers collapse to 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2FF57-9823-47B5-8B54-743B0BC4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90DD3-DBCF-4EE4-BE28-EE1E82E0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BD72B-E769-47C4-A3A2-0AC1C9B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E97EF-6BF2-42F0-84DF-82138D5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EC095-0632-45BA-98D5-2634F521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Y = (XW₁ + b₁)W₂ + b₂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72B50-31C3-45DB-918A-474F8389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1238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67370-4458-457F-8C4A-8C1191CE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63835-0A5E-4C31-85BD-18689D93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Y = X(W₁W₂) + (b₁W₂ + b₂)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02051-432C-44F6-956C-5C2EA81E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W* = W₁W₂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C0881-082A-4727-83F4-D874903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b* = b₁W₂ + b₂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C50FE-DE88-43EE-95D5-36480F06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478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Without an intervening nonlinearity, added depth remains affine.</a:t>
            </a:r>
          </a:p>
        </p:txBody>
      </p:sp>
    </p:spTree>
    <p:extLst>
      <p:ext uri="{BB962C8B-B14F-4D97-AF65-F5344CB8AC3E}">
        <p14:creationId xmlns:p14="http://schemas.microsoft.com/office/powerpoint/2010/main" val="18619684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CC83A0-A1D8-435C-8989-40D624A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Two-layer forward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39CDF-D621-4F10-B3A0-B15A41EB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7F528-47AC-4CFD-802D-A38DB157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FD01A-5503-4242-AC54-444EF2FF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AAE9F-8013-45C2-B083-4485661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DF360-04F6-4380-A363-F563592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15E95-EC17-41AC-AA49-2E427CD2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(4, 3)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1A2CB-7914-4757-89A3-682A22B6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0CFF7-4DFC-4C05-A28C-20528BD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967E6-6660-4280-9BD4-6FE2E0E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EEBB5-0C6C-4CED-8E28-6CF40887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385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(4, 4)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F1941-1970-40D5-AFAC-CA8D4021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0375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CFDFB-A3E8-4247-93B7-DAC098E1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C3019-3C0F-431A-8025-160BBC49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1E8A1-4E6F-4A30-836B-B534659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385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(4, 4)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CE61F-5283-496B-AA96-EA59877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3048D-5C0A-4C79-B666-413C036B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F25DF-AA2A-4F61-9A27-DF7BB2DA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03362-D38C-412C-8924-DEEEA8F2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(4, 2)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CCD37-2BAA-456F-9FE5-0ABA73D8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761C0-1D62-42B0-AEDF-B5EC7AB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69456-1A4E-493D-9634-35BF4379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67EE5-0F0F-4BF6-9666-CC7C8440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385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(4, 2)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39270-B2F6-4339-BAFE-661B23D7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XW₁ + b₁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BBF5B-DE13-4D7E-9341-972BBDE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05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ReLU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3254C-F463-45F7-B40D-50F6F9A4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A₁W₂ + b₂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7CDBD-B998-4918-B933-5652E143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24919-02CE-4290-8CBB-2F1273A5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625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501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operation has a value rule and a shape rule.</a:t>
            </a:r>
          </a:p>
        </p:txBody>
      </p:sp>
    </p:spTree>
    <p:extLst>
      <p:ext uri="{BB962C8B-B14F-4D97-AF65-F5344CB8AC3E}">
        <p14:creationId xmlns:p14="http://schemas.microsoft.com/office/powerpoint/2010/main" val="13585019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69FFA-AD1E-472D-A6F2-C2E32133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Logit, probability,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305FC-0C30-4809-AF71-17B6A28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459A3-76F2-4E1B-A803-F135F56C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63293-82BB-42D1-9ABB-3B77831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9A89-91E1-4CF1-9442-3ED9C558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LOGIT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3E76C-738F-44C4-A7C4-AD2FDCD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00E6A-DC92-4BA9-A762-2EB65AF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raw model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6E154-DE78-4950-9E72-8BAACB20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z = [1.2, -0.4]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8151C-D33F-4A3B-8A43-F9FA5721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9562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78E7D-ECDB-4B81-805C-A8339C6E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30CEF-A298-472E-8275-3D240D0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70D59-2328-4E29-85DC-73704341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62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normalized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2DC9B-C294-4E22-8912-389B64F5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 = [0.832, 0.168]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44205-B867-4952-B7AC-77DC1A6F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C1CCD-6C3F-4017-882F-0CAB19B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6748C-2E37-4F4D-B1BA-6DC5DD9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337BB-C0CF-4090-9D8A-626E2927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decision rule applied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6EC30-F51C-4788-B5CE-37B879F7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class =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F52EB-D2FB-4461-AF43-1512F8BD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911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495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threshold or argmax turns model output into a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81235-710C-4D5B-9397-9E71A88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Select thresholds with validation evidence, not final test labels.</a:t>
            </a:r>
          </a:p>
        </p:txBody>
      </p:sp>
    </p:spTree>
    <p:extLst>
      <p:ext uri="{BB962C8B-B14F-4D97-AF65-F5344CB8AC3E}">
        <p14:creationId xmlns:p14="http://schemas.microsoft.com/office/powerpoint/2010/main" val="13018582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194B9-4A17-480D-B6E8-7E106B3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Match the output head to the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3E33D-FCDC-4961-944E-4D7724A0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E3BBE-7785-4523-8907-032F8C4D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A2CF5-8B3C-4E01-AC18-BA1D7A1F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1133475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381250"/>
                <a:gridCol w="2667000"/>
                <a:gridCol w="3429000"/>
              </a:tblGrid>
              <a:tr h="8477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units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Regression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 or more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continuous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Binary classification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sigmoid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positive-class probability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Single-label multiclass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number of classes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softmax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exclusive probabilities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Multilabel classification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number of labels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independent sigmoids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nonexclusive probabilities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C3B6E-CCA8-4E20-853E-16060151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7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The target structure, output head, and loss must agree.</a:t>
            </a:r>
          </a:p>
        </p:txBody>
      </p:sp>
    </p:spTree>
    <p:extLst>
      <p:ext uri="{BB962C8B-B14F-4D97-AF65-F5344CB8AC3E}">
        <p14:creationId xmlns:p14="http://schemas.microsoft.com/office/powerpoint/2010/main" val="1698122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03380-0A76-4B5F-A01D-2EEB1043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Stable softmax preserves probability ratios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B551E-5414-4A09-B121-E9C4EC2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D53AE-7C02-49B9-B1DA-71720546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80EB5-4860-4D40-A5CA-DAF9883B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E9471-ECB2-4DD1-8F37-4A44061A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pₖ 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C6DA6-8F5B-43D8-88EA-12A041A4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66875"/>
            <a:ext cx="7096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3BF28-3589-4788-AE09-C8F833B1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14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exp(zₖ − max(z))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ED33B-6E8E-4280-A03C-6C678889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614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5B2FB-71B0-433A-B1CF-65FF221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14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Σⱼ exp(zⱼ − max(z))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4315C-1CD7-48BD-91CC-C0510EF7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72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Subtract the largest logit before exponentiation.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FFB0F-5504-45E8-96E2-5CDAB4A1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3FFFB-98E2-4DAE-BEBC-9520731F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57750"/>
            <a:ext cx="640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finite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65BB1-59C7-4ADA-84A7-B3FFD50B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3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94F29-C972-4210-A238-E63D182E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640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nonnegative probabilities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20825-8A8F-4BBE-BD4A-DCFDCA5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1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25D25-F1BE-4386-8CB9-506DC444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10250"/>
            <a:ext cx="640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row sums to one</a:t>
            </a:r>
          </a:p>
        </p:txBody>
      </p:sp>
    </p:spTree>
    <p:extLst>
      <p:ext uri="{BB962C8B-B14F-4D97-AF65-F5344CB8AC3E}">
        <p14:creationId xmlns:p14="http://schemas.microsoft.com/office/powerpoint/2010/main" val="8545039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65C91-E5E9-434E-99F3-88635CE7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Dimension-tracing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05017-70CF-488A-AD30-9E60E65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88850-6596-4707-BCDA-38B18BAA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C7CD7-CF22-479F-A804-91958E54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67494-59FC-488E-BA20-2E3AE386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Given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6B620-32DA-4004-BD7A-E31CCBED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 (4,3)    W₁ (3,4)    b₁ (4,)    W₂ (4,2)    b₂ (2,)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B8A5D-0176-4D71-A64A-1A29643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Z₁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56D12-9A29-421C-BD62-173D4600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XW₁ + b₁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708B1-E901-4F1E-808E-4B1234BB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EB480-3289-45C8-BE94-1D3C0598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005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   ,   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B1E99-15C8-4DCA-9B48-EBF6811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C9A65-83C5-4F53-B78D-54E0B43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ReLU(Z₁)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CEEFB-9D2A-4B14-853C-090628B5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0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05BB5-C317-4FCD-8E2D-A77BD0F0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   ,   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0B831-9472-4AF6-A911-3DD47B2E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Z₂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91C9A-0E26-44CE-84AF-5A94BDA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76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A₁W₂ + b₂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3D803-5E38-430B-AD4E-584CF004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7CC95-0E24-4DB5-90F3-7A4CC5F2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005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   ,   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549C8-B104-4529-A312-6CDDE94C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B6D5D-486E-4314-A3B8-1B9B48D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softmax(Z₂)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4C3E4-A636-4A85-8442-DF8AA7F6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E5CED-CD8F-44F4-8717-87825A81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   ,   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2C106-12C0-40FE-B69B-883B9D65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6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Write the reason beside every result.</a:t>
            </a:r>
          </a:p>
        </p:txBody>
      </p:sp>
    </p:spTree>
    <p:extLst>
      <p:ext uri="{BB962C8B-B14F-4D97-AF65-F5344CB8AC3E}">
        <p14:creationId xmlns:p14="http://schemas.microsoft.com/office/powerpoint/2010/main" val="1624693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4BA19-E4A4-451F-AC8C-121FCE3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Count parameters before adding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71D9B-5477-4A40-AF7C-6E795A11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27B3B-A908-41E1-AD70-6F997C8F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1EC1D-8828-4D7B-96A8-21491A16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42EF7-1ADA-43A5-B555-97DCD6AE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d → h → 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B000A-03DF-4F9E-989A-FCB46CDD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(dh + h) + (hk + k)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529C-4B01-416D-9E28-BC19E104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763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B67F3-B460-47F2-9C71-7C41BFC3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TEACHING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D3C2A-9E7A-46D5-9F96-C916C900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 → 4 →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0C049-29AC-494A-9D09-B0494C45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(12 + 4) + (8 + 2)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7D142-3CE9-4B18-BE36-70F42189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57625"/>
            <a:ext cx="276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EFF66-7CB9-464D-93E6-D58AC50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795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More parameters change capacity, compute, optimization, and evidence needs.</a:t>
            </a:r>
          </a:p>
        </p:txBody>
      </p:sp>
    </p:spTree>
    <p:extLst>
      <p:ext uri="{BB962C8B-B14F-4D97-AF65-F5344CB8AC3E}">
        <p14:creationId xmlns:p14="http://schemas.microsoft.com/office/powerpoint/2010/main" val="11130021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AF607-1098-49A8-B5C8-E1419F4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NumPy forward-pass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AD706-5AF8-4BA6-A353-F61D541C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B25BA-70CA-4239-ADB4-E5E6F379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FDAFA-6DE6-4A9B-BD23-6F1928F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9B093-8423-4B83-A7B5-E8245EBB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python labs/week04_forward_pass_numpy.py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CFB0B-5CEC-421F-9440-EEF5F65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SHAPES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FE43E-698B-4E14-894B-279411ED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145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(4,3) → (4,4) → (4,2)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616F0-E677-42F6-9F4D-262CA709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BA586-3971-46BE-AB82-CA98D7F6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14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A54FF-476C-42DA-AD71-D4BE0045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probability row sums to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437D7-7AF6-420D-A9A8-6E59DF6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789E3-4F4F-4D0A-BBE9-D1CBA324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957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3DD83-5DCC-4D15-B2A4-C3EBBAAD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766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 trainable scalar 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95A10-2804-414E-9976-42FD9601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B8194-3932-48C6-BD77-E519BC49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767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COLLAPSE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AFF3C-2205-4E03-B124-BF0C35F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577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maximum difference near 2.22 × 10⁻¹⁶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5D1CA-8EE3-4B1E-A04C-9936077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Predict first. Run second. Interpret within the claim boundary.</a:t>
            </a:r>
          </a:p>
        </p:txBody>
      </p:sp>
    </p:spTree>
    <p:extLst>
      <p:ext uri="{BB962C8B-B14F-4D97-AF65-F5344CB8AC3E}">
        <p14:creationId xmlns:p14="http://schemas.microsoft.com/office/powerpoint/2010/main" val="3576495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739E7-6F81-4B16-A775-DEDD4011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the lab establishes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7FEBE-D174-45CE-ADD7-FBA8E8C5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048DC-3E9D-4A81-BB2B-68ECAD81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72F6C-0E04-4CAE-8ADF-458ADC9F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BC391-0195-4A01-B9A4-30B85959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40868-8F2C-4E1C-B437-BD0BFF1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ABD4B-8FEF-47F6-B2DE-54129A93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47875"/>
            <a:ext cx="4067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shape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41D36-E738-4DAC-9850-94201562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AF39B-87A7-4307-9884-52D3A20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86050"/>
            <a:ext cx="4067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bias broadcasting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5AED9-70B6-4E1B-B8A3-DFAC39E2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1119E-FCA5-45A4-B959-ADCBA52E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24225"/>
            <a:ext cx="4067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softmax normalization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C25B9-A910-45F8-A13F-7271ED9C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02EA8-4DFF-4450-973E-9F6E5A2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62400"/>
            <a:ext cx="4067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parameter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BE0E5-2424-4A9E-BF61-6A47553B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A128C-263A-4099-9BC1-6FA4244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00575"/>
            <a:ext cx="4067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affine-layer collapse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7B30F-F39E-461A-BF1B-B7FEA93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971CA-A843-4E43-9550-027FDDA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STILL UNTESTED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B93E9-7D20-4E09-AB79-4463CD1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1FBF6-3F6F-4197-A8E7-B71A3CB9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47875"/>
            <a:ext cx="4305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successful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4165C-EFA3-454B-8209-4153B869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E3C67-8968-43CB-9DB2-5F4A1D9A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4305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predictive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0D9D2-5561-4D55-8BC3-918DBCED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13F63-2339-4EDB-A642-E1720AEF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4305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probability calibration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447C8-A4DF-41B0-BCCE-C065C3E0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6104C-49C0-42FC-91D4-E6A8F06A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4305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unseen-data generalization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57E1B-3869-46AA-BF38-E22A2BD0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6207E-FCFA-4BCF-97AC-D4F899C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4305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benefit from greater depth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5E9AFA-8ECB-4A3B-8975-BE617D7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212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correct forward pass is necessary evidence, but it is not a performance result.</a:t>
            </a:r>
          </a:p>
        </p:txBody>
      </p:sp>
    </p:spTree>
    <p:extLst>
      <p:ext uri="{BB962C8B-B14F-4D97-AF65-F5344CB8AC3E}">
        <p14:creationId xmlns:p14="http://schemas.microsoft.com/office/powerpoint/2010/main" val="3969921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69BE2-282D-4205-B85D-FDB72660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Extract architecture evidence from a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5FB9A-67CA-41F6-ACFF-6A54F5DC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F7CF3-E54E-48CC-87E2-76C16A33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31599-A24B-4183-A127-DDF58C7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2AE5E-4122-4098-BFCB-C37D95FC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Reported 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F2947-3229-4CE2-9730-73CC7563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Source 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DAD54-5FAD-4016-83AA-5670445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Interpretation or missing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88208-39CB-40CD-8F91-6A970895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Input representation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A94B7-1314-487F-91BF-4F33BB4D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ABF4-4E4F-4FC8-B6D7-39D00B0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4D995-748B-45BF-91E7-9092B496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908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Layer sequence and widths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BA9CD-13CC-4576-9B27-A1A9E1F7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2D903-AAFA-43E1-B9A9-62972BCF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DE97A-555E-475B-8EE8-33E1CF9A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861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Activation and output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35E86-AF3D-404E-902A-D660764D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95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B2A36-E7E0-4720-88AE-14B230E3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839B0-267A-40F5-BF00-D55E2756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814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Objective and optimizer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AE714-27B1-46C5-8189-1B2D049F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55840-196B-44FC-987D-E2EEC3B1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67C77-6103-473B-BA02-B5F6BC81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Data, split, metric,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C3964-90BD-4EA6-8E40-95785D52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01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A8C46-3073-43E7-AABA-935DCFB3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01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ED8C0-E54C-4700-A661-C391068F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50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71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Write “not reported” when the paper is silent.</a:t>
            </a:r>
          </a:p>
        </p:txBody>
      </p:sp>
    </p:spTree>
    <p:extLst>
      <p:ext uri="{BB962C8B-B14F-4D97-AF65-F5344CB8AC3E}">
        <p14:creationId xmlns:p14="http://schemas.microsoft.com/office/powerpoint/2010/main" val="16240544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D41D2-7886-4EC0-9BFC-81514EE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Literature comparison and 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D5A10-BAAE-4ADA-8E8F-AA0CE3B6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25AEA-9C2D-4815-8DF1-824E779D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492C0-206E-4C76-80A4-F51CEBBB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48FBA-353B-4AB9-B97E-EF57A90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COMPARE AT LEAST FIVE CREDIBLE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77B19-BCAF-497B-9A0D-B37E24D9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1D56C-3A9D-48E3-B41C-B46C75C5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52625"/>
            <a:ext cx="963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 direct, partial, and invalid score comparisons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A52AA-F7D3-4B1A-BAC8-B2BAA29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FFB98-E747-4E35-8080-D3316C2B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33675"/>
            <a:ext cx="963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the simplest credible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B2FBF-BAF4-422F-A336-C867E390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6B9F0-A780-4AEF-863B-FFA0B300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14725"/>
            <a:ext cx="963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one unresolved question the available data can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3AD77-701D-4C03-9581-41156B2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0C87C-F81B-430B-B1A3-DDF0C1FB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04E01-04B9-45FE-AAE4-3EAE1894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valid matrix expression  •  why nonlinearity matters  •  likely output head  •  one missing architecture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5A547-F6BD-4FB8-B523-157CD8FC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0960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Next: gradient-based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86314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2026-09-06T09:44:10.9680000Z</dcterms:created>
  <dcterms:modified xsi:type="dcterms:W3CDTF">2026-09-06T09:44:10.9680000Z</dcterms:modified>
</coreProperties>
</file>