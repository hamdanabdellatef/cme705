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cc765007ec4993" /><Relationship Type="http://schemas.openxmlformats.org/officeDocument/2006/relationships/extended-properties" Target="/docProps/app.xml" Id="Re6e47a16c5f040c3" /><Relationship Type="http://schemas.openxmlformats.org/officeDocument/2006/relationships/officeDocument" Target="/ppt/presentation.xml" Id="Rab2e5c4ada3646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943430805c436e"/>
  </p:sldMasterIdLst>
  <p:notesMasterIdLst>
    <p:notesMasterId xmlns:r="http://schemas.openxmlformats.org/officeDocument/2006/relationships" r:id="Rec02c7b45d1e48ae"/>
  </p:notesMasterIdLst>
  <p:sldIdLst>
    <p:sldId xmlns:r="http://schemas.openxmlformats.org/officeDocument/2006/relationships" id="256" r:id="Ref59d07b1f0f4fc5"/>
    <p:sldId xmlns:r="http://schemas.openxmlformats.org/officeDocument/2006/relationships" id="257" r:id="R1483d3dcd0194bee"/>
    <p:sldId xmlns:r="http://schemas.openxmlformats.org/officeDocument/2006/relationships" id="258" r:id="R081698036d1f42a1"/>
    <p:sldId xmlns:r="http://schemas.openxmlformats.org/officeDocument/2006/relationships" id="259" r:id="R99585fa80c54432e"/>
    <p:sldId xmlns:r="http://schemas.openxmlformats.org/officeDocument/2006/relationships" id="260" r:id="Re87d9f75ddbf4b7f"/>
    <p:sldId xmlns:r="http://schemas.openxmlformats.org/officeDocument/2006/relationships" id="261" r:id="Rb47eb81245fb47a3"/>
    <p:sldId xmlns:r="http://schemas.openxmlformats.org/officeDocument/2006/relationships" id="262" r:id="Rdcc61848d4f74084"/>
    <p:sldId xmlns:r="http://schemas.openxmlformats.org/officeDocument/2006/relationships" id="263" r:id="R9017a7dc64f7440c"/>
    <p:sldId xmlns:r="http://schemas.openxmlformats.org/officeDocument/2006/relationships" id="264" r:id="Rd110c84a16dc41d6"/>
    <p:sldId xmlns:r="http://schemas.openxmlformats.org/officeDocument/2006/relationships" id="265" r:id="R14c95462f8c0444c"/>
    <p:sldId xmlns:r="http://schemas.openxmlformats.org/officeDocument/2006/relationships" id="266" r:id="R4a15757fcca4453d"/>
    <p:sldId xmlns:r="http://schemas.openxmlformats.org/officeDocument/2006/relationships" id="267" r:id="Rfecf1f77a328466d"/>
    <p:sldId xmlns:r="http://schemas.openxmlformats.org/officeDocument/2006/relationships" id="268" r:id="Rda1536ac9a1f41b1"/>
    <p:sldId xmlns:r="http://schemas.openxmlformats.org/officeDocument/2006/relationships" id="269" r:id="R5c63870a76ae42b5"/>
    <p:sldId xmlns:r="http://schemas.openxmlformats.org/officeDocument/2006/relationships" id="270" r:id="R65cc97debccc46e1"/>
    <p:sldId xmlns:r="http://schemas.openxmlformats.org/officeDocument/2006/relationships" id="271" r:id="R10367861a6d24b75"/>
    <p:sldId xmlns:r="http://schemas.openxmlformats.org/officeDocument/2006/relationships" id="272" r:id="Ra428bb9ba2664b8a"/>
    <p:sldId xmlns:r="http://schemas.openxmlformats.org/officeDocument/2006/relationships" id="273" r:id="R360a425dd2554e00"/>
    <p:sldId xmlns:r="http://schemas.openxmlformats.org/officeDocument/2006/relationships" id="274" r:id="R3fbc73be02ef48a7"/>
    <p:sldId xmlns:r="http://schemas.openxmlformats.org/officeDocument/2006/relationships" id="275" r:id="R2fa3b67bcd904856"/>
    <p:sldId xmlns:r="http://schemas.openxmlformats.org/officeDocument/2006/relationships" id="276" r:id="R5b3cbcfe6c76482a"/>
    <p:sldId xmlns:r="http://schemas.openxmlformats.org/officeDocument/2006/relationships" id="277" r:id="R34ecf3d618124b50"/>
    <p:sldId xmlns:r="http://schemas.openxmlformats.org/officeDocument/2006/relationships" id="278" r:id="Rb63d2b5d95df49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88b5febf7444a" /><Relationship Type="http://schemas.openxmlformats.org/officeDocument/2006/relationships/slideMaster" Target="/ppt/slideMasters/slideMaster1.xml" Id="R1e943430805c436e" /><Relationship Type="http://schemas.openxmlformats.org/officeDocument/2006/relationships/notesMaster" Target="/ppt/notesMasters/notesMaster1.xml" Id="Rec02c7b45d1e48ae" /><Relationship Type="http://schemas.openxmlformats.org/officeDocument/2006/relationships/presProps" Target="/ppt/presProps.xml" Id="Rd099597dcf07417f" /><Relationship Type="http://schemas.openxmlformats.org/officeDocument/2006/relationships/tableStyles" Target="/ppt/tableStyles.xml" Id="Rbd38c69288894830" /><Relationship Type="http://schemas.openxmlformats.org/officeDocument/2006/relationships/slide" Target="/ppt/slides/slide1.xml" Id="Ref59d07b1f0f4fc5" /><Relationship Type="http://schemas.openxmlformats.org/officeDocument/2006/relationships/slide" Target="/ppt/slides/slide2.xml" Id="R1483d3dcd0194bee" /><Relationship Type="http://schemas.openxmlformats.org/officeDocument/2006/relationships/slide" Target="/ppt/slides/slide3.xml" Id="R081698036d1f42a1" /><Relationship Type="http://schemas.openxmlformats.org/officeDocument/2006/relationships/slide" Target="/ppt/slides/slide4.xml" Id="R99585fa80c54432e" /><Relationship Type="http://schemas.openxmlformats.org/officeDocument/2006/relationships/slide" Target="/ppt/slides/slide5.xml" Id="Re87d9f75ddbf4b7f" /><Relationship Type="http://schemas.openxmlformats.org/officeDocument/2006/relationships/slide" Target="/ppt/slides/slide6.xml" Id="Rb47eb81245fb47a3" /><Relationship Type="http://schemas.openxmlformats.org/officeDocument/2006/relationships/slide" Target="/ppt/slides/slide7.xml" Id="Rdcc61848d4f74084" /><Relationship Type="http://schemas.openxmlformats.org/officeDocument/2006/relationships/slide" Target="/ppt/slides/slide8.xml" Id="R9017a7dc64f7440c" /><Relationship Type="http://schemas.openxmlformats.org/officeDocument/2006/relationships/slide" Target="/ppt/slides/slide9.xml" Id="Rd110c84a16dc41d6" /><Relationship Type="http://schemas.openxmlformats.org/officeDocument/2006/relationships/slide" Target="/ppt/slides/slide10.xml" Id="R14c95462f8c0444c" /><Relationship Type="http://schemas.openxmlformats.org/officeDocument/2006/relationships/slide" Target="/ppt/slides/slide11.xml" Id="R4a15757fcca4453d" /><Relationship Type="http://schemas.openxmlformats.org/officeDocument/2006/relationships/slide" Target="/ppt/slides/slide12.xml" Id="Rfecf1f77a328466d" /><Relationship Type="http://schemas.openxmlformats.org/officeDocument/2006/relationships/slide" Target="/ppt/slides/slide13.xml" Id="Rda1536ac9a1f41b1" /><Relationship Type="http://schemas.openxmlformats.org/officeDocument/2006/relationships/slide" Target="/ppt/slides/slide14.xml" Id="R5c63870a76ae42b5" /><Relationship Type="http://schemas.openxmlformats.org/officeDocument/2006/relationships/slide" Target="/ppt/slides/slide15.xml" Id="R65cc97debccc46e1" /><Relationship Type="http://schemas.openxmlformats.org/officeDocument/2006/relationships/slide" Target="/ppt/slides/slide16.xml" Id="R10367861a6d24b75" /><Relationship Type="http://schemas.openxmlformats.org/officeDocument/2006/relationships/slide" Target="/ppt/slides/slide17.xml" Id="Ra428bb9ba2664b8a" /><Relationship Type="http://schemas.openxmlformats.org/officeDocument/2006/relationships/slide" Target="/ppt/slides/slide18.xml" Id="R360a425dd2554e00" /><Relationship Type="http://schemas.openxmlformats.org/officeDocument/2006/relationships/slide" Target="/ppt/slides/slide19.xml" Id="R3fbc73be02ef48a7" /><Relationship Type="http://schemas.openxmlformats.org/officeDocument/2006/relationships/slide" Target="/ppt/slides/slide20.xml" Id="R2fa3b67bcd904856" /><Relationship Type="http://schemas.openxmlformats.org/officeDocument/2006/relationships/slide" Target="/ppt/slides/slide21.xml" Id="R5b3cbcfe6c76482a" /><Relationship Type="http://schemas.openxmlformats.org/officeDocument/2006/relationships/slide" Target="/ppt/slides/slide22.xml" Id="R34ecf3d618124b50" /><Relationship Type="http://schemas.openxmlformats.org/officeDocument/2006/relationships/slide" Target="/ppt/slides/slide23.xml" Id="Rb63d2b5d95df49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6daa6fb2284d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706090f7e14051" /><Relationship Type="http://schemas.openxmlformats.org/officeDocument/2006/relationships/notesMaster" Target="/ppt/notesMasters/notesMaster1.xml" Id="Rb8fbd8c0befd4e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d1cdd82d8045d9" /><Relationship Type="http://schemas.openxmlformats.org/officeDocument/2006/relationships/notesMaster" Target="/ppt/notesMasters/notesMaster1.xml" Id="R97d666159e5b4a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bcbfd48a5b4252" /><Relationship Type="http://schemas.openxmlformats.org/officeDocument/2006/relationships/notesMaster" Target="/ppt/notesMasters/notesMaster1.xml" Id="R6775b8c41da64e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d5cc1a98704673" /><Relationship Type="http://schemas.openxmlformats.org/officeDocument/2006/relationships/notesMaster" Target="/ppt/notesMasters/notesMaster1.xml" Id="R9fa0973b570941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06c240909e48be" /><Relationship Type="http://schemas.openxmlformats.org/officeDocument/2006/relationships/notesMaster" Target="/ppt/notesMasters/notesMaster1.xml" Id="R83e5ba7ba41a4b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e58d769fa54d8a" /><Relationship Type="http://schemas.openxmlformats.org/officeDocument/2006/relationships/notesMaster" Target="/ppt/notesMasters/notesMaster1.xml" Id="R390df5b89e3742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781e686ae44add" /><Relationship Type="http://schemas.openxmlformats.org/officeDocument/2006/relationships/notesMaster" Target="/ppt/notesMasters/notesMaster1.xml" Id="R8a8f652122704d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63406edb0b48f5" /><Relationship Type="http://schemas.openxmlformats.org/officeDocument/2006/relationships/notesMaster" Target="/ppt/notesMasters/notesMaster1.xml" Id="Rf8f1e61d1d6e42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71b6125c4542c4" /><Relationship Type="http://schemas.openxmlformats.org/officeDocument/2006/relationships/notesMaster" Target="/ppt/notesMasters/notesMaster1.xml" Id="R5d9db474485d42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e2cfe223e941ab" /><Relationship Type="http://schemas.openxmlformats.org/officeDocument/2006/relationships/notesMaster" Target="/ppt/notesMasters/notesMaster1.xml" Id="R768b726a59d64f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0e4b067c4d4151" /><Relationship Type="http://schemas.openxmlformats.org/officeDocument/2006/relationships/notesMaster" Target="/ppt/notesMasters/notesMaster1.xml" Id="R4703d544b48649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aacfdbe2274dc6" /><Relationship Type="http://schemas.openxmlformats.org/officeDocument/2006/relationships/notesMaster" Target="/ppt/notesMasters/notesMaster1.xml" Id="R0a40a54b13844c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56bffcf99642be" /><Relationship Type="http://schemas.openxmlformats.org/officeDocument/2006/relationships/notesMaster" Target="/ppt/notesMasters/notesMaster1.xml" Id="Reb9137e3394d42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e125d2c2e54e8b" /><Relationship Type="http://schemas.openxmlformats.org/officeDocument/2006/relationships/notesMaster" Target="/ppt/notesMasters/notesMaster1.xml" Id="R1a64d3da511043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093c19dde74c13" /><Relationship Type="http://schemas.openxmlformats.org/officeDocument/2006/relationships/notesMaster" Target="/ppt/notesMasters/notesMaster1.xml" Id="R6046dc996bb14d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3c67533a7c48ae" /><Relationship Type="http://schemas.openxmlformats.org/officeDocument/2006/relationships/notesMaster" Target="/ppt/notesMasters/notesMaster1.xml" Id="R047128fa837c4b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7dbb98e5074d61" /><Relationship Type="http://schemas.openxmlformats.org/officeDocument/2006/relationships/notesMaster" Target="/ppt/notesMasters/notesMaster1.xml" Id="Re4e4cb4f001c4b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308064be45497d" /><Relationship Type="http://schemas.openxmlformats.org/officeDocument/2006/relationships/notesMaster" Target="/ppt/notesMasters/notesMaster1.xml" Id="R6cc411a96fd542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8a5e6e2c74940f9" /><Relationship Type="http://schemas.openxmlformats.org/officeDocument/2006/relationships/notesMaster" Target="/ppt/notesMasters/notesMaster1.xml" Id="R63a581a7648441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2b648ca33a492d" /><Relationship Type="http://schemas.openxmlformats.org/officeDocument/2006/relationships/notesMaster" Target="/ppt/notesMasters/notesMaster1.xml" Id="R9f553b9e6e0f47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cfd4c1080145f3" /><Relationship Type="http://schemas.openxmlformats.org/officeDocument/2006/relationships/notesMaster" Target="/ppt/notesMasters/notesMaster1.xml" Id="R17fd31b091944b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17461a3c84458e" /><Relationship Type="http://schemas.openxmlformats.org/officeDocument/2006/relationships/notesMaster" Target="/ppt/notesMasters/notesMaster1.xml" Id="R99451989b69242d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11a428b490d4267" /><Relationship Type="http://schemas.openxmlformats.org/officeDocument/2006/relationships/notesMaster" Target="/ppt/notesMasters/notesMaster1.xml" Id="R4c97e1703c3b41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State the guiding question: how do we turn an understood convolution into a reproducible PyTorch experiment whose claims stay within the evidence? The handwritten-digit illustration is an original generated course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Point students to the worksheet. Every item becomes evidence they can reproduce and challenge.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students to name the Week 9 operation behind each module. PyTorch executes the declared experiment; it cannot validate the research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lab selects 2,000 training and 500 validation images per digit from the official training partition. The official test partition stays intact. Source: https://docs.pytorch.org/vision/stable/generated/torchvision.datasets.MNIST.html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Subset selection happens before preprocessing. Fit the mean and scale on selected training images and reuse those values for validation and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GPU hardware also needs a CUDA-enabled PyTorch build. Verify with torch.cuda.is_available(). Use the official selector: https://pytorch.org/get-started/locally/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The hidden layer preserves spatial arrangement after two pooling operations. The ten output logits correspond to digits 0 through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Predict each output before running trace_shapes. Flatten combines channels and spatial positions within each example while retaining the batch axis.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Reconcile the arithmetic with model.parameters(). The parameter concentration motivates a later global-pooling or smaller-hidden-layer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13 minutes. Define top-1 and top-5. Compare VGG-16 BN with ResNet-50, then identify EfficientNet-B0 under a 6M-parameter and 0.5-GFLOP budget. These are named TorchVision 0.21 weights evaluated with single crops on ImageNet-1K. A different weight or recipe can change accuracy. Research-frontier context: ConvNeXt V2 Huge reports 88.9% top-1 with 650M parameters and public training data under a different scale and pretraining protocol. Sources: https://docs.pytorch.org/vision/0.21/models.html ; https://www.image-net.org/download.php ; https://arxiv.org/abs/2301.00808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CrossEntropyLoss combines log-softmax and negative log-likelihood stably. Reference: https://docs.pytorch.org/docs/stable/generated/torch.nn.CrossEntropyLoss.html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The model, images, and labels must share a device. Gradients accumulate unless cleared. Inspect them after backward and before the next clear.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Construct Adam once before the epoch loop. Its moving moments are part of the algorithm and experiment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eval() does not disable gradients. no_grad() does not change phase-sensitive layers. Evaluation also runs in batches to limit GPU memory.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Deterministic CUDA matrix operations require CUBLAS_WORKSPACE_CONFIG before CUDA initialization. Record the settings with any runtime comparison. Reference: https://docs.pytorch.org/docs/stable/notes/randomness.html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The untrained network need not predict digits uniformly. Copy the best state when validation loss improves, then restore it after the training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Overall accuracy hides class differences. The majority baseline uses digit 1 because the official test partition contains 1,135 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Read direction explicitly: 21 true sevens were predicted as twos. Inspect the handwriting before naming an error category.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Confidence is the maximum softmax value, not a calibration guarantee. Review at least ten errors and count categories before proposing a model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 finite nonzero norm confirms a gradient path for one batch. Feature activity ranks channels under one summary; it does not name a concept or prove a causal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 prediction can remain consistently wrong. The result covers one direction, displacement, fill rule, model, and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Use the lab reporting structure, not its numbers, for the research project. Error evidence should motivate the next controlled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Collect three concise explanations. Preview sequence models while retaining the same data, device, selection, and evaluation discipline.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e64d3620c44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a66dff53df459e" /><Relationship Type="http://schemas.openxmlformats.org/officeDocument/2006/relationships/slideLayout" Target="/ppt/slideLayouts/slideLayout1.xml" Id="R023d575429c04e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d575429c04e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34ed28fdc48b7" /><Relationship Type="http://schemas.openxmlformats.org/officeDocument/2006/relationships/image" Target="/ppt/media/image.png" Id="R98ceefd75f7245b5" /><Relationship Type="http://schemas.openxmlformats.org/officeDocument/2006/relationships/notesSlide" Target="/ppt/notesSlides/notesSlide1.xml" Id="R6484f3498e234f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da37e085d4ea7" /><Relationship Type="http://schemas.openxmlformats.org/officeDocument/2006/relationships/notesSlide" Target="/ppt/notesSlides/notesSlide2.xml" Id="Rf107b2f5c4d148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616c3d0304381" /><Relationship Type="http://schemas.openxmlformats.org/officeDocument/2006/relationships/notesSlide" Target="/ppt/notesSlides/notesSlide3.xml" Id="R058987121d3047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c304a517f45e5" /><Relationship Type="http://schemas.openxmlformats.org/officeDocument/2006/relationships/notesSlide" Target="/ppt/notesSlides/notesSlide4.xml" Id="Rdd4f3b93adef4e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b16074e8a4039" /><Relationship Type="http://schemas.openxmlformats.org/officeDocument/2006/relationships/notesSlide" Target="/ppt/notesSlides/notesSlide5.xml" Id="Rdc6fe32761e243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bd6355fef4ab1" /><Relationship Type="http://schemas.openxmlformats.org/officeDocument/2006/relationships/notesSlide" Target="/ppt/notesSlides/notesSlide6.xml" Id="R5c32954395b04d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1b98b642e47e5" /><Relationship Type="http://schemas.openxmlformats.org/officeDocument/2006/relationships/notesSlide" Target="/ppt/notesSlides/notesSlide7.xml" Id="Rf82b30b7dbab4e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7d68d11ba4b17" /><Relationship Type="http://schemas.openxmlformats.org/officeDocument/2006/relationships/notesSlide" Target="/ppt/notesSlides/notesSlide8.xml" Id="Rba23f5705ca541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45df0e8364f4b" /><Relationship Type="http://schemas.openxmlformats.org/officeDocument/2006/relationships/notesSlide" Target="/ppt/notesSlides/notesSlide9.xml" Id="R2f9c7366ddac41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7c3fb1f814808" /><Relationship Type="http://schemas.openxmlformats.org/officeDocument/2006/relationships/notesSlide" Target="/ppt/notesSlides/notesSlide10.xml" Id="R7e41c91878a84d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2d8af40154356" /><Relationship Type="http://schemas.openxmlformats.org/officeDocument/2006/relationships/notesSlide" Target="/ppt/notesSlides/notesSlide11.xml" Id="R2d5d443d211148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25831adc14bf3" /><Relationship Type="http://schemas.openxmlformats.org/officeDocument/2006/relationships/notesSlide" Target="/ppt/notesSlides/notesSlide12.xml" Id="R72a5043429524a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fd9758f994f5e" /><Relationship Type="http://schemas.openxmlformats.org/officeDocument/2006/relationships/notesSlide" Target="/ppt/notesSlides/notesSlide13.xml" Id="R780fa0b543c744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f1105e7e845f1" /><Relationship Type="http://schemas.openxmlformats.org/officeDocument/2006/relationships/notesSlide" Target="/ppt/notesSlides/notesSlide14.xml" Id="Rc8d84411d28e48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5e84b7da74e40" /><Relationship Type="http://schemas.openxmlformats.org/officeDocument/2006/relationships/notesSlide" Target="/ppt/notesSlides/notesSlide15.xml" Id="R03a5e4dbd44246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c892385124e44" /><Relationship Type="http://schemas.openxmlformats.org/officeDocument/2006/relationships/notesSlide" Target="/ppt/notesSlides/notesSlide16.xml" Id="Rd36d18c126194c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50b039e1b4a8d" /><Relationship Type="http://schemas.openxmlformats.org/officeDocument/2006/relationships/notesSlide" Target="/ppt/notesSlides/notesSlide17.xml" Id="R35787804c8ce4d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78b20a2ef4fb3" /><Relationship Type="http://schemas.openxmlformats.org/officeDocument/2006/relationships/notesSlide" Target="/ppt/notesSlides/notesSlide18.xml" Id="R98ebe4dd2a6d4a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416840aad4f92" /><Relationship Type="http://schemas.openxmlformats.org/officeDocument/2006/relationships/notesSlide" Target="/ppt/notesSlides/notesSlide19.xml" Id="Ra5122159f44b40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a3fac9887426d" /><Relationship Type="http://schemas.openxmlformats.org/officeDocument/2006/relationships/notesSlide" Target="/ppt/notesSlides/notesSlide20.xml" Id="R66f0807a510541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e2ca9922a4d8c" /><Relationship Type="http://schemas.openxmlformats.org/officeDocument/2006/relationships/notesSlide" Target="/ppt/notesSlides/notesSlide21.xml" Id="R8b47f0ad35144d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9ef11cb38462d" /><Relationship Type="http://schemas.openxmlformats.org/officeDocument/2006/relationships/notesSlide" Target="/ppt/notesSlides/notesSlide22.xml" Id="Rc747edff1e234b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dee8470c74dd3" /><Relationship Type="http://schemas.openxmlformats.org/officeDocument/2006/relationships/notesSlide" Target="/ppt/notesSlides/notesSlide23.xml" Id="R4a526aec14754f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eefd75f7245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445A1-725C-4287-BEDC-1F5BEF91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1FB69-882D-416D-B5C0-4F5EC75C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762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380E5-F1F5-4E44-92BB-4E12DC8E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10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81F4D-D54D-4636-9ECA-8FD78A5F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1D01B-A381-4DFD-A3D6-93E7AC8B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12A7E-63C1-47AC-AD27-0EC66D87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CNN implementation,</a:t>
            </a:r>
          </a:p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training, and inspection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0401A-3DCF-40F2-B265-3B1BE838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9849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C4F65E-8C86-49BC-8DBC-0C07D822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Today's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019C9-B90D-4C61-ADD8-C5C9C053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276DC-8E7D-49E5-A66C-22185D47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B7229-647F-4752-B380-A2474416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881C6-0B37-410C-9CC8-79385293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trained network is one part of the experimental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71132-C247-4261-8CE4-AC3618F0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AB645-29C2-415F-AE77-65DD266E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MNIST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E22EE-6EDC-4761-BE10-FC5BFB80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source partitions and classroom subset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0D154-FEB3-4543-98D4-EADA7A17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240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74F2B-0DE8-493E-A6AB-AED6C063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4D1B3-8D25-4836-9FE5-65385F9C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Preprocessing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914BB-58A7-45DD-9719-B88AADC2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training statistics reused everywhere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C85DA-39AE-4EBF-9318-7397FDA7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4A254-432F-490B-A659-21C914D8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2E82F-CD71-4F8E-A5EE-D89AD481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9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BF034-C553-49C7-BD8A-BB78A0BD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987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automatic CUDA selection and hardware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A9796-13E5-46E6-88A1-6818E7B4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718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F2B30-6709-46EF-890C-268C8D13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BBE84-863B-4B5E-A6F8-BAFABF0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CB28D-7068-43D8-9ADD-32EF405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tensor shapes and 105,866 parameters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F7AAA-D0CB-47BC-87F9-2B67CA27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BCAEC-CFC9-46A8-A903-5ACDE3B6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A77DD-C23A-4915-9B00-8E9A91DC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7C945-793E-4D5F-BA4D-9752D5A0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persistent Adam and correct update order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901A3-C1F5-4C3B-9631-8D6DFDEA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95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8E437-9E07-4676-A0D4-92ACCE28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C6C6E-712E-42DC-A5EF-B5D8AB7C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194A3-E4ED-41E8-A196-CD211628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validation loss and restored checkpoint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614F95-09EE-45D5-898D-F523E38F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FCCF0-1BE5-4A87-B392-9C04679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10EEA5-CE45-42B1-BDA1-3B46895E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5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566CCC-7014-4EDC-8779-8D2F7D58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0537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digit recall and confusion directions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B29FB-0E8F-4522-9337-FD5A819A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67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6D76B2-EACF-4382-AC03-B019E4A5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DDFA2D-4A1B-4480-9F50-E24B3235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Inspection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CFA272-0D0B-4ED6-B58D-FE6AC30C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292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errors, gradients, activations, translation</a:t>
            </a:r>
          </a:p>
        </p:txBody>
      </p:sp>
    </p:spTree>
    <p:extLst>
      <p:ext uri="{BB962C8B-B14F-4D97-AF65-F5344CB8AC3E}">
        <p14:creationId xmlns:p14="http://schemas.microsoft.com/office/powerpoint/2010/main" val="875146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5AB14-F8B1-4016-A8D2-8ED6FC8C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9 computation inside PyTorch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F2E38-DE30-4D5D-8DA3-9876B0B3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2ABBF-EE9B-479A-858B-A406FEDB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8BDF7-4A03-415F-9219-F3584208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F421C-67F0-45C0-BEE2-0357CE34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BE921-E211-47C4-BDE8-003E737F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8DD02-631E-4B06-A443-34DE8E83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1F768-B505-42CE-B732-934A1A94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289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C9D6D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9D6D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6D713-1B18-463F-87F4-1EAE1C22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CAA09-4820-4274-8B7A-C6A3640E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3008A-C88B-4B0B-87B3-9331C744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04669-8A23-4DD7-8992-F8161E25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289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C9D6D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9D6D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0E4E3-BF25-4944-B034-A5DA2D96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E3A00-EEEB-4A4A-A66E-438B380D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8F50E-D33A-4493-8B60-32817C0D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pooling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79D53-253A-4DA6-BB65-E0C87592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2890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C9D6D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9D6D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D0029-1E6A-451D-8F7C-8BDEDF59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SCORES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D1D4D-506D-4703-AFDB-81B7FA4C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5A45D-B036-402B-A510-77EE799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47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 logits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E5E72-4616-455F-8B44-E2D009A9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23F2E-F1CD-4AB2-B540-81FB8BC3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98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PyTorch adds parameters, gradients, device transfer, and checkpoint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0C8C4-CF04-4C3A-8007-E560F04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1970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The researcher remains responsible for the split and claim.</a:t>
            </a:r>
          </a:p>
        </p:txBody>
      </p:sp>
    </p:spTree>
    <p:extLst>
      <p:ext uri="{BB962C8B-B14F-4D97-AF65-F5344CB8AC3E}">
        <p14:creationId xmlns:p14="http://schemas.microsoft.com/office/powerpoint/2010/main" val="67103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0EAA0-E3B2-44E6-834B-35903A2C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MNIST and the classroom subset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703B5-FD99-432B-BB36-6749941F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86856-EB40-4F4C-B9DA-0BAEF4FB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FA9C6-57DB-4F95-91CA-9171BFD1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524000" y="1333500"/>
          <a:ext xmlns:a="http://schemas.openxmlformats.org/drawingml/2006/main" cx="9144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5143500"/>
              </a:tblGrid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 10 value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one-channel 28 × 28 digit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classes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digits 0 through 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TorchVision partitions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60,000 train / 10,000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classroom train / validation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20,000 / 5,000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locked official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majority test baseline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0.113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922C7-5BAB-44FC-A1EF-8C354646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000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Training and validation contain equal counts per digit.</a:t>
            </a:r>
          </a:p>
        </p:txBody>
      </p:sp>
    </p:spTree>
    <p:extLst>
      <p:ext uri="{BB962C8B-B14F-4D97-AF65-F5344CB8AC3E}">
        <p14:creationId xmlns:p14="http://schemas.microsoft.com/office/powerpoint/2010/main" val="1234159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0AFD1-D4AA-411B-BEDC-9C52556A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 before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0BA59-BF16-4413-84DD-C76DA7B7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D79FD-86A1-40FB-96A9-6574B3EA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C7EDA-1210-4A9F-9EBC-A41D6CE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0EBE8-7612-4C4C-B370-6BE72210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OFFICIAL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97BA4-7179-45B8-9BB9-D4EB0AEC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952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3F8F4-061F-444C-AAC6-0DAE335D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574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60,000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6E6E3-2D66-4006-BA04-25677653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C9D6D4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C9D6D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77E12-1775-4F18-8CC3-C0E26352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71625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74CF5-D7D6-4AE6-8302-17EAA49D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20,000 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60E34-B9D8-4AED-BC2B-82959B64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19375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F32B0-BF73-40BF-A7A1-A603A9CC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5,000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BB231-4390-40DD-97FA-09A5E32B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OFFICIAL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A40A3-5CFF-4531-8143-978E3CD5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0FC46-A12D-4BFD-97B5-879662EE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10,000 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F4264-61AC-4DB2-89DF-EE9AB4DF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29125"/>
            <a:ext cx="8286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A8D91-46BF-4273-A490-5A45B806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X̃ = (X − μtrain) / σtrain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4DD16-A9BD-4C23-AA01-C67D28E2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μ = 0.1318     σ = 0.3092</a:t>
            </a:r>
          </a:p>
        </p:txBody>
      </p:sp>
    </p:spTree>
    <p:extLst>
      <p:ext uri="{BB962C8B-B14F-4D97-AF65-F5344CB8AC3E}">
        <p14:creationId xmlns:p14="http://schemas.microsoft.com/office/powerpoint/2010/main" val="344811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472FD-28D7-4AF0-B236-06E83F20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Automatic CUDA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F229-4F5F-41AE-9A5A-4C04A80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73366-8F8A-428E-B2C9-9052E73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B4155-FE7C-498A-957C-645CB6FD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E3F72-6631-4AC8-8D69-BA64D090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4C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4C7A5"/>
                </a:solidFill>
                <a:latin typeface="Arial"/>
                <a:ea typeface="Arial"/>
                <a:cs typeface="Arial"/>
              </a:rPr>
              <a:t>CUDA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6BCA9-022C-4B30-9AD3-5859A6D0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429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C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F7ABC-2E2B-4F91-A754-14CDC161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8B3F4-68C6-4413-9AA6-382901E0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NVIDIA GPU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7C3F8-391B-436A-9DD5-C6132A91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MPS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260F7-E2A1-4994-8B7D-0EF31D22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3429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303EC-6FC4-4A32-8706-F8265EF5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otherwise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EE35A-D4D6-49C9-8D23-9834F944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Apple GPU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12945-D5C8-4BB4-BFE7-D38DCDCA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FC710-6DE3-46FD-A390-F0939F82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3429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A47F5-FA29-4485-8FB7-61426A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otherwise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AA5F6-CDA0-4286-A452-BB1D21D2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portable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4A3D3-6A44-49BC-B508-E9F52A28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19625"/>
            <a:ext cx="923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90B1A-A767-4289-BB8B-03B4A041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291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Checked device: NVIDIA GeForce RTX 3060 Laptop GPU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96D0D-4B9A-4526-8922-79844FDB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Model, images, and labels must share the selected device.</a:t>
            </a:r>
          </a:p>
        </p:txBody>
      </p:sp>
    </p:spTree>
    <p:extLst>
      <p:ext uri="{BB962C8B-B14F-4D97-AF65-F5344CB8AC3E}">
        <p14:creationId xmlns:p14="http://schemas.microsoft.com/office/powerpoint/2010/main" val="157164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080F9-83B7-403F-A585-6A3EBB13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Compact MNIST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885BE-42B7-4806-987D-D18D3A95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55984-AE90-4987-9C8A-628B8AC9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FC1E8-AA24-46A7-A760-410BC2A7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B6568-284A-441F-9C03-B4A01FC5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3524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214AF-EDEF-48E9-B48D-533D6468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71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 × 1 × 28 × 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7AFF2-4B5D-4488-84B8-94E17C8D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716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2A3DA-84D3-4B80-AC60-768D6FAE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76425"/>
            <a:ext cx="3524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1AE12-EB86-46C5-A786-351D9A75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621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 × 16 × 28 × 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62CC2-AB39-4B43-A8E3-048C3EEA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621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convolution and ReLU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F7A6A-994B-45B5-8CBD-48E5FEB0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66975"/>
            <a:ext cx="3524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40303-E829-4212-8AC1-2C090F83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52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 × 16 × 14 × 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25E43-7439-4242-A7AB-9324D348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527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max pooling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26AFD-4091-4605-A832-CA59F3DA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3524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3D589-A8C7-4520-81E7-41DC8A91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43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 × 32 × 14 × 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2F8CC-808D-4AD3-BA2C-625D43B7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convolution and ReLU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3EBB7-4280-4ABD-A7FA-7017D147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3524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4DF2C-385F-4EEA-80B2-1851E886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 × 32 × 7 × 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BCB00-F119-4DCF-A61A-E19AE3D3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338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max pooling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C8600-039B-4AAE-995C-5240FD28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3524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DBDB7-C3DC-4FB2-9F6E-327B3B9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24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 × 1,568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9A2F2-02FB-4A9A-86E9-B17CBC75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flatten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B2CFD-4C2C-46C0-809C-9ADDDB1D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29175"/>
            <a:ext cx="3524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E1AEE-6663-4492-A9A1-1F7C8544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149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 × 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A3935-AEC6-4EE2-97E4-14A3C915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149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hidden ReLU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A3846F-BFD9-4D68-9859-5B8BB379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9725"/>
            <a:ext cx="3524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237C0-7997-46B6-A633-9A639E27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05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 × 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259629-D659-4985-9240-755B7CD7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054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class logits</a:t>
            </a:r>
          </a:p>
        </p:txBody>
      </p:sp>
    </p:spTree>
    <p:extLst>
      <p:ext uri="{BB962C8B-B14F-4D97-AF65-F5344CB8AC3E}">
        <p14:creationId xmlns:p14="http://schemas.microsoft.com/office/powerpoint/2010/main" val="17633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5AC14-B360-4659-8652-F971A626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Explicit tensor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3C8A5-953A-47ED-AB86-D5D1772D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04B34-9143-487B-B0D0-48D4F3E6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BAD87-07C4-47F7-913E-345522F2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2000250" y="1238250"/>
          <a:ext xmlns:a="http://schemas.openxmlformats.org/drawingml/2006/main" cx="81915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4095750"/>
              </a:tblGrid>
              <a:tr h="529167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Shape for batch 4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(4, 1, 28, 28)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conv1 / ReLU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(4, 16, 28, 28)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max pool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(4, 16, 14, 14)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conv2 / ReLU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(4, 32, 14, 14)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max pool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(4, 32, 7, 7)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flatten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(4, 1,568)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hidden / ReLU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(4, 64)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logits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(4, 10)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D01AB-FB35-447D-9D21-CB75D965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11505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Shape tracing catches channel and classifier errors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421792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B1E53-2F59-4AC9-AE0E-E8E9AAB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Registered parameters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EE2B6-2570-44E0-AB4B-C020FAB2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8B36D-2BD0-40F7-B9CB-3AA766C5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0BFC1-D602-4990-B0F7-CC691461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238250" y="1524000"/>
          <a:ext xmlns:a="http://schemas.openxmlformats.org/drawingml/2006/main" cx="9715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095750"/>
                <a:gridCol w="2476500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conv1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16(1 × 3 × 3 + 1)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conv2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32(16 × 3 × 3 + 1)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4,640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hidden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1,568 × 64 + 64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100,416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classifier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64 × 10 + 10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650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105,866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D89F9-07A5-45C9-9568-3DF28D13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CB949-91A3-49F4-81B2-770D5E2B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054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hidden affine layer owns most parameters.</a:t>
            </a:r>
          </a:p>
        </p:txBody>
      </p:sp>
    </p:spTree>
    <p:extLst>
      <p:ext uri="{BB962C8B-B14F-4D97-AF65-F5344CB8AC3E}">
        <p14:creationId xmlns:p14="http://schemas.microsoft.com/office/powerpoint/2010/main" val="8447555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00150-5C2C-44AD-A8BA-936E5427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CNN evolution on ImageNet-1K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E6A2B-C49D-40C4-B34A-C27E4861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602ED-7EA4-4987-ADE1-91D24660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5CF31-8A20-481F-8742-973A9C16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143250"/>
                <a:gridCol w="1285875"/>
                <a:gridCol w="1285875"/>
                <a:gridCol w="1476375"/>
                <a:gridCol w="1476375"/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Architectural lesson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Top-1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Top-5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GFLOPs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AlexNet V1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ReLU + dropout + GPU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A7A5"/>
                          </a:solidFill>
                          <a:latin typeface="Arial"/>
                          <a:ea typeface="Arial"/>
                          <a:cs typeface="Arial"/>
                        </a:rPr>
                        <a:t>56.52%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79.07%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61.1M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VGG-16 BN V1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stacked 3 × 3 blocks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A7A5"/>
                          </a:solidFill>
                          <a:latin typeface="Arial"/>
                          <a:ea typeface="Arial"/>
                          <a:cs typeface="Arial"/>
                        </a:rPr>
                        <a:t>73.36%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91.52%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138.4M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15.47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ResNet-50 V2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residual shortcuts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A7A5"/>
                          </a:solidFill>
                          <a:latin typeface="Arial"/>
                          <a:ea typeface="Arial"/>
                          <a:cs typeface="Arial"/>
                        </a:rPr>
                        <a:t>80.86%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95.43%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25.6M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4.09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EfficientNet-B0 V1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compound scaling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A7A5"/>
                          </a:solidFill>
                          <a:latin typeface="Arial"/>
                          <a:ea typeface="Arial"/>
                          <a:cs typeface="Arial"/>
                        </a:rPr>
                        <a:t>77.69%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93.53%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5.3M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0.39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ConvNeXt-Tiny V1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modernized pure CNN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A7A5"/>
                          </a:solidFill>
                          <a:latin typeface="Arial"/>
                          <a:ea typeface="Arial"/>
                          <a:cs typeface="Arial"/>
                        </a:rPr>
                        <a:t>82.52%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96.15%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28.6M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4.46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9EEB0-EEF6-42C7-97FE-CAEEAE70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537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TorchVision 0.21 reference weights · ImageNet-1K · single-crop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93132-0177-4FB5-9E11-5D7E21B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81625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CEC6F-FB97-4FA1-B290-FC5CBF42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530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Read accuracy with parameters, compute, data, and training recipe.</a:t>
            </a:r>
          </a:p>
        </p:txBody>
      </p:sp>
    </p:spTree>
    <p:extLst>
      <p:ext uri="{BB962C8B-B14F-4D97-AF65-F5344CB8AC3E}">
        <p14:creationId xmlns:p14="http://schemas.microsoft.com/office/powerpoint/2010/main" val="388537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F093B-34E1-40A7-9E44-2D6E802A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Cross-entropy receives logits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4862A-4ADB-4675-AE86-07540DA5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3FC49-E95C-4764-BD07-8BBCFE06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7B747-3A95-4B02-BD13-0A270EE5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E247-8EA1-4E70-A80D-3B1ADEF8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429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D8F3F-834F-4238-AA8B-A827897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MODEL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00313-0D02-44EC-8589-EE1D0761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 scores  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4F8FB-19DD-419F-9F53-79C4A3DD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66875"/>
            <a:ext cx="4429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80692-A8B7-4266-B577-0E1DE476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TRAINING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2D9B1-86C2-4B26-895C-8B3AA9D0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cross_entropy(z, y)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7DAC3-CF5B-484C-97E8-FAAB8FD9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pk = exp(zk) / Σj exp(zj)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F2D23-B9EB-4C90-849C-32DBB18B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38750"/>
            <a:ext cx="8286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A09B7-B3DD-4148-8072-EDDA0310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0067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 logits to the loss. Use softmax later for confidence.</a:t>
            </a:r>
          </a:p>
        </p:txBody>
      </p:sp>
    </p:spTree>
    <p:extLst>
      <p:ext uri="{BB962C8B-B14F-4D97-AF65-F5344CB8AC3E}">
        <p14:creationId xmlns:p14="http://schemas.microsoft.com/office/powerpoint/2010/main" val="11958581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89815-A0DF-4ACE-AD95-E43B0800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Mini-batch update with device transfer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4A998-1915-4472-86AF-1BD03083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036C9-5479-4058-8B3D-86B36174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C48AD-EC21-4155-81C3-09A4DFBC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3C541-B18A-45FB-9DEC-6D8B095B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DB507-052B-44C7-B6EA-92348F6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81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EACA8-33BA-4679-9FCE-29E862D0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move images and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28D50-82DC-4CC6-9E48-E6AD035B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21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B1143-C85F-4B58-9117-86EE8632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19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9DA1F-6778-4E05-AE8E-05DBA8D0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35F0C-36F7-4BB4-AEC3-95466A9F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select training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73747-FD9B-45FD-BDD1-77D1AE9E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003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6D8E1-6834-4102-95F3-FD0D03FD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574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E2023-A1EB-4E4D-950B-9678BDDD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574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D791A-3B06-40A6-A835-001EF117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574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remove earlier gradients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EAF06-BC6A-433D-92E7-6B5FDE31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384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7A793-D418-4AE6-A9D4-7093AAA1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5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10142-E7CB-44E4-8FAE-A673E2FF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95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3EDAE-A0B3-40FE-B721-BE3487A1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produce ten logits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575DC-7CF5-4DB8-9F7A-E9D36594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665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A99CD-17E5-4AEE-8958-CBD8B2E6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33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6778F-E418-471D-BAD4-F8CC97A7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338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25CCE-0644-4095-99E3-6BD488E1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338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compare logits with labels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EA6022-49BC-4D23-BD24-BAC31E17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A49C5-3D6D-4AD2-B7C8-9CA11633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78CB16-691D-411F-9A2C-2B29C4A7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BACKWARD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3F183E-4E92-4858-8657-7FDC92B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populate .grad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16D7F-290A-40A5-AAFA-8AFA0BC4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530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7E275C-5B6D-4C89-B814-D2722C13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10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A5831-E09A-4BE1-B07A-F27B5F39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0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279153-58F1-4DEE-AB1B-1DD8149C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01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update parameters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248855-2EC5-4DAC-BC50-A33168F1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911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53585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D96ED-CBD9-4EE6-AAEB-F47C63AD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Persistent Adam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46318-9435-47C9-A063-BB3F3BBA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E4507-862A-4FBE-9352-4CC79407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33034-77E3-4517-8639-2D28BCED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A92B3-5CD2-463A-8806-B26A2FA5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FIRST MOMENT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7317A-EE67-4188-BA0F-BB43521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10382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BDD17-5003-4F8C-A4F5-6110B58F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mt = β1 mt−1 + (1 − β1) gt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3FCF3-12E6-45EC-985A-30F55E8A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SECOND MOMENT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9FDAF-E372-4038-AF45-7E5B98BE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10382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56F44-84F5-4BF6-AD57-19B41AA6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100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vt = β2 vt−1 + (1 − β2) gt²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FD700-9618-4D6C-89A4-B07FB05E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24500"/>
            <a:ext cx="828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CA780-E80B-448C-8EAA-80F21F40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578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Creating Adam inside the batch loop erases its history.</a:t>
            </a:r>
          </a:p>
        </p:txBody>
      </p:sp>
    </p:spTree>
    <p:extLst>
      <p:ext uri="{BB962C8B-B14F-4D97-AF65-F5344CB8AC3E}">
        <p14:creationId xmlns:p14="http://schemas.microsoft.com/office/powerpoint/2010/main" val="11149694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61159-4861-438F-93E8-C30A6C11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Phase and gradient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3023C-CC27-457D-9C81-21DBCD6D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531F7-7C34-49C6-AB47-C9389BCB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CC458-01F9-40DD-A0B1-A613EF5C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190625" y="1714500"/>
          <a:ext xmlns:a="http://schemas.openxmlformats.org/drawingml/2006/main" cx="98107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333750"/>
                <a:gridCol w="3333750"/>
              </a:tblGrid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 behavior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Autograd graph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model.train()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stored when enabled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model.eval()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inference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stored when enabled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torch.no_grad()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unchanged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not stored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BA4EC-96BB-4727-93EE-F848E659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38750"/>
            <a:ext cx="7715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A383C-B0A7-447E-BE3D-B1E2D2A9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97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Evaluation uses eval() together with no_grad().</a:t>
            </a:r>
          </a:p>
        </p:txBody>
      </p:sp>
    </p:spTree>
    <p:extLst>
      <p:ext uri="{BB962C8B-B14F-4D97-AF65-F5344CB8AC3E}">
        <p14:creationId xmlns:p14="http://schemas.microsoft.com/office/powerpoint/2010/main" val="16931013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8C8C0F-FCF0-4490-A0D8-A06A212C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Deterministic GPU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27EFA-A203-4091-B9A4-FEF7E902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D66E1-6BB5-43CB-8999-EDF202EC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037C2-4CB4-4A63-9B1B-011A881C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D5C2C-D770-493C-8F0B-7B8FEB29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DF73C-30E5-41CB-BA85-468A7489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76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656BE-AE8C-457E-A715-EEECE5E3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7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5D7DF"/>
                </a:solidFill>
                <a:latin typeface="Arial"/>
                <a:ea typeface="Arial"/>
                <a:cs typeface="Arial"/>
              </a:rPr>
              <a:t>Python, PyTorch, TorchVision, CUDA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6A904-43F6-4990-BA3C-821E87FE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73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B8206-3760-424B-8128-66FAB94A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67027-5428-420A-919E-2BEA16C1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002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87911-7815-48AE-9B04-1D72FE55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02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7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5D7DF"/>
                </a:solidFill>
                <a:latin typeface="Arial"/>
                <a:ea typeface="Arial"/>
                <a:cs typeface="Arial"/>
              </a:rPr>
              <a:t>selected device and GPU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5B92B-D28F-484E-A3BF-5BCD0F9A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812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0C6CA-EA98-439F-81BB-756A0411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24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75361-3C75-4A57-9846-60F84141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24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5AD61-9EC8-41B7-AFF0-4C58701F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7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5D7DF"/>
                </a:solidFill>
                <a:latin typeface="Arial"/>
                <a:ea typeface="Arial"/>
                <a:cs typeface="Arial"/>
              </a:rPr>
              <a:t>seed and subset indices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A1F42-B747-4FCE-B7FA-DF323CD3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051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5554A-D202-4E6A-BF9D-B08D24B7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48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28C29-0893-40E2-8005-E5CFD8C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48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CUBLAS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D70D6-76EE-42A0-AD59-6D01F7B0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480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7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5D7DF"/>
                </a:solidFill>
                <a:latin typeface="Arial"/>
                <a:ea typeface="Arial"/>
                <a:cs typeface="Arial"/>
              </a:rPr>
              <a:t>workspace 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D7927-CFDB-43FD-9FB4-AE7956CC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290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CFA65-1295-474F-B0C8-1CAC0D39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71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76188-87AF-4F15-8FBE-ED0F5A12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719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ALGORITHMS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15FFE-23E8-4A54-9083-6DDE01A1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7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5D7DF"/>
                </a:solidFill>
                <a:latin typeface="Arial"/>
                <a:ea typeface="Arial"/>
                <a:cs typeface="Arial"/>
              </a:rPr>
              <a:t>deterministic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AA926-FD3C-4E17-9EA7-663838F1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529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BD76B-312C-44CB-88E2-353CBB7B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7B213A-3F9E-4CFD-8AC7-16DF4B7A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EC6DE4-A1AA-4588-8ABD-4D6B388A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5D7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5D7DF"/>
                </a:solidFill>
                <a:latin typeface="Arial"/>
                <a:ea typeface="Arial"/>
                <a:cs typeface="Arial"/>
              </a:rPr>
              <a:t>training 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AF755-9319-4A5C-9797-0D14B3FA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9B9BF-612C-474F-AF2F-0B5DB3E0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CC3B9-3340-4146-858C-D7B49163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769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Reproducibility settings may reduce peak speed.</a:t>
            </a:r>
          </a:p>
        </p:txBody>
      </p:sp>
    </p:spTree>
    <p:extLst>
      <p:ext uri="{BB962C8B-B14F-4D97-AF65-F5344CB8AC3E}">
        <p14:creationId xmlns:p14="http://schemas.microsoft.com/office/powerpoint/2010/main" val="16797321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37087-13CD-4B0E-8A43-EBDDBB6D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Validation checkpoint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B3265-4DC4-48A7-B8DE-8C7ADAD4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8D1D7-F0B3-4EC3-9347-A13A0B78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EED32-E397-4D6A-8650-52347C0B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2000250" y="1381125"/>
          <a:ext xmlns:a="http://schemas.openxmlformats.org/drawingml/2006/main" cx="81915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3048000"/>
              </a:tblGrid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Checked value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initial validation loss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2.3064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initial validation accuracy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0.053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best / stopped epoch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5 / 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restored validation loss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0.0802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restored validation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0.976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GPU training time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2.61 seconds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56245-2362-45FA-84CA-91DEADF5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B76A3-F1A6-4F9B-BF05-15CBB492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62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Validation selected the checkpoint; test stayed locked.</a:t>
            </a:r>
          </a:p>
        </p:txBody>
      </p:sp>
    </p:spTree>
    <p:extLst>
      <p:ext uri="{BB962C8B-B14F-4D97-AF65-F5344CB8AC3E}">
        <p14:creationId xmlns:p14="http://schemas.microsoft.com/office/powerpoint/2010/main" val="19487035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4F458-EC5E-4C99-89C5-C4DB25D4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Locked test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B4240-19EA-4555-A36B-6EFA173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63838-6B8B-4CCE-BA5F-4EA3C927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B4F8C-3E7D-4CA9-81EA-B71F2201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2000250" y="1381125"/>
          <a:ext xmlns:a="http://schemas.openxmlformats.org/drawingml/2006/main" cx="81915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3048000"/>
              </a:tblGrid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majority baseline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0.113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CNN test loss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0.0682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CNN test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0.977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correct predictions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9,774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errors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per-digit recall range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0.954 to 0.995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38028-F41B-467C-AE09-6CF88591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AF6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96753-83D7-4CA8-9070-E112A80C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62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Digit 7 had the lowest recall at 0.954.</a:t>
            </a:r>
          </a:p>
        </p:txBody>
      </p:sp>
    </p:spTree>
    <p:extLst>
      <p:ext uri="{BB962C8B-B14F-4D97-AF65-F5344CB8AC3E}">
        <p14:creationId xmlns:p14="http://schemas.microsoft.com/office/powerpoint/2010/main" val="10372824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B1418-0BCE-4054-B912-FF660BBA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Frequent confusion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931AA-4A4A-444C-B0A8-ACE016B6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40DB8-EF10-47CA-8336-389CEA58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915C5-604D-4651-95FD-84EE21E4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2381250" y="1571625"/>
          <a:ext xmlns:a="http://schemas.openxmlformats.org/drawingml/2006/main" cx="74295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1714500"/>
              </a:tblGrid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digit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digit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8B05B-3BB7-4323-83E6-AA93969D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4DA14-8F3D-4136-8BE5-D7FDACAB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0547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Counts locate examples for review. They do not identify the cause.</a:t>
            </a:r>
          </a:p>
        </p:txBody>
      </p:sp>
    </p:spTree>
    <p:extLst>
      <p:ext uri="{BB962C8B-B14F-4D97-AF65-F5344CB8AC3E}">
        <p14:creationId xmlns:p14="http://schemas.microsoft.com/office/powerpoint/2010/main" val="16126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CE98C-EE2B-45E6-9620-7516622F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Structured error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F645E-2833-4601-8862-34E400D0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019F5-F0C2-4D45-9CA9-35AA1417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69045-FB70-4A4E-8010-ACF9BE60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993F5-FD61-4DB2-B180-D7A4517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476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B0839-7BFC-4F0E-B279-B9596002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CHECKED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2C87E-6F79-4FE8-9BCC-1EC19600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 247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B3E22-816C-43A6-8555-E198DC60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true 4     predicted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0B2AE-1B86-4D34-897B-0CF13A2A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7B91F-5D8F-4635-BCB2-AA73E12F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confidence  0.524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03AED-D5E1-4EFF-85A5-175320CD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KEEP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D78B8-0E32-49C4-8321-505370E3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748B6-8DD4-47AD-ABF1-D60E50A7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stable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8BEF1-293E-41C4-98A0-AA037251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BB231-AA65-4F42-B40A-371181E1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384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truth and prediction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B3CFC-2D1E-4DBC-972D-38A8B3B3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2136F-D536-4436-BBC8-BBCAA2E0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813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498A2-8FCD-4E16-B858-E984C0D1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242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8C138-EBBD-4CD6-95C4-4CC2F1CF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242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allowed digit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AA717-52DB-474F-8BDD-5C1AD03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98893-59FC-4046-B6A1-FC399B35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67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stroke pattern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58550-EAE8-42FB-B84A-F6FC95C0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A19DC-875E-4F3C-8892-ACE4C29C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10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hypothesized category</a:t>
            </a:r>
          </a:p>
        </p:txBody>
      </p:sp>
    </p:spTree>
    <p:extLst>
      <p:ext uri="{BB962C8B-B14F-4D97-AF65-F5344CB8AC3E}">
        <p14:creationId xmlns:p14="http://schemas.microsoft.com/office/powerpoint/2010/main" val="2899590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8E4D1-9BDA-44A3-AA96-57426547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Gradient and activation inspection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000E2-4F92-4E9C-B2A6-33DB52B6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133E7-6C68-401C-B368-51431300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20B85-52B9-4FE9-9D5C-E44DA108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38250" y="1524000"/>
          <a:ext xmlns:a="http://schemas.openxmlformats.org/drawingml/2006/main" cx="59055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190750"/>
              </a:tblGrid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 group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Gradient norm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first convolution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0.0575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second convolution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0.1733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hidden layer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0.5231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classifier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0.6839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EDA3E-9851-4FEE-8FC4-DD8DCB55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E684A-46E2-4D83-A71E-A1264B3B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57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ACTIVATION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1A5C7-BB28-41DD-AED4-F8E0FED6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channel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D0F53-435D-47D4-BC65-BFF30CF2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0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mean |A| = 1.3437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8EEE4-5F1B-42AC-BACD-8868F0B2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45BF3-2BF3-416C-86F4-FC22CE5F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435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31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These checks describe one batch or image. They do not explain causally.</a:t>
            </a:r>
          </a:p>
        </p:txBody>
      </p:sp>
    </p:spTree>
    <p:extLst>
      <p:ext uri="{BB962C8B-B14F-4D97-AF65-F5344CB8AC3E}">
        <p14:creationId xmlns:p14="http://schemas.microsoft.com/office/powerpoint/2010/main" val="7167688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0AB34-A0FE-4C00-93D8-DD90990B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Two-pixel translation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6744A-9A17-40B5-9571-5804B4E2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C5676-B654-4304-BA8E-FD1A6A77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D71D9-8062-4D27-8C6E-E596537B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104775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095500"/>
                <a:gridCol w="5143500"/>
              </a:tblGrid>
              <a:tr h="8413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413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prediction consistency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0.944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Did the predicted digit change?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13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shifted accuracy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0.937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Was the shifted prediction correct?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28418-977B-4A29-83F1-630BA23D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12704-AA05-490B-B2CC-6753EAC7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Scope: right shift, two pixels, zero fill, one MNIST test partition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2292C-D75F-4F8E-8480-42E5784D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Consistency and correctness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562287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601D64-77D0-47C5-8A43-099A1108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Results and error analysis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F12CE-A43F-490B-BBFF-8B5CC98D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AC6A3-9159-46BA-A3F1-783593E4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65202-8DA1-48A6-81DC-5B4465B3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6EC07-F38A-4326-84EE-594965B2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A31D0-81A0-4D80-9205-397B2E67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81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BCF1D-94F0-496B-A6F5-BA6388EE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MNIST subset, model, seed,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CDD6A-FC07-4DF6-8087-97EF1E68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21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191F5-7002-45D1-8ABF-8088D33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28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42E6B-A134-4EB7-B2F4-6A73E666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288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76165-7F5B-472F-8A77-D92F7A73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288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criterion, best epoch, restored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36209-7C8D-4DEF-B60B-8DE52B41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098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6341B-E723-446C-BE7F-32E5E45E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765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5512C-EE89-4B40-BFBB-87AAA4D9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Locked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3C3F9-F7DD-4A5B-9ECD-E64DECDD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765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baseline, accuracy, digit 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7E9C5-17F1-4E06-A3B7-F4FC2D26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575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D3FF7-8E1F-478B-B25E-B68D652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242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23AB6-63FB-4D18-BB46-8146DA73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Errors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73F22-8BDE-4314-A062-6578871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context, directions, category counts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1AD6C-70A2-4008-AD33-5A7F8714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052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7728F-B54D-4765-97D4-CB6DD81C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719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442C6-B02B-4DF6-979A-AF10FAE4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719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Controlled 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3A516-A797-4F84-B723-6E5CA39E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719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one robustness or ablation factor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10C07-9DE3-413E-8C8F-7D51362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529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B1F9E-4488-485E-90B9-60DFAD6A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4ED85-88B6-433C-98EB-F848FAB9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19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59B9F-BE28-4075-BCEA-9A525D27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observation, interpretation, limitation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16A84-E10F-45D2-BA48-60129EF2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B87F5-000C-4B69-A277-075D5F91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673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21560-6B20-4965-A38C-242010BE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673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Next experiment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E0B28-FA35-4B0E-BED4-91A22627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673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hypothesis and rejection condition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375EF5-7479-40EB-96C9-59D432A4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48325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63411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86966-1FF1-4FFD-A598-16F83640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ticket and Week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C1ABA-C4D4-4727-AC3C-C479B5B0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A05F3-3539-4267-8574-378C04B4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443BC-6150-494B-A6BA-B5B06500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093F3-0EB0-46D2-8342-076D79AA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THREE EXPLANATIONS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9AE01-0458-4874-8FA3-B7811D21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C8822-3114-47D6-A3F8-50C66602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526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validation come from official training data?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5E88E-3881-479C-8C10-817D258E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812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C5072-B0E4-48C7-BC15-E2A5C19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7A76C-850C-4D67-AB4D-34554DB3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an NVIDIA GPU need a CUDA-enabled PyTorch build?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4014C-BA99-45DC-9FA1-FEA829E7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814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535ED-A4D5-451B-9624-9D48E809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4BD96-9897-475E-8E25-78617E0D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528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do 0.944 consistency and 0.937 accuracy answer separately?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5F6B4-E103-4565-9BD9-2A3B76B6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8152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FAA92-3ED1-481E-BEAF-8B0E8F57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828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6F48D-F7B3-4B38-848F-45C4EC40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673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Week 11: ordered dependencies and learned state</a:t>
            </a:r>
          </a:p>
        </p:txBody>
      </p:sp>
    </p:spTree>
    <p:extLst>
      <p:ext uri="{BB962C8B-B14F-4D97-AF65-F5344CB8AC3E}">
        <p14:creationId xmlns:p14="http://schemas.microsoft.com/office/powerpoint/2010/main" val="138553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2026-09-09T00:39:33.6750000Z</dcterms:created>
  <dcterms:modified xsi:type="dcterms:W3CDTF">2026-09-09T00:39:33.6750000Z</dcterms:modified>
</coreProperties>
</file>