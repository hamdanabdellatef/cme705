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3e6bc045c74ea3" /><Relationship Type="http://schemas.openxmlformats.org/officeDocument/2006/relationships/extended-properties" Target="/docProps/app.xml" Id="R7ab595d452b44baf" /><Relationship Type="http://schemas.openxmlformats.org/officeDocument/2006/relationships/officeDocument" Target="/ppt/presentation.xml" Id="R720c390499074b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7aaf09470f4eef"/>
  </p:sldMasterIdLst>
  <p:notesMasterIdLst>
    <p:notesMasterId xmlns:r="http://schemas.openxmlformats.org/officeDocument/2006/relationships" r:id="Ra5ab6065e5584a61"/>
  </p:notesMasterIdLst>
  <p:sldIdLst>
    <p:sldId xmlns:r="http://schemas.openxmlformats.org/officeDocument/2006/relationships" id="256" r:id="Re63bb1e40e83455c"/>
    <p:sldId xmlns:r="http://schemas.openxmlformats.org/officeDocument/2006/relationships" id="257" r:id="R69833eae8e834ed6"/>
    <p:sldId xmlns:r="http://schemas.openxmlformats.org/officeDocument/2006/relationships" id="258" r:id="R6fc12e370bc24ffd"/>
    <p:sldId xmlns:r="http://schemas.openxmlformats.org/officeDocument/2006/relationships" id="259" r:id="R0ecce331196c4155"/>
    <p:sldId xmlns:r="http://schemas.openxmlformats.org/officeDocument/2006/relationships" id="260" r:id="R22dd9c235e654f92"/>
    <p:sldId xmlns:r="http://schemas.openxmlformats.org/officeDocument/2006/relationships" id="261" r:id="R229fcde08f724a36"/>
    <p:sldId xmlns:r="http://schemas.openxmlformats.org/officeDocument/2006/relationships" id="262" r:id="R4bb6208d479b478b"/>
    <p:sldId xmlns:r="http://schemas.openxmlformats.org/officeDocument/2006/relationships" id="263" r:id="Rf51a313226a74f92"/>
    <p:sldId xmlns:r="http://schemas.openxmlformats.org/officeDocument/2006/relationships" id="264" r:id="Ra07bcc8bf3e44a93"/>
    <p:sldId xmlns:r="http://schemas.openxmlformats.org/officeDocument/2006/relationships" id="265" r:id="R7073178ab766415e"/>
    <p:sldId xmlns:r="http://schemas.openxmlformats.org/officeDocument/2006/relationships" id="266" r:id="R8711cd6e36d34d31"/>
    <p:sldId xmlns:r="http://schemas.openxmlformats.org/officeDocument/2006/relationships" id="267" r:id="Rc0557ccc7258403f"/>
    <p:sldId xmlns:r="http://schemas.openxmlformats.org/officeDocument/2006/relationships" id="268" r:id="R2aa93e32a2924ce4"/>
    <p:sldId xmlns:r="http://schemas.openxmlformats.org/officeDocument/2006/relationships" id="269" r:id="R9589aafd22e14b8a"/>
    <p:sldId xmlns:r="http://schemas.openxmlformats.org/officeDocument/2006/relationships" id="270" r:id="R6533c444a6f24371"/>
    <p:sldId xmlns:r="http://schemas.openxmlformats.org/officeDocument/2006/relationships" id="271" r:id="Rf0ab581249304f74"/>
    <p:sldId xmlns:r="http://schemas.openxmlformats.org/officeDocument/2006/relationships" id="272" r:id="R55f2b03fc5ad4317"/>
    <p:sldId xmlns:r="http://schemas.openxmlformats.org/officeDocument/2006/relationships" id="273" r:id="R0fca90e3042341a2"/>
    <p:sldId xmlns:r="http://schemas.openxmlformats.org/officeDocument/2006/relationships" id="274" r:id="Rce961bab85664223"/>
    <p:sldId xmlns:r="http://schemas.openxmlformats.org/officeDocument/2006/relationships" id="275" r:id="R4c3edcee0d644ddd"/>
    <p:sldId xmlns:r="http://schemas.openxmlformats.org/officeDocument/2006/relationships" id="276" r:id="R6f0a3a6d42fa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cef110b4a46c0" /><Relationship Type="http://schemas.openxmlformats.org/officeDocument/2006/relationships/slideMaster" Target="/ppt/slideMasters/slideMaster1.xml" Id="Rd57aaf09470f4eef" /><Relationship Type="http://schemas.openxmlformats.org/officeDocument/2006/relationships/notesMaster" Target="/ppt/notesMasters/notesMaster1.xml" Id="Ra5ab6065e5584a61" /><Relationship Type="http://schemas.openxmlformats.org/officeDocument/2006/relationships/presProps" Target="/ppt/presProps.xml" Id="R3797d5fb68574912" /><Relationship Type="http://schemas.openxmlformats.org/officeDocument/2006/relationships/tableStyles" Target="/ppt/tableStyles.xml" Id="R06654f466a074a3f" /><Relationship Type="http://schemas.openxmlformats.org/officeDocument/2006/relationships/slide" Target="/ppt/slides/slide1.xml" Id="Re63bb1e40e83455c" /><Relationship Type="http://schemas.openxmlformats.org/officeDocument/2006/relationships/slide" Target="/ppt/slides/slide2.xml" Id="R69833eae8e834ed6" /><Relationship Type="http://schemas.openxmlformats.org/officeDocument/2006/relationships/slide" Target="/ppt/slides/slide3.xml" Id="R6fc12e370bc24ffd" /><Relationship Type="http://schemas.openxmlformats.org/officeDocument/2006/relationships/slide" Target="/ppt/slides/slide4.xml" Id="R0ecce331196c4155" /><Relationship Type="http://schemas.openxmlformats.org/officeDocument/2006/relationships/slide" Target="/ppt/slides/slide5.xml" Id="R22dd9c235e654f92" /><Relationship Type="http://schemas.openxmlformats.org/officeDocument/2006/relationships/slide" Target="/ppt/slides/slide6.xml" Id="R229fcde08f724a36" /><Relationship Type="http://schemas.openxmlformats.org/officeDocument/2006/relationships/slide" Target="/ppt/slides/slide7.xml" Id="R4bb6208d479b478b" /><Relationship Type="http://schemas.openxmlformats.org/officeDocument/2006/relationships/slide" Target="/ppt/slides/slide8.xml" Id="Rf51a313226a74f92" /><Relationship Type="http://schemas.openxmlformats.org/officeDocument/2006/relationships/slide" Target="/ppt/slides/slide9.xml" Id="Ra07bcc8bf3e44a93" /><Relationship Type="http://schemas.openxmlformats.org/officeDocument/2006/relationships/slide" Target="/ppt/slides/slide10.xml" Id="R7073178ab766415e" /><Relationship Type="http://schemas.openxmlformats.org/officeDocument/2006/relationships/slide" Target="/ppt/slides/slide11.xml" Id="R8711cd6e36d34d31" /><Relationship Type="http://schemas.openxmlformats.org/officeDocument/2006/relationships/slide" Target="/ppt/slides/slide12.xml" Id="Rc0557ccc7258403f" /><Relationship Type="http://schemas.openxmlformats.org/officeDocument/2006/relationships/slide" Target="/ppt/slides/slide13.xml" Id="R2aa93e32a2924ce4" /><Relationship Type="http://schemas.openxmlformats.org/officeDocument/2006/relationships/slide" Target="/ppt/slides/slide14.xml" Id="R9589aafd22e14b8a" /><Relationship Type="http://schemas.openxmlformats.org/officeDocument/2006/relationships/slide" Target="/ppt/slides/slide15.xml" Id="R6533c444a6f24371" /><Relationship Type="http://schemas.openxmlformats.org/officeDocument/2006/relationships/slide" Target="/ppt/slides/slide16.xml" Id="Rf0ab581249304f74" /><Relationship Type="http://schemas.openxmlformats.org/officeDocument/2006/relationships/slide" Target="/ppt/slides/slide17.xml" Id="R55f2b03fc5ad4317" /><Relationship Type="http://schemas.openxmlformats.org/officeDocument/2006/relationships/slide" Target="/ppt/slides/slide18.xml" Id="R0fca90e3042341a2" /><Relationship Type="http://schemas.openxmlformats.org/officeDocument/2006/relationships/slide" Target="/ppt/slides/slide19.xml" Id="Rce961bab85664223" /><Relationship Type="http://schemas.openxmlformats.org/officeDocument/2006/relationships/slide" Target="/ppt/slides/slide20.xml" Id="R4c3edcee0d644ddd" /><Relationship Type="http://schemas.openxmlformats.org/officeDocument/2006/relationships/slide" Target="/ppt/slides/slide21.xml" Id="R6f0a3a6d42fa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3d3c74d8d4b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33cc5892de4cfe" /><Relationship Type="http://schemas.openxmlformats.org/officeDocument/2006/relationships/notesMaster" Target="/ppt/notesMasters/notesMaster1.xml" Id="R14f2eb861d604e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958c13ac4b427c" /><Relationship Type="http://schemas.openxmlformats.org/officeDocument/2006/relationships/notesMaster" Target="/ppt/notesMasters/notesMaster1.xml" Id="R10d8706a96394c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1261d2e105483e" /><Relationship Type="http://schemas.openxmlformats.org/officeDocument/2006/relationships/notesMaster" Target="/ppt/notesMasters/notesMaster1.xml" Id="Rebe0c32debd6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4a2510d55c49fa" /><Relationship Type="http://schemas.openxmlformats.org/officeDocument/2006/relationships/notesMaster" Target="/ppt/notesMasters/notesMaster1.xml" Id="R800c7f2f603d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63b3c04ed48df" /><Relationship Type="http://schemas.openxmlformats.org/officeDocument/2006/relationships/notesMaster" Target="/ppt/notesMasters/notesMaster1.xml" Id="Rfbe1daffeaec4a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2966042f954439" /><Relationship Type="http://schemas.openxmlformats.org/officeDocument/2006/relationships/notesMaster" Target="/ppt/notesMasters/notesMaster1.xml" Id="Rec05467efec647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e080b302e443a1" /><Relationship Type="http://schemas.openxmlformats.org/officeDocument/2006/relationships/notesMaster" Target="/ppt/notesMasters/notesMaster1.xml" Id="Rcd2259cb5933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e3e13aae234539" /><Relationship Type="http://schemas.openxmlformats.org/officeDocument/2006/relationships/notesMaster" Target="/ppt/notesMasters/notesMaster1.xml" Id="Rdf8a377c304546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bfbe8b31e64bb9" /><Relationship Type="http://schemas.openxmlformats.org/officeDocument/2006/relationships/notesMaster" Target="/ppt/notesMasters/notesMaster1.xml" Id="R888510142b5b47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571773d3334c81" /><Relationship Type="http://schemas.openxmlformats.org/officeDocument/2006/relationships/notesMaster" Target="/ppt/notesMasters/notesMaster1.xml" Id="Re5b462f582134e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da37032da14b9f" /><Relationship Type="http://schemas.openxmlformats.org/officeDocument/2006/relationships/notesMaster" Target="/ppt/notesMasters/notesMaster1.xml" Id="R75c53108468d4b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63c4a95c244c14" /><Relationship Type="http://schemas.openxmlformats.org/officeDocument/2006/relationships/notesMaster" Target="/ppt/notesMasters/notesMaster1.xml" Id="R86c8f83de14442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9c72e5230e4cf2" /><Relationship Type="http://schemas.openxmlformats.org/officeDocument/2006/relationships/notesMaster" Target="/ppt/notesMasters/notesMaster1.xml" Id="R790585ef8d5643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e9d00de6b547c0" /><Relationship Type="http://schemas.openxmlformats.org/officeDocument/2006/relationships/notesMaster" Target="/ppt/notesMasters/notesMaster1.xml" Id="Rc1e02c51810f44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9bb68d55644e92" /><Relationship Type="http://schemas.openxmlformats.org/officeDocument/2006/relationships/notesMaster" Target="/ppt/notesMasters/notesMaster1.xml" Id="R36615f61baba4e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726e4a9fb7483b" /><Relationship Type="http://schemas.openxmlformats.org/officeDocument/2006/relationships/notesMaster" Target="/ppt/notesMasters/notesMaster1.xml" Id="R937713bdeafd45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f4e02f98b84659" /><Relationship Type="http://schemas.openxmlformats.org/officeDocument/2006/relationships/notesMaster" Target="/ppt/notesMasters/notesMaster1.xml" Id="R009b7246d24c416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9fec951f3f4e75" /><Relationship Type="http://schemas.openxmlformats.org/officeDocument/2006/relationships/notesMaster" Target="/ppt/notesMasters/notesMaster1.xml" Id="R6703d8858e664e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fd473a60a2f41e9" /><Relationship Type="http://schemas.openxmlformats.org/officeDocument/2006/relationships/notesMaster" Target="/ppt/notesMasters/notesMaster1.xml" Id="Rb69d55079a224f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0fb24867634baf" /><Relationship Type="http://schemas.openxmlformats.org/officeDocument/2006/relationships/notesMaster" Target="/ppt/notesMasters/notesMaster1.xml" Id="Rf5985e53932343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c1968b11f94810" /><Relationship Type="http://schemas.openxmlformats.org/officeDocument/2006/relationships/notesMaster" Target="/ppt/notesMasters/notesMaster1.xml" Id="R60fafcd514f14d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when should we learn a pattern from data, and what evidence would make it useful? The cover is an original generated illustration created for this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Explain that Week 1 evaluates reasoning and prerequisite readiness. Point to the worksheet where students will record all three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Collect outputs such as a class, probability, ranking, or schedule. Ask which output the team can act on and which outcome can be measured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Emphasize that the application goal and model output have different scopes. Ask what additional information turns risk estimates into an inspection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name human choices in a learned system: data, representation, target, objective, model family, evaluation, and operating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Define each term without treating the categories as a quality hierarchy. Ask for one machine-learning method that is not a deep neural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what one row would contain under each definition. Point out that repeated readings from one machine are dependent. Save the full split discussion for Week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Walk from an observation to available features, the model output, and an action. Compare targets based on technician judgment, failure within seven days, and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9 minutes. Read each row through the output first. Explain that clusters require interpretation and that representation learning supports another purpose.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Expected task types are regression, classification, clustering, and representation learning. Each pair also names the unit of observation for one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20 minutes including pair work. Model one field, then have pairs complete the maintenance canvas. Partners circle terms that support more than one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Check the meaning of n and d. Ask students to predict the output shape of X @ w. Optimization and backpropagation arrive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Ask students to explain broadcasting of the bias and why the comparison produces Boolean values before conversion to integers.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Ask which method is better before revealing the class distribution. Explain that the majority baseline is only a first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6 minutes. Define generalization as useful behaviour on new observations from a specified setting. Preview group-aware and time-aware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Present the workflow as a cycle. Give one example of moving backward: a label audit reveals ambiguity, so the target changes before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35 minutes. Students record predictions before execution. After the initial run, they set one weight to zero and explain the change using the generated data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20 minutes. Ask for one supported and one unsupported claim. State that the rule resembles the label-generating process, so this is a diagnostic demonstration rather than blind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6 minutes. Show how the semester project develops through evidence. A failed experiment can be useful when it changes the next decision and is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Walk through the narrowing example. Students then complete the research-direction ladder for their own interest.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Review the memo and collect the three-sentence exit ticket. Week 2 will test how evaluation choices change what a result means.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e98b772974b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21b4474604d6b" /><Relationship Type="http://schemas.openxmlformats.org/officeDocument/2006/relationships/slideLayout" Target="/ppt/slideLayouts/slideLayout1.xml" Id="Ra2905c38cd1641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905c38cd1641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51352aa964b29" /><Relationship Type="http://schemas.openxmlformats.org/officeDocument/2006/relationships/image" Target="/ppt/media/image.png" Id="R3ce5c4df37a641c1" /><Relationship Type="http://schemas.openxmlformats.org/officeDocument/2006/relationships/notesSlide" Target="/ppt/notesSlides/notesSlide1.xml" Id="R7715b31334304f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39e48353e4242" /><Relationship Type="http://schemas.openxmlformats.org/officeDocument/2006/relationships/notesSlide" Target="/ppt/notesSlides/notesSlide2.xml" Id="R902c00cf15d64a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3493976bf4051" /><Relationship Type="http://schemas.openxmlformats.org/officeDocument/2006/relationships/notesSlide" Target="/ppt/notesSlides/notesSlide3.xml" Id="Re8aaead4a3034c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eda7c08cd4b92" /><Relationship Type="http://schemas.openxmlformats.org/officeDocument/2006/relationships/notesSlide" Target="/ppt/notesSlides/notesSlide4.xml" Id="R3a7d30f9842042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b05d5d4134eef" /><Relationship Type="http://schemas.openxmlformats.org/officeDocument/2006/relationships/notesSlide" Target="/ppt/notesSlides/notesSlide5.xml" Id="Rb801ead2cea542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9144357164a8e" /><Relationship Type="http://schemas.openxmlformats.org/officeDocument/2006/relationships/notesSlide" Target="/ppt/notesSlides/notesSlide6.xml" Id="R1adbf5177f1742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ac970f18e48ad" /><Relationship Type="http://schemas.openxmlformats.org/officeDocument/2006/relationships/notesSlide" Target="/ppt/notesSlides/notesSlide7.xml" Id="R44a893b300c342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5086c22bf460e" /><Relationship Type="http://schemas.openxmlformats.org/officeDocument/2006/relationships/notesSlide" Target="/ppt/notesSlides/notesSlide8.xml" Id="Rb1ffafd91b624e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7e777b80b4a86" /><Relationship Type="http://schemas.openxmlformats.org/officeDocument/2006/relationships/notesSlide" Target="/ppt/notesSlides/notesSlide9.xml" Id="R32a69a49db9f47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5ba3496c84ffd" /><Relationship Type="http://schemas.openxmlformats.org/officeDocument/2006/relationships/notesSlide" Target="/ppt/notesSlides/notesSlide10.xml" Id="R327d9fdde6da4b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b8c6f259c41d2" /><Relationship Type="http://schemas.openxmlformats.org/officeDocument/2006/relationships/notesSlide" Target="/ppt/notesSlides/notesSlide11.xml" Id="R3bf9b706763547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22fbe5ba34180" /><Relationship Type="http://schemas.openxmlformats.org/officeDocument/2006/relationships/notesSlide" Target="/ppt/notesSlides/notesSlide12.xml" Id="R1b3ad4df57944f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5b550a73e41a1" /><Relationship Type="http://schemas.openxmlformats.org/officeDocument/2006/relationships/notesSlide" Target="/ppt/notesSlides/notesSlide13.xml" Id="R4062dc63e7f340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79aff8aaa43b1" /><Relationship Type="http://schemas.openxmlformats.org/officeDocument/2006/relationships/notesSlide" Target="/ppt/notesSlides/notesSlide14.xml" Id="Rb2bb86341bfd48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4122baad146c6" /><Relationship Type="http://schemas.openxmlformats.org/officeDocument/2006/relationships/notesSlide" Target="/ppt/notesSlides/notesSlide15.xml" Id="Re95d507d4de44a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4c26eac7f4258" /><Relationship Type="http://schemas.openxmlformats.org/officeDocument/2006/relationships/notesSlide" Target="/ppt/notesSlides/notesSlide16.xml" Id="Rac692fef572b48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d70b88c8e41ad" /><Relationship Type="http://schemas.openxmlformats.org/officeDocument/2006/relationships/notesSlide" Target="/ppt/notesSlides/notesSlide17.xml" Id="R27948db67c7642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b6ba5d1214455" /><Relationship Type="http://schemas.openxmlformats.org/officeDocument/2006/relationships/notesSlide" Target="/ppt/notesSlides/notesSlide18.xml" Id="R51d6eeb6033040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c135f64614da6" /><Relationship Type="http://schemas.openxmlformats.org/officeDocument/2006/relationships/notesSlide" Target="/ppt/notesSlides/notesSlide19.xml" Id="R8994a091bc6448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6b5449251449d" /><Relationship Type="http://schemas.openxmlformats.org/officeDocument/2006/relationships/notesSlide" Target="/ppt/notesSlides/notesSlide20.xml" Id="Rf6cbd32f125e49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5c2ac08e844ba" /><Relationship Type="http://schemas.openxmlformats.org/officeDocument/2006/relationships/notesSlide" Target="/ppt/notesSlides/notesSlide21.xml" Id="Re6243046d78e4e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5c4df37a641c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2EF49-6548-45B2-8A2C-E216D93D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95375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D3F30-CE26-4B24-9D32-12DA073D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CAE8A-8525-49B6-875D-77C2DA9F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C997D-2A5E-4F32-ACD9-E9B0438F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752B3-CFDE-467F-BD17-14CA720C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an application need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a learning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9140E-8AE8-47B0-AC6B-DB7AEDCF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939053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445A5-BCEE-49FA-8C7F-915B6F8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EF573-14B0-471B-AA15-D95D227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10E2C-5D79-4D01-A33E-BED21D20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C8F13-F679-40D1-84EA-F104915C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ADE03-7B7B-4187-A956-1B46EA35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Each student will produce three visible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23117-D52D-4723-8B6E-19FF0008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E28F8-709E-4FDE-A1D2-D8E093B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669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Problem canvas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9BEE7-04E0-4BFE-965B-47BD2A37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669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precise observation, target, intended use, baseline, and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CB0CC-BE5C-40BA-844D-EFB21F01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79082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8D7CB-D0D3-4621-886F-85178DA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A2118-61E8-420E-9FE2-825BB15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Diagnostic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16471-CA6C-47B5-96B6-503DDF32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NumPy computation with explained shapes and a baseline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171D2-A73F-4D4C-BA28-431F12A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1002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0B04B-805A-4D8B-A8C3-9C0E3577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E3C4D-B5DF-45DB-A93D-7AF8CF9A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053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Research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F129C-5E9F-4F33-9DD5-63D269E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053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One application area narrowed to an answerable next question</a:t>
            </a:r>
          </a:p>
        </p:txBody>
      </p:sp>
    </p:spTree>
    <p:extLst>
      <p:ext uri="{BB962C8B-B14F-4D97-AF65-F5344CB8AC3E}">
        <p14:creationId xmlns:p14="http://schemas.microsoft.com/office/powerpoint/2010/main" val="308153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0D452-CB7C-4520-9A96-6559F7CD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Opening case: twenty inspections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F70F0-813E-4D82-BE73-481CB298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4A7B1-A6E1-4D75-943F-5840130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BF62D-9BC2-44F1-B1F8-B3EAD8BF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99312-1630-4EED-9B8E-0ABFF5F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E4590-497E-4A88-A774-49FBC6D9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machines operate each 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38CA8-46E0-476F-8AA6-3421B681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6CC68-65EA-4C4B-965F-7EF8F3C0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be inspected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F42F4-1E56-45DF-B6FB-A07D8097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60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78AA9-804B-4D98-B14C-7CE125EB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24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AVAILABLE BEFORE THE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7439F-5604-463E-907D-66AC9159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961ED-FF0E-4A05-9773-3DB2B94C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47875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Temperature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3F3D4-FABB-462E-AB35-003E18FB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030D8-533D-423B-88A0-6B34532E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14625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Vibration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ABEDA-986F-4A87-B22D-CABD614C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6CF60-B5CD-4F10-80F1-01651775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81375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F37C5-5ABC-426E-91A9-63E3178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CA6C4-FF74-45AF-A50A-7E18A62E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048125"/>
            <a:ext cx="554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Previous maintenance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52D86-4EE7-4870-81FB-1CA16AA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95875"/>
            <a:ext cx="595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What should the system output, and what action follows?</a:t>
            </a:r>
          </a:p>
        </p:txBody>
      </p:sp>
    </p:spTree>
    <p:extLst>
      <p:ext uri="{BB962C8B-B14F-4D97-AF65-F5344CB8AC3E}">
        <p14:creationId xmlns:p14="http://schemas.microsoft.com/office/powerpoint/2010/main" val="279876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FA8DF-B5E2-4028-8722-F435748D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Application goal and model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900E5-00B9-4588-BF35-928B01D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D3D60-5073-4948-AD75-7BA3D84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7547A-AD89-494D-8AB2-66FB6007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FB687-E6B9-4A37-A10F-378DFC2D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APPLICATION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0291A-2E6B-4C63-8A4E-9088418F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524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Reduce unexpected failures while using limited inspection capacity.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94BA3-FDB8-4D62-8730-D9315950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716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4B45F-9505-434C-B5A8-31A53FFB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POSSIBLE MODEL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CA62B-137E-40BE-99CB-5E93B20F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524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Probability that each machine will fail within seven days.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F2750-5037-4059-ABDF-17B362D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The output supports a decision. A maintenance policy also needs capacity, cost, safety,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52672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71978-DECE-42CB-89A3-8889FB8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Programmed rule and learned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073D3-9189-445D-A02B-37CD2903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9B7F1-A91A-4EDC-B91E-2382B80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11B44-E630-467F-88F0-4DE3BFDD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B291F-2F1C-4DC7-9FA3-4A5B299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PROGRAMMED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BA0F0-104B-4B31-A8A1-E6787A2D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An engineer specifies the relationship.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3EF9D-7332-4C92-813E-5CF9A3DC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000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811C4-107C-4184-98A0-725FC37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temperature &gt; 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12138-812B-41F1-BA20-C478F201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62375"/>
            <a:ext cx="1047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4C32E-C0DD-4BDF-81C0-FF4BA44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F1250-159A-4E9B-B7FF-643CE6B2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LEARNED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AEC33-EDE3-444E-9095-D20CD5CF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83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procedure estimates parameters from 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625A6-87F2-47A0-9BF9-9F552B6C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098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4278E-A53C-4F20-A92E-9713BA97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685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A538E-3EF1-4C4A-A574-37211808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47E48-320B-40AB-BD40-8A588E47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procedure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FE432-1F38-43D1-9E06-6AB96F1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62375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BA3E4-4027-468F-BDE5-92377CA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fitted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72218-F724-4F44-A066-3C5FBC96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768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Both approaches contain human choices.</a:t>
            </a:r>
          </a:p>
        </p:txBody>
      </p:sp>
    </p:spTree>
    <p:extLst>
      <p:ext uri="{BB962C8B-B14F-4D97-AF65-F5344CB8AC3E}">
        <p14:creationId xmlns:p14="http://schemas.microsoft.com/office/powerpoint/2010/main" val="1488995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4F66A-FAAD-473B-BAE6-B596DA7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AI, machine learning, and 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D0EAD-AF63-4673-B475-770A765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43DA9-FBE3-429A-981D-301E75D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5447A-292F-4E5A-B2F6-F16C3A6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730B0-95F5-4F63-8B1A-61EBA30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5334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3A595-20C1-42C2-8C7C-DE84F034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3714750" cy="2714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E9E5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A886B-52F4-40CF-8158-8776C955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17145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9B1D0-A8D9-4749-B84E-43F45EF0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621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Artificial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84567-ACA9-429C-9F46-FD2C26F0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52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44A14-A93A-4C27-8F81-F2A775AF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4843E-12B9-4D7B-9ACC-31A089B4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categories describe scope.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5BC5D-2FAA-4F31-AA71-9DBB1388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381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narrower category does not guarantee a better solution.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E5AAA-9B04-40E0-8A86-9857911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Choose through the problem, data, constraints,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937465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CD9CD-D83C-4F2A-B93B-41F56BD7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unit of observation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AE3DF-5559-4E81-941B-877AD29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1ED01-4F3F-483F-AF1D-D99AD10A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EFD35-4685-4387-A485-20B3D5B3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B852E-EE74-49B2-85AD-CF917F86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row must have a precise meaning.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A1F60-BBE0-483D-B272-B40140F1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0A09A-AC4C-47E8-B21D-171EF0F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00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86114-67F8-4DF2-B5A6-73ABB0C8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0030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current summary per asset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56D5C-2698-43FF-96C3-92CEC12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24200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E4CA5-0611-4010-A873-48A39C5A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ABA62-4842-402D-B6F3-F95FFE47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95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41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scheduled reading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BBD66-CE72-4909-B4D9-BD2D0B7B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9567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Repeated rows for each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7FE56-93E8-4A26-99D6-469940FB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1957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55F44-7EDE-4795-8AFF-4F932FED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D06E8-8F07-41BD-91BE-CF5FE72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91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sensor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10FE9-4883-47BC-85A1-B4117274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Many dependent windows over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A508F-6B8A-486C-ADBA-01AE777A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626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Changing the unit changes the features, target, split, and conclusion.</a:t>
            </a:r>
          </a:p>
        </p:txBody>
      </p:sp>
    </p:spTree>
    <p:extLst>
      <p:ext uri="{BB962C8B-B14F-4D97-AF65-F5344CB8AC3E}">
        <p14:creationId xmlns:p14="http://schemas.microsoft.com/office/powerpoint/2010/main" val="14602836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63B80-58EB-4A1E-9BAC-D6509BE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Features, target, and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559F2-A580-4694-9797-2A0EC7F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B0F7-A1BB-4B1B-A3FF-81744865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411FF-2138-4ACE-9CE1-A48DC936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AC6A2-5199-4EB2-9755-496E4D72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238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F5497-D81E-4624-8CED-D362F719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05F18-F95E-4ADB-A143-8456077C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one machine reading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13D6F-2F0C-41F3-AB5C-4B8CDC01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7A5B0-818B-47A8-8DFD-5212841B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238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9125F-F342-4CF8-9B78-2C4C59E6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71750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Features 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0652F-33AA-401B-9875-B7B5A0BB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956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temperature, vibration, 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3CA6D-5E7B-468E-A17E-A1783786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9E5E2-D6D3-428D-B22C-4BC41CC0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238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C15E6-DEC2-4CC6-8457-98E86682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Model  f(x)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0DB9A-540B-4682-9731-522C36CF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or 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0D927-24D0-4CC9-B2E5-2E77592C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F3497-F47B-49EF-B410-E9DEC688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238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B2ED6-EDB2-41E5-93B2-C1905A71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70FE2-D6E1-4F43-A13C-65796C9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95625"/>
            <a:ext cx="18954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review inspection priority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2AE29-1DBA-478F-959A-AF605882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Target  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5745B-555E-46E3-9331-67937FB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529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3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the observed outcome used for learning and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C1C15-177B-43B4-A534-D206BC4C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433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E8C11-23C4-48CF-8F48-EE4FA61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245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Which target could be measured reliably?</a:t>
            </a:r>
          </a:p>
        </p:txBody>
      </p:sp>
    </p:spTree>
    <p:extLst>
      <p:ext uri="{BB962C8B-B14F-4D97-AF65-F5344CB8AC3E}">
        <p14:creationId xmlns:p14="http://schemas.microsoft.com/office/powerpoint/2010/main" val="551949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82FA1-BA46-42BB-8F20-E916FA76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Four common learning tasks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8A54B-2134-4FB4-9D3F-A2B6DA47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63914-6993-443D-99CC-66FF2F5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1754A-A9D6-49DD-85EE-E89B1C5C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6048375"/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Maintenance example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Discrete 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Failure within seven days: yes or 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Regression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Remaining useful life in hours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Clustering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Groups without labels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Recurring operating profiles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Representation learning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Learned encoding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Compact vector for each sensor window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607C7-412C-4899-AA2A-4C482A9D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Task type follows the required output and available supervision.</a:t>
            </a:r>
          </a:p>
        </p:txBody>
      </p:sp>
    </p:spTree>
    <p:extLst>
      <p:ext uri="{BB962C8B-B14F-4D97-AF65-F5344CB8AC3E}">
        <p14:creationId xmlns:p14="http://schemas.microsoft.com/office/powerpoint/2010/main" val="1833235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58473-7061-468F-BCFE-644497D0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Task-identification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6E382-9145-47D6-AA8C-2AC552E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68691-D1C0-44D5-ACF6-A5BD91F0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64450-8F98-405B-A3BA-7EA5766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FCB44-2600-4EA6-AD37-438410F5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B5DCD-FAFD-46B3-BDFD-095A52F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668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 tomorrow's electricity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2288A-4141-4C33-B853-028460A5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Task type and unit of 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1A568-9650-4523-B678-41596D5C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D535C-886B-42BB-9398-EA15A792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666875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 an image to one of four quality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70141-7844-40A1-9BCD-6FA9A6F1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67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Task type and unit of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066F4-8B32-4E29-BA20-AECCEF75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BBDB6-8420-477E-9748-031C976E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052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Discover recurring patterns in unlabelled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41773-FF6E-4523-AF5F-3B37148B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05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Task type and unit of 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F9CA7A-8B00-452D-B86F-B6F0E182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FA3DE-D339-4504-AAF3-1F9754A4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905250"/>
            <a:ext cx="4238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 an encoding for retrieving similar papers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0E4B4-A52F-4E16-A0C4-9E70E742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05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Task type and unit of observation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17A8F-56CB-4E96-A08E-37E377D6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240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B21A6-B780-44F4-83FF-DFDDCB3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578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4 minutes in pairs</a:t>
            </a:r>
          </a:p>
        </p:txBody>
      </p:sp>
    </p:spTree>
    <p:extLst>
      <p:ext uri="{BB962C8B-B14F-4D97-AF65-F5344CB8AC3E}">
        <p14:creationId xmlns:p14="http://schemas.microsoft.com/office/powerpoint/2010/main" val="495343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43A56-59E5-4D94-B8DB-A4A7F0A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Problem-formulation canvas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B5807-F3B4-4D17-83D7-EBA65163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369FF-BA0F-4449-8D66-486C9F33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73560-F727-4FBD-90A9-25FE71E4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77F64-F90F-46C2-B0B9-B977BD30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8F513-58E5-4C52-B42D-D0F2380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97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Application 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44E1B-E65F-4E06-82D6-AD621957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98560-80E9-4E8C-8F75-62F5B00F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15D72-CFE5-4D9B-A7B4-706167F1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Unit of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CC9A6-B95F-46B4-ABD9-4A87206D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3C4B4-D9BC-47EE-BB9B-B0E60E3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90BB7-168A-4883-B2B0-2C0FBDB5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Available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4BD66-FBB5-49B6-BC31-FBC17D90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6DEB9-A28A-4DFF-B836-C577FD20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10F29-9795-4F92-8432-E898A81E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Target or learned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4EC82-2CE9-46A3-A2F7-31773BD8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EFB86-1A98-495D-AA3B-7537DD2A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60EBB-FBE4-430D-AC76-B4C41A2A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97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Intended user and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6CF7E-5B15-4364-B250-D7750D83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3837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01DF7-9388-46BC-B789-9974ABE5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396A4-569B-4048-87A3-4A4D29FF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Simple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D5FBB8-E1AB-4BEB-9D07-EB84534E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002A2-EBB7-4C37-8B53-B047D11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718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7D2F7-9BFF-483F-96A8-5932011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Evidence and 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A798B-E8FE-4E70-8AA2-6D75F009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38625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5CDC8-DE6D-4187-B8FB-465E3717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720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51586-0A92-4D95-959E-1C79EFC1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Main risk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C473E9-34EE-499E-854D-8C0BCDCC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38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2E927-B512-45F0-96AC-A45E6821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7150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Ambiguous field, ambiguous experiment.</a:t>
            </a:r>
          </a:p>
        </p:txBody>
      </p:sp>
    </p:spTree>
    <p:extLst>
      <p:ext uri="{BB962C8B-B14F-4D97-AF65-F5344CB8AC3E}">
        <p14:creationId xmlns:p14="http://schemas.microsoft.com/office/powerpoint/2010/main" val="1406699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EFCDB-EF84-4304-9F2F-C982979D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first model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B470C-4232-4434-8B2E-529FE183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806B7-1308-4C82-ADB3-ED955156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E8598-06EC-4935-9A00-1606162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AF25E-775E-47F0-A97F-3D1D9288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FEATURE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9C05B-0A02-4292-B0A1-792E77FA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  ∈  Rⁿˣᵈ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0A485-6549-4A0F-8BFB-3A9F791E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5CB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5CBD5"/>
                </a:solidFill>
                <a:latin typeface="Arial"/>
                <a:ea typeface="Arial"/>
                <a:cs typeface="Arial"/>
              </a:rPr>
              <a:t>n observations × d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26B6C-CADB-4FA3-8F2C-8DE05C55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76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LINEAR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980E8-74DD-44D2-A0A1-734874CD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 = Xw +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BAB59-2CFC-4987-A78F-0557A0F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5CB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5CBD5"/>
                </a:solidFill>
                <a:latin typeface="Arial"/>
                <a:ea typeface="Arial"/>
                <a:cs typeface="Arial"/>
              </a:rPr>
              <a:t>one score per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6E16F-E93E-4078-AB75-A6578C3F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60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96911-097F-4A6B-8166-1171F43C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ŷᵢ = 1  when  sᵢ ≥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1770E-338A-4BA6-9F14-A6B2B29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816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83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1 inspects chosen weights. Weeks 5 and 6 learn them from data.</a:t>
            </a:r>
          </a:p>
        </p:txBody>
      </p:sp>
    </p:spTree>
    <p:extLst>
      <p:ext uri="{BB962C8B-B14F-4D97-AF65-F5344CB8AC3E}">
        <p14:creationId xmlns:p14="http://schemas.microsoft.com/office/powerpoint/2010/main" val="20686728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71C07-98B0-4A24-ACFB-D86A939F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NumPy makes structure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391B7-FFDA-4E1C-BF8A-F1C427B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DB5ED-0C65-430F-B977-B8F2ADA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715D6-B325-4120-BC86-01082F6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11677-FB7A-42A1-B357-4D530C9D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19050">
            <a:solidFill>
              <a:srgbClr val="2846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2B42B-814E-4F44-8BE5-EAAA35C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7F4F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D7F4F0"/>
                </a:solidFill>
                <a:latin typeface="Arial"/>
                <a:ea typeface="Arial"/>
                <a:cs typeface="Arial"/>
              </a:rPr>
              <a:t>scores = features @ weights + bias</a:t>
            </a:r>
          </a:p>
          <a:p xmlns:a="http://schemas.openxmlformats.org/drawingml/2006/main">
            <a:pPr algn="l">
              <a:defRPr sz="2475" b="0">
                <a:solidFill>
                  <a:srgbClr val="D7F4F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D7F4F0"/>
                </a:solidFill>
                <a:latin typeface="Arial"/>
                <a:ea typeface="Arial"/>
                <a:cs typeface="Arial"/>
              </a:rPr>
              <a:t>predictions = (scores &gt;= 0).astype(int)</a:t>
            </a:r>
          </a:p>
          <a:p xmlns:a="http://schemas.openxmlformats.org/drawingml/2006/main">
            <a:pPr algn="l">
              <a:defRPr sz="2475" b="0">
                <a:solidFill>
                  <a:srgbClr val="D7F4F0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D7F4F0"/>
                </a:solidFill>
                <a:latin typeface="Arial"/>
                <a:ea typeface="Arial"/>
                <a:cs typeface="Arial"/>
              </a:rPr>
              <a:t>accuracy = np.mean(predictions == target)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7A7F5-115C-4879-A209-D6806BB8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958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(n, d)  @  (d,)   gives   (n,)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8ACB5-F342-44ED-A94E-FB2437F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05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Check every shape before interpreting the result.</a:t>
            </a:r>
          </a:p>
        </p:txBody>
      </p:sp>
    </p:spTree>
    <p:extLst>
      <p:ext uri="{BB962C8B-B14F-4D97-AF65-F5344CB8AC3E}">
        <p14:creationId xmlns:p14="http://schemas.microsoft.com/office/powerpoint/2010/main" val="931925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49C69-BF4E-4C75-BF04-C887D7D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baseline gives the result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8807C-F092-4C83-A2E1-3DD35F7A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C8371-A735-475A-AD52-5A6023CE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8AEE0-DABA-4612-9099-5943FD91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0D855-B2CE-46FC-8BB8-DFB2C313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MAJORITY-CLASS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CEE9B-FCDE-4BC2-B066-40B4E32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524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70%</a:t>
            </a:r>
          </a:p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accuracy when class 0 contains 70% of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B7E3D-1DFD-4433-9A75-558A0A53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716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6EFA9-E5F0-48D7-9569-46BDF1AF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CANDIDATE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67256-8459-49C2-B3F2-16DC236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524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65%</a:t>
            </a:r>
          </a:p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accuracy, yet worse than the simplest frequency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362B2-EB1C-4C57-95A6-51D29428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metric gains meaning through the data distribution, costs, intended use, and a reference method.</a:t>
            </a:r>
          </a:p>
        </p:txBody>
      </p:sp>
    </p:spTree>
    <p:extLst>
      <p:ext uri="{BB962C8B-B14F-4D97-AF65-F5344CB8AC3E}">
        <p14:creationId xmlns:p14="http://schemas.microsoft.com/office/powerpoint/2010/main" val="327061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0420CD-E474-4F0A-ACDD-D15CBB8C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Generalization is the central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53C9A-3070-41FC-8127-3F60ABB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562EB-CFDF-480C-8C16-65212162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178B2-CC21-42F6-AEA1-82C1C961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614AE-4510-4614-BFE6-A38D36A9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OBSERVED 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18434-A6B9-4ADF-9FD1-5B7E7AEF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714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647D0-C383-4790-B4F9-41C83FB7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28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B510C-F970-451F-8459-D6681595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428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5037E-EA21-49A0-B717-A4344682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28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9814B-DE6C-4ACA-823F-E5A317E2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428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3631D-DEE6-40F3-9F08-75AF20D4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28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4AC9B-8588-4218-A213-E4E7824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811A5-BC4D-4388-83E0-E1DFB81C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B79CE-96DF-4D61-BFC5-2FE6CE7B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BF717-DFB2-47B5-83DA-B3242009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EC51F-2E6E-4E0D-A5CC-5CAB7DC7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BE616-E69E-477E-A03C-EA7E0A0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601E4-2124-43D6-AF30-6BA8436E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86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18E13-7268-45E9-A34C-5481C097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D30AF-F7EA-46AF-A2D9-ECA037FF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77223-EE3F-453F-97A7-69E3A78B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CA08B-5A2D-4CD5-9C42-73B98B1C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B6B65-6AC3-4DE5-806E-C7070AD1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6C915-CFC2-4182-9882-78EA785B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379FF4-AB9F-4DBA-BF2F-902E4D80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01AEA-DBEE-4746-8202-11DA34D7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BD08F-3607-4804-B4C0-8883FC33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06787-2316-44E7-B5E1-75BBC523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0C127-4BB9-4147-A77C-E79C79FC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B8FC59-E1D2-4CBE-AEB6-CCA2954E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981E0-B4C0-46F3-84F5-C4606FE3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1619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5B35F2-93F5-401B-ABB1-AE6F5B22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NEW OBSERVATIONS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40A7BD-5EDA-4E45-BDE1-E4D77EC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B84B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118834-671C-444C-B7E6-DF91246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15FC1-734B-48B4-AEA9-E1B6DB53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19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B3D086-C2F0-4FD9-9CAE-F573DFCE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19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217501-3B89-414D-9E51-27B02900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19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28C8CE-6B3C-4725-A55D-E5ADF1FD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619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C71EED-6B25-467A-92E8-6574291F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E453C7-2429-4040-8B10-AB06C09B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6D7B1F-2EAE-437D-9BD4-88976E7B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907663-8AF3-472D-9E5F-D6FE20AA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6A0B8F-640D-4DB1-BE94-87DF2E50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5E1F09-FA6E-48A0-A3A9-5CAC0081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83E698-1F1B-42AC-90C6-A2E741D7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7A74D0-F229-4BA6-915B-1BA32A78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6A6183-5E64-4446-AAF5-0A961255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1F3EE3-D691-4E64-BA68-B6639487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C9B7A4-A08F-4B38-9F8D-57F3FB08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659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Useful behaviour on new observations from a defined setting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8936C1-969F-4C4C-8553-47555206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578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A7A5"/>
                </a:solidFill>
                <a:latin typeface="Arial"/>
                <a:ea typeface="Arial"/>
                <a:cs typeface="Arial"/>
              </a:rPr>
              <a:t>Next week: splits, leakage, groups, and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4483248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376FCB-A515-4696-89D5-A3B7071B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machine-learning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32C53-D6F8-4ABD-9FBB-3D432573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D48E8-8756-43DD-AF48-EA35B27B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B3AE1-9305-4DAA-AE80-C13881F6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1F4D5-55EB-475E-B3FD-84F55193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CA1D9-89F6-47E9-8415-90ADDE1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38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D60D5-4912-40BF-B541-3C2CED01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B6524-39FD-45D2-BF07-5DCB5C8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0F17D-395D-4336-8EE5-5A2F6739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288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D4E2D-2CD9-4E60-ADF7-5BBC1122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38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7EF74-4550-4DFB-82E2-C489BCD0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9085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C6FED-F949-4D2A-A29F-1D5B4AFE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146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E04C8-9F01-48E2-A3FA-F9991DE3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288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6F6D4-22DF-46EC-A253-910D9855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38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206C7-9AD8-44D4-B9B7-CE84BD44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23C0A-BAD8-49D8-9513-B3718EF8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BFA30-C291-4180-AF12-33603E1E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EBF0D-CB1C-45A5-A4B1-6533787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38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41323-EF18-4FDA-917D-4736E5E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9085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and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EB0BB-0C99-4023-9EDA-58FE256C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5DD27-D9E4-4769-8528-BDCEC0B3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288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CA02F-16EB-4BD3-B2F0-0F4EB1DC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38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B2A21-9942-4E71-BA48-32DB0A4C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32046-D016-4713-AC29-A67E2CA0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0F587-69F8-4ACF-91B7-BBEFBA1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288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DFCA3-073D-4BE7-A6AF-B4FFFAF9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38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50DF4-F990-4F66-8E74-B1E96B4A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Analyze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93145A-0154-4CC9-9D74-C34B968B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95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72F69-B843-4031-A1B8-E5E715F0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F7041-4F35-43A4-9B08-5083312B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38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C39120-57A4-4C8F-8860-89A62FD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9085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Revise the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D64CC4-EC9D-4776-8439-7782376E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9112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984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Research moves backward when evidence changes the question.</a:t>
            </a:r>
          </a:p>
        </p:txBody>
      </p:sp>
    </p:spTree>
    <p:extLst>
      <p:ext uri="{BB962C8B-B14F-4D97-AF65-F5344CB8AC3E}">
        <p14:creationId xmlns:p14="http://schemas.microsoft.com/office/powerpoint/2010/main" val="4269262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BD357-12BF-40CB-9A0B-9EC00A9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Diagnostic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DE977-9A22-433D-B090-8D8707B9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31DDA-341A-4367-A6B1-1F05611D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E0B1B-F3DF-4227-A2D0-B2E7E83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4D076-0DBD-48A8-8E3A-EC0153FA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RUN FROM THE REPOSITORY ROOT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A0AD5-C850-4391-A10A-E3A0C226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10572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AB73F-F8E0-42FD-8668-146B614C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labs/week01_python_numpy_diagnostic.py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86894-2377-4571-8109-FCF94FE5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1CE97-50E0-4C90-A889-B8D87C7C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2A5C8-E093-4920-BA0D-D5B7E9FE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10000"/>
            <a:ext cx="563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Array shapes and class 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A2006-FBF1-4D34-958D-10DEDF11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BBA75-CA7A-42BE-BD1C-BADDFF4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24350"/>
            <a:ext cx="563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Majority baseline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96230-3954-48C1-B128-719FB3F9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1B19A-9C1F-4BC4-9387-76F563B3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38700"/>
            <a:ext cx="563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Linear-rule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16C9D-1D16-4745-BA18-5798A5B2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6A175-75A2-4690-826D-366D4AF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53050"/>
            <a:ext cx="563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One limitation of the demonstration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BC8F5-776A-426B-BB92-E1FBAD06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835D3-EB24-47D5-B460-27407C03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00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Then set one</a:t>
            </a:r>
          </a:p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 weight to zero.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C8006-9334-4F8C-9B4B-2F037A7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5787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Predict first. Run second. Explain the difference.</a:t>
            </a:r>
          </a:p>
        </p:txBody>
      </p:sp>
    </p:spTree>
    <p:extLst>
      <p:ext uri="{BB962C8B-B14F-4D97-AF65-F5344CB8AC3E}">
        <p14:creationId xmlns:p14="http://schemas.microsoft.com/office/powerpoint/2010/main" val="1824284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70CA5-7B70-4E23-950F-D1734D65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the demonstration can establish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2C7E9-14BA-409E-B56B-779B99C1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9109B-EC25-471C-AD74-64976178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39D40-0177-4E85-A550-82F73CDD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47B37-8CCE-4CE5-8F6D-5C0994D0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A6D"/>
                </a:solidFill>
                <a:latin typeface="Arial"/>
                <a:ea typeface="Arial"/>
                <a:cs typeface="Arial"/>
              </a:rPr>
              <a:t>SUPPORTED BY THIS 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61EFA-AD76-4AA5-A46F-905B3B79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DCABB-695B-4919-AA15-11EE1BAD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478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NumPy computation executes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2E8E0-7FAF-409C-AC20-B6FB96D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2159C-92A7-4AB6-971A-E0BC9AFE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336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array shapes agree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E17AD-ACD2-44DD-8116-846095F0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77CF7-E5A8-4ACB-B752-E71E8B5E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194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rule captures part of the generated pattern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F26B8-DE51-4B8C-9816-529492D0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70443-76FB-4035-93E4-5DC230CA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052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rule can be compared with a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3DFB3-FCB7-4F18-B297-9021DC3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F48BE-78BC-44B8-AE41-437D17B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65353"/>
                </a:solidFill>
                <a:latin typeface="Arial"/>
                <a:ea typeface="Arial"/>
                <a:cs typeface="Arial"/>
              </a:rPr>
              <a:t>STILL 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15464-7200-49BC-B96F-F15619FE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5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1EDD6-0F38-49A6-A603-9DD30306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478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Behaviour on real machines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64EB2-74CC-4882-ACEF-D1A33298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5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E6919-0D39-43DD-B5BF-5542C9F8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336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Whether the target is valid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40125-7537-4717-B25B-0ECF0B0C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5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5181F-4331-4734-A453-EFC4EAE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194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Operational costs and safety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55159-049C-4CFA-83A8-C0BDFDC5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5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8D51B-8760-41D8-8A0B-1CBAA334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Performance after conditions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08147-D42B-4B24-B886-AB8F2BB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1500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18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Match every claim to the evidence that supports it.</a:t>
            </a:r>
          </a:p>
        </p:txBody>
      </p:sp>
    </p:spTree>
    <p:extLst>
      <p:ext uri="{BB962C8B-B14F-4D97-AF65-F5344CB8AC3E}">
        <p14:creationId xmlns:p14="http://schemas.microsoft.com/office/powerpoint/2010/main" val="9276350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0BE52-FC35-4807-8B15-532E3D9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semester research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41758-6872-4216-99FD-526E123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84FDF-C20B-4409-9987-BBC4B06D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617AE-0D99-4E18-93DD-623C681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F0FD3-AE53-4C30-BD9F-07E9D004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41446-73AC-48A5-AF51-D6D4763E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7F787-5827-4879-A664-222A725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85A3A-6994-47D5-9825-49CEDE0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349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3395B-2C88-479A-838A-D2380C13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2333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05D5F-0DFA-4B5D-879F-983F39C4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375" y="254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529DB-3115-4BF9-A6FF-BAB4C281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50" y="28956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C14ED-06C7-4ACD-8A8A-AE6342AC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819400"/>
            <a:ext cx="349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D27B2-D203-4238-92A0-8681FF1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333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1362F-6AC8-4897-9BBA-951DDAD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1375" y="254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30FBC-CCD2-4BA8-A76C-B1BC3714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8956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Literature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958EB-B43A-4E9E-8940-009A4088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250" y="2819400"/>
            <a:ext cx="349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AB978-2EB7-41BB-B99B-06E8F0A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E40C7-E0D2-485A-AB00-CDD951F8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4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D370D-D3AD-4D7D-A6F1-287423FE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31791-BC43-4AF2-BA4D-E4B5294D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349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4F9AD-F29F-4DC7-9FF5-652B0E36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2333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0102B-196A-4054-93CA-1543A094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375" y="254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501D4-9901-4D3C-80C3-0C04E812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28956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B4FB3-3CD4-4F4F-A8B9-C1EE7023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2819400"/>
            <a:ext cx="349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70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8ED88-D4FD-4903-8A42-4D95F204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3336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9B716-AEAE-4F1B-95C7-5BD7B07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254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64915-C66F-4D9C-A29D-CD5F568C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5350" y="2895600"/>
            <a:ext cx="981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Research</a:t>
            </a:r>
          </a:p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B8F7A3-CEE5-44D0-8F81-23985F3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496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milestone should narrow uncertainty.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BDAE4-7526-4B15-9FD8-D4FC4D3F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245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38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 unsuccessful experiment can still support a better next question.</a:t>
            </a:r>
          </a:p>
        </p:txBody>
      </p:sp>
    </p:spTree>
    <p:extLst>
      <p:ext uri="{BB962C8B-B14F-4D97-AF65-F5344CB8AC3E}">
        <p14:creationId xmlns:p14="http://schemas.microsoft.com/office/powerpoint/2010/main" val="5486996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FA7CE-89EF-4D4D-8CB8-9A687D0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From interest to research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6BAF8-ECB0-4331-965A-0718ADCF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D08E2-5914-4CDA-9BBB-B1007AFF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D986D-F77E-4E77-B7BE-066D751A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ED67B-ADA5-473A-8517-54D419F4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Application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B40F2-E7DE-4D73-9810-788ABF8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Industrial maintenance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2E870-F42F-4981-9541-D3CCC5C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050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25A51-E9C7-4514-AD0B-43C04DFF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Observable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C3261-3811-489F-B25A-2478CB08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621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Early bearing-fault detection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0595D-A777-4F6B-9E58-1C89AD22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CEB66-B7EA-4718-BC1D-B75914D1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Feasible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C627A-FBCC-4311-A472-1E52661A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32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Classify fixed sensor windows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FABB9-65DA-4802-8526-9207644D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671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E6305-A429-45DC-9A2B-7648FDF5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Credible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21A97-96D1-40C2-813D-B3CD9E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242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Spectral features with logistic 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D7AF3-ADCD-48E6-B6AE-A22BE8B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2C134-AF4C-44E7-A029-C59FDCC0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Unresolved question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BDCCC-BA84-48B7-95A9-9FF8530B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Performance changes under varying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F2AF2-9B94-4258-AFB7-B3BFA3EF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292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AD5B6-5F13-4DFA-B493-9DFB3885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Next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83172-23DE-471E-8C87-E24B01D6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Test a representation robust to load variation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159F8-582C-423D-8794-B8CAA36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53125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 useful direction identifies the next answerable question.</a:t>
            </a:r>
          </a:p>
        </p:txBody>
      </p:sp>
    </p:spTree>
    <p:extLst>
      <p:ext uri="{BB962C8B-B14F-4D97-AF65-F5344CB8AC3E}">
        <p14:creationId xmlns:p14="http://schemas.microsoft.com/office/powerpoint/2010/main" val="1003448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F4F72-407C-470D-BDE8-91656DB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1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71B41-E495-4F85-8EC3-284AD07A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FE070-B754-4638-A34E-8A46886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2E4D9-574B-4FD1-99FB-D9F54160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304FA-B644-49F9-9E2D-C8424BD4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RESEARCH-INTEREST MEMO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0ECDA-0D64-400C-91BB-D19B6811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0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7388D-B7B1-4BEB-8F0A-8B4E869B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592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possible application or methodological areas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0D10D-96E4-40C5-AA5A-B363CF69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06C80-259E-407E-826D-3707B3BA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47950"/>
            <a:ext cx="592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plausible task and data source for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56B51-A61C-4846-8525-6ECF3DA9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9403B-BF2F-41FF-8484-30529EBD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95650"/>
            <a:ext cx="592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difficulty or risk for 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6CE9D-23CD-4EDC-A958-04297D75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BD386-06CF-4B39-9765-2F0E26F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943350"/>
            <a:ext cx="592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area selected for further investigation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10567-332C-4A74-A4EC-EA9ACEDC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60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47E10-CAEA-4FE6-BD46-ED306EC5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2C221-EB3B-462A-8739-422E943A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9550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Application goal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Learning task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Required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DEBD0-EB24-4EE5-8FFE-0C504BB5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Next class: generalization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1271221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2026-09-04T22:00:45.9040000Z</dcterms:created>
  <dcterms:modified xsi:type="dcterms:W3CDTF">2026-09-04T22:00:45.9040000Z</dcterms:modified>
</coreProperties>
</file>