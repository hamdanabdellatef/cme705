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a93e149f14066" /><Relationship Type="http://schemas.openxmlformats.org/officeDocument/2006/relationships/extended-properties" Target="/docProps/app.xml" Id="Re6808fb3579d4798" /><Relationship Type="http://schemas.openxmlformats.org/officeDocument/2006/relationships/officeDocument" Target="/ppt/presentation.xml" Id="R51451cba00b349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a24761d5f4cdc"/>
  </p:sldMasterIdLst>
  <p:notesMasterIdLst>
    <p:notesMasterId xmlns:r="http://schemas.openxmlformats.org/officeDocument/2006/relationships" r:id="R951874aee9c14c32"/>
  </p:notesMasterIdLst>
  <p:sldIdLst>
    <p:sldId xmlns:r="http://schemas.openxmlformats.org/officeDocument/2006/relationships" id="256" r:id="R5336294ada3e4f62"/>
    <p:sldId xmlns:r="http://schemas.openxmlformats.org/officeDocument/2006/relationships" id="257" r:id="R75a5cf4009e54ab4"/>
    <p:sldId xmlns:r="http://schemas.openxmlformats.org/officeDocument/2006/relationships" id="258" r:id="R34e41e8a70374aea"/>
    <p:sldId xmlns:r="http://schemas.openxmlformats.org/officeDocument/2006/relationships" id="259" r:id="R3d1850eed6b34dd9"/>
    <p:sldId xmlns:r="http://schemas.openxmlformats.org/officeDocument/2006/relationships" id="260" r:id="R741d7dd4b72648b1"/>
    <p:sldId xmlns:r="http://schemas.openxmlformats.org/officeDocument/2006/relationships" id="261" r:id="R2a308f6614c84a05"/>
    <p:sldId xmlns:r="http://schemas.openxmlformats.org/officeDocument/2006/relationships" id="262" r:id="R5e20090d907247ab"/>
    <p:sldId xmlns:r="http://schemas.openxmlformats.org/officeDocument/2006/relationships" id="263" r:id="R19f387c6f5ab46f9"/>
    <p:sldId xmlns:r="http://schemas.openxmlformats.org/officeDocument/2006/relationships" id="264" r:id="Rbbd18bcac9fc4287"/>
    <p:sldId xmlns:r="http://schemas.openxmlformats.org/officeDocument/2006/relationships" id="265" r:id="R8d4ba4ef33f84e51"/>
    <p:sldId xmlns:r="http://schemas.openxmlformats.org/officeDocument/2006/relationships" id="266" r:id="Rd6acc5903cc74959"/>
    <p:sldId xmlns:r="http://schemas.openxmlformats.org/officeDocument/2006/relationships" id="267" r:id="Rc3b977bf0c1b49ce"/>
    <p:sldId xmlns:r="http://schemas.openxmlformats.org/officeDocument/2006/relationships" id="268" r:id="R1e1da7644a134692"/>
    <p:sldId xmlns:r="http://schemas.openxmlformats.org/officeDocument/2006/relationships" id="269" r:id="Rc3d46cbd406e45a4"/>
    <p:sldId xmlns:r="http://schemas.openxmlformats.org/officeDocument/2006/relationships" id="270" r:id="R8be069fab6c542f8"/>
    <p:sldId xmlns:r="http://schemas.openxmlformats.org/officeDocument/2006/relationships" id="271" r:id="R137bc3e550584cba"/>
    <p:sldId xmlns:r="http://schemas.openxmlformats.org/officeDocument/2006/relationships" id="272" r:id="Re22369d2623c48d2"/>
    <p:sldId xmlns:r="http://schemas.openxmlformats.org/officeDocument/2006/relationships" id="273" r:id="R7ea1054c72e845fa"/>
    <p:sldId xmlns:r="http://schemas.openxmlformats.org/officeDocument/2006/relationships" id="274" r:id="R98528e48ec044d47"/>
    <p:sldId xmlns:r="http://schemas.openxmlformats.org/officeDocument/2006/relationships" id="275" r:id="Rbb4674ddd910492c"/>
    <p:sldId xmlns:r="http://schemas.openxmlformats.org/officeDocument/2006/relationships" id="276" r:id="Ra253c9e180684b7e"/>
    <p:sldId xmlns:r="http://schemas.openxmlformats.org/officeDocument/2006/relationships" id="277" r:id="R37747b7b9234456d"/>
    <p:sldId xmlns:r="http://schemas.openxmlformats.org/officeDocument/2006/relationships" id="278" r:id="R66d283abfc3d4cfb"/>
    <p:sldId xmlns:r="http://schemas.openxmlformats.org/officeDocument/2006/relationships" id="279" r:id="R3345de2aa9ab48ad"/>
    <p:sldId xmlns:r="http://schemas.openxmlformats.org/officeDocument/2006/relationships" id="280" r:id="R6343a6795e2f42ea"/>
    <p:sldId xmlns:r="http://schemas.openxmlformats.org/officeDocument/2006/relationships" id="281" r:id="Rf5b14be082144c6a"/>
    <p:sldId xmlns:r="http://schemas.openxmlformats.org/officeDocument/2006/relationships" id="282" r:id="R7d6b1c57bb9d41d5"/>
    <p:sldId xmlns:r="http://schemas.openxmlformats.org/officeDocument/2006/relationships" id="283" r:id="R6f0c2d8fac7f4693"/>
    <p:sldId xmlns:r="http://schemas.openxmlformats.org/officeDocument/2006/relationships" id="284" r:id="R6be3ca3320764864"/>
    <p:sldId xmlns:r="http://schemas.openxmlformats.org/officeDocument/2006/relationships" id="285" r:id="R295bac56a16c4b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e4f1d6d874f70" /><Relationship Type="http://schemas.openxmlformats.org/officeDocument/2006/relationships/slideMaster" Target="/ppt/slideMasters/slideMaster1.xml" Id="R8c5a24761d5f4cdc" /><Relationship Type="http://schemas.openxmlformats.org/officeDocument/2006/relationships/notesMaster" Target="/ppt/notesMasters/notesMaster1.xml" Id="R951874aee9c14c32" /><Relationship Type="http://schemas.openxmlformats.org/officeDocument/2006/relationships/presProps" Target="/ppt/presProps.xml" Id="R186a352c43ec4ac0" /><Relationship Type="http://schemas.openxmlformats.org/officeDocument/2006/relationships/tableStyles" Target="/ppt/tableStyles.xml" Id="R947c63e074834b0e" /><Relationship Type="http://schemas.openxmlformats.org/officeDocument/2006/relationships/slide" Target="/ppt/slides/slide1.xml" Id="R5336294ada3e4f62" /><Relationship Type="http://schemas.openxmlformats.org/officeDocument/2006/relationships/slide" Target="/ppt/slides/slide2.xml" Id="R75a5cf4009e54ab4" /><Relationship Type="http://schemas.openxmlformats.org/officeDocument/2006/relationships/slide" Target="/ppt/slides/slide3.xml" Id="R34e41e8a70374aea" /><Relationship Type="http://schemas.openxmlformats.org/officeDocument/2006/relationships/slide" Target="/ppt/slides/slide4.xml" Id="R3d1850eed6b34dd9" /><Relationship Type="http://schemas.openxmlformats.org/officeDocument/2006/relationships/slide" Target="/ppt/slides/slide5.xml" Id="R741d7dd4b72648b1" /><Relationship Type="http://schemas.openxmlformats.org/officeDocument/2006/relationships/slide" Target="/ppt/slides/slide6.xml" Id="R2a308f6614c84a05" /><Relationship Type="http://schemas.openxmlformats.org/officeDocument/2006/relationships/slide" Target="/ppt/slides/slide7.xml" Id="R5e20090d907247ab" /><Relationship Type="http://schemas.openxmlformats.org/officeDocument/2006/relationships/slide" Target="/ppt/slides/slide8.xml" Id="R19f387c6f5ab46f9" /><Relationship Type="http://schemas.openxmlformats.org/officeDocument/2006/relationships/slide" Target="/ppt/slides/slide9.xml" Id="Rbbd18bcac9fc4287" /><Relationship Type="http://schemas.openxmlformats.org/officeDocument/2006/relationships/slide" Target="/ppt/slides/slide10.xml" Id="R8d4ba4ef33f84e51" /><Relationship Type="http://schemas.openxmlformats.org/officeDocument/2006/relationships/slide" Target="/ppt/slides/slide11.xml" Id="Rd6acc5903cc74959" /><Relationship Type="http://schemas.openxmlformats.org/officeDocument/2006/relationships/slide" Target="/ppt/slides/slide12.xml" Id="Rc3b977bf0c1b49ce" /><Relationship Type="http://schemas.openxmlformats.org/officeDocument/2006/relationships/slide" Target="/ppt/slides/slide13.xml" Id="R1e1da7644a134692" /><Relationship Type="http://schemas.openxmlformats.org/officeDocument/2006/relationships/slide" Target="/ppt/slides/slide14.xml" Id="Rc3d46cbd406e45a4" /><Relationship Type="http://schemas.openxmlformats.org/officeDocument/2006/relationships/slide" Target="/ppt/slides/slide15.xml" Id="R8be069fab6c542f8" /><Relationship Type="http://schemas.openxmlformats.org/officeDocument/2006/relationships/slide" Target="/ppt/slides/slide16.xml" Id="R137bc3e550584cba" /><Relationship Type="http://schemas.openxmlformats.org/officeDocument/2006/relationships/slide" Target="/ppt/slides/slide17.xml" Id="Re22369d2623c48d2" /><Relationship Type="http://schemas.openxmlformats.org/officeDocument/2006/relationships/slide" Target="/ppt/slides/slide18.xml" Id="R7ea1054c72e845fa" /><Relationship Type="http://schemas.openxmlformats.org/officeDocument/2006/relationships/slide" Target="/ppt/slides/slide19.xml" Id="R98528e48ec044d47" /><Relationship Type="http://schemas.openxmlformats.org/officeDocument/2006/relationships/slide" Target="/ppt/slides/slide20.xml" Id="Rbb4674ddd910492c" /><Relationship Type="http://schemas.openxmlformats.org/officeDocument/2006/relationships/slide" Target="/ppt/slides/slide21.xml" Id="Ra253c9e180684b7e" /><Relationship Type="http://schemas.openxmlformats.org/officeDocument/2006/relationships/slide" Target="/ppt/slides/slide22.xml" Id="R37747b7b9234456d" /><Relationship Type="http://schemas.openxmlformats.org/officeDocument/2006/relationships/slide" Target="/ppt/slides/slide23.xml" Id="R66d283abfc3d4cfb" /><Relationship Type="http://schemas.openxmlformats.org/officeDocument/2006/relationships/slide" Target="/ppt/slides/slide24.xml" Id="R3345de2aa9ab48ad" /><Relationship Type="http://schemas.openxmlformats.org/officeDocument/2006/relationships/slide" Target="/ppt/slides/slide25.xml" Id="R6343a6795e2f42ea" /><Relationship Type="http://schemas.openxmlformats.org/officeDocument/2006/relationships/slide" Target="/ppt/slides/slide26.xml" Id="Rf5b14be082144c6a" /><Relationship Type="http://schemas.openxmlformats.org/officeDocument/2006/relationships/slide" Target="/ppt/slides/slide27.xml" Id="R7d6b1c57bb9d41d5" /><Relationship Type="http://schemas.openxmlformats.org/officeDocument/2006/relationships/slide" Target="/ppt/slides/slide28.xml" Id="R6f0c2d8fac7f4693" /><Relationship Type="http://schemas.openxmlformats.org/officeDocument/2006/relationships/slide" Target="/ppt/slides/slide29.xml" Id="R6be3ca3320764864" /><Relationship Type="http://schemas.openxmlformats.org/officeDocument/2006/relationships/slide" Target="/ppt/slides/slide30.xml" Id="R295bac56a16c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bb517399c9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f534b5b7f4f51" /><Relationship Type="http://schemas.openxmlformats.org/officeDocument/2006/relationships/notesMaster" Target="/ppt/notesMasters/notesMaster1.xml" Id="R38bfc67ddbc0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46222cd61142b8" /><Relationship Type="http://schemas.openxmlformats.org/officeDocument/2006/relationships/notesMaster" Target="/ppt/notesMasters/notesMaster1.xml" Id="R141b61e95945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485f63c14b4723" /><Relationship Type="http://schemas.openxmlformats.org/officeDocument/2006/relationships/notesMaster" Target="/ppt/notesMasters/notesMaster1.xml" Id="R0324a41e3abe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a9fd7acf7475b" /><Relationship Type="http://schemas.openxmlformats.org/officeDocument/2006/relationships/notesMaster" Target="/ppt/notesMasters/notesMaster1.xml" Id="Ra1ae5af9a7794c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5fcccf8637445f" /><Relationship Type="http://schemas.openxmlformats.org/officeDocument/2006/relationships/notesMaster" Target="/ppt/notesMasters/notesMaster1.xml" Id="R2d1fcb1ec33c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81af4c9964766" /><Relationship Type="http://schemas.openxmlformats.org/officeDocument/2006/relationships/notesMaster" Target="/ppt/notesMasters/notesMaster1.xml" Id="R5284fdf8b569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f87164b55846c6" /><Relationship Type="http://schemas.openxmlformats.org/officeDocument/2006/relationships/notesMaster" Target="/ppt/notesMasters/notesMaster1.xml" Id="R850ab28e6c6249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4f1017b9974f52" /><Relationship Type="http://schemas.openxmlformats.org/officeDocument/2006/relationships/notesMaster" Target="/ppt/notesMasters/notesMaster1.xml" Id="R3d4a6646993742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3df7d9c0e94614" /><Relationship Type="http://schemas.openxmlformats.org/officeDocument/2006/relationships/notesMaster" Target="/ppt/notesMasters/notesMaster1.xml" Id="Rbb94ba1799024f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5aab6ca72e40c1" /><Relationship Type="http://schemas.openxmlformats.org/officeDocument/2006/relationships/notesMaster" Target="/ppt/notesMasters/notesMaster1.xml" Id="Ra64e616f47634b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b16072818d4293" /><Relationship Type="http://schemas.openxmlformats.org/officeDocument/2006/relationships/notesMaster" Target="/ppt/notesMasters/notesMaster1.xml" Id="R2b92b355ff8649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17795e8618420c" /><Relationship Type="http://schemas.openxmlformats.org/officeDocument/2006/relationships/notesMaster" Target="/ppt/notesMasters/notesMaster1.xml" Id="Raa12db08241e43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d96722d48d46d4" /><Relationship Type="http://schemas.openxmlformats.org/officeDocument/2006/relationships/notesMaster" Target="/ppt/notesMasters/notesMaster1.xml" Id="R4e7871770d284b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c0b96af9c4464a" /><Relationship Type="http://schemas.openxmlformats.org/officeDocument/2006/relationships/notesMaster" Target="/ppt/notesMasters/notesMaster1.xml" Id="Rbf01c9c88ead47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29d9f2452f4f0d" /><Relationship Type="http://schemas.openxmlformats.org/officeDocument/2006/relationships/notesMaster" Target="/ppt/notesMasters/notesMaster1.xml" Id="Rcf63601d5ea145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871ad4a36f409e" /><Relationship Type="http://schemas.openxmlformats.org/officeDocument/2006/relationships/notesMaster" Target="/ppt/notesMasters/notesMaster1.xml" Id="R0b4fe2d44e8145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f9e55ebf62482c" /><Relationship Type="http://schemas.openxmlformats.org/officeDocument/2006/relationships/notesMaster" Target="/ppt/notesMasters/notesMaster1.xml" Id="Rfb5ba275426341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2f9dd80ed7411f" /><Relationship Type="http://schemas.openxmlformats.org/officeDocument/2006/relationships/notesMaster" Target="/ppt/notesMasters/notesMaster1.xml" Id="R787876147ead47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8797dacf43450b" /><Relationship Type="http://schemas.openxmlformats.org/officeDocument/2006/relationships/notesMaster" Target="/ppt/notesMasters/notesMaster1.xml" Id="R3532fc64c1f045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376526b6a0406a" /><Relationship Type="http://schemas.openxmlformats.org/officeDocument/2006/relationships/notesMaster" Target="/ppt/notesMasters/notesMaster1.xml" Id="R9e6d15e30cec43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e2bbdd04dd41fc" /><Relationship Type="http://schemas.openxmlformats.org/officeDocument/2006/relationships/notesMaster" Target="/ppt/notesMasters/notesMaster1.xml" Id="R04bf5fab799845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20dcaf080a44b3" /><Relationship Type="http://schemas.openxmlformats.org/officeDocument/2006/relationships/notesMaster" Target="/ppt/notesMasters/notesMaster1.xml" Id="R202ae3f6e87a46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6707e59cfa4beb" /><Relationship Type="http://schemas.openxmlformats.org/officeDocument/2006/relationships/notesMaster" Target="/ppt/notesMasters/notesMaster1.xml" Id="Rb86f587e2baf41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857c7fe1877443a" /><Relationship Type="http://schemas.openxmlformats.org/officeDocument/2006/relationships/notesMaster" Target="/ppt/notesMasters/notesMaster1.xml" Id="Rd3657a3540a34c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5ea6ae4ef74229" /><Relationship Type="http://schemas.openxmlformats.org/officeDocument/2006/relationships/notesMaster" Target="/ppt/notesMasters/notesMaster1.xml" Id="Rbe26a1fac18042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91ff3ed9e947c8" /><Relationship Type="http://schemas.openxmlformats.org/officeDocument/2006/relationships/notesMaster" Target="/ppt/notesMasters/notesMaster1.xml" Id="Rd23b8e8bec1e41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1cc5a1fca74e69" /><Relationship Type="http://schemas.openxmlformats.org/officeDocument/2006/relationships/notesMaster" Target="/ppt/notesMasters/notesMaster1.xml" Id="R8f025e7a02944c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d479b8242d4382" /><Relationship Type="http://schemas.openxmlformats.org/officeDocument/2006/relationships/notesMaster" Target="/ppt/notesMasters/notesMaster1.xml" Id="Rd83c95e13e8647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914b655e0e44262" /><Relationship Type="http://schemas.openxmlformats.org/officeDocument/2006/relationships/notesMaster" Target="/ppt/notesMasters/notesMaster1.xml" Id="R2544dd698f4d4b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34ffc54e9c04908" /><Relationship Type="http://schemas.openxmlformats.org/officeDocument/2006/relationships/notesMaster" Target="/ppt/notesMasters/notesMaster1.xml" Id="Rcce460d964b244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Ask: how can a model compress observations, assign probability, or generate new examples, and what evidence shows the learned distribution is useful? The illustration is an original generated course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Every row produces a calculation, protocol audit, or falsifiable claim. Point students to the worksheet before naming recent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which claim each student's project makes. Sample realism, normalized probability, latent utility, and novelty require different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The same architecture can participate in several probabilistic systems. Require the mathematical object, training objective, and sampling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Keep representation and generation claims separate. A deterministic autoencoder needs a meaningful latent distribution before arbitrary latent sampling becomes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what prevents identity copying in the proposed design: dimensionality, noise, sparsity, architecture, or regularization. None automatically guarantees semantic factors.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calculate spatial dimensions and parameter locations. The offline audit verifies both deterministic and variational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Multiply a four-factor example. Changing order changes conditional difficulty. Exact chain-rule likelihood does not make generation parallel.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Teacher forcing exposes true histories during training. Sampling temperature and truncation change the generated distribution and belong in the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Name prior, approximate posterior, and decoder. The marginal integral and true posterior motivate variational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Derive the bound with Jensen's inequality. The reconstruction term is a conditional log likelihood; the KL term also makes prior sampling meaningful.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Use zero noise to show the sample equals the mean. Then calculate the one-dimensional KL example from the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Increasing beta strengthens prior matching but can lose detail. Monitor KL per dimension and active units rather than assuming a small KL is good.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Run audit-only first. Compare AE and VAE reconstruction carefully because the VAE objective also contains KL and stochastic sampling.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Assign students to generator and discriminator roles. Each player's improvement changes the other's objective, creating a non-stationary optimization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StyleGAN2-ADA addresses discriminator overfitting in limited-data settings. Coverage and memorization still need separate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Trace density evaluation from x to z and sampling through the inverse. The Jacobian corrects probability mass under local expansion or contraction.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The worksheet uses z equals 3x minus 2. Ask students to write both the log-density correction and inverse sampler.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energy is unnormalized. The negative phase needs representative model samples; poor Markov-chain mixing biases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forward process is fixed. Alpha-bar decreases as noise accumulates. The network is trained to support reversal, not to learn how to add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Students calculate the signal and noise coefficients, corrupted value, and one-element noise-prediction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Training chooses a clean example, random time, and random noise. The network predicts a reverse-relevant target; epsilon is one common parameterization.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denoiser and scheduler are separate components. Changing steps at inference changes the sampling protocol without retraining the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score points toward increasing noisy-data density. For Gaussian corruption, predicted noise gives the conditional score up to a known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Run audit-only before any download. The public checkpoint uses CIFAR-10; students record revision, device, scheduler, steps, timing, and sample-selection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FID is finite-sample and implementation sensitive. A metric card must accompany every number; use precision and recall or task-specific evidence for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Sources: StyleGAN2-ADA, DDPM, score-SDE, EDM, and Consistency Models. Use the table to practice protocol questions, not to declare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Latent diffusion, DiT, EDM, consistency, and flow matching modify different components. Separate representation, backbone, training target, and sampler.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Modern systems combine components from several families. Ask students to identify the bottleneck and define a one-factor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Collect one predeclared ablation and rejection condition. Students should leave with a map of mathematical objects and evidence, not a ranking of model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02ed3bbf4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1547ba4a6435d" /><Relationship Type="http://schemas.openxmlformats.org/officeDocument/2006/relationships/slideLayout" Target="/ppt/slideLayouts/slideLayout1.xml" Id="Ra91d1ee7cc484c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1d1ee7cc484c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8b9867d944d83" /><Relationship Type="http://schemas.openxmlformats.org/officeDocument/2006/relationships/image" Target="/ppt/media/image.png" Id="R8d4264cce66448c5" /><Relationship Type="http://schemas.openxmlformats.org/officeDocument/2006/relationships/notesSlide" Target="/ppt/notesSlides/notesSlide1.xml" Id="R9b36d62565d040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57b40acf74e26" /><Relationship Type="http://schemas.openxmlformats.org/officeDocument/2006/relationships/notesSlide" Target="/ppt/notesSlides/notesSlide2.xml" Id="Rd6e1f9d6b4a643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b71ba3db04959" /><Relationship Type="http://schemas.openxmlformats.org/officeDocument/2006/relationships/notesSlide" Target="/ppt/notesSlides/notesSlide3.xml" Id="R6f6bdf83bdb04f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ce428d84d43e9" /><Relationship Type="http://schemas.openxmlformats.org/officeDocument/2006/relationships/notesSlide" Target="/ppt/notesSlides/notesSlide4.xml" Id="R0a8416d28fb741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9e08a07ec4790" /><Relationship Type="http://schemas.openxmlformats.org/officeDocument/2006/relationships/notesSlide" Target="/ppt/notesSlides/notesSlide5.xml" Id="R800cc374706149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1c7150691401a" /><Relationship Type="http://schemas.openxmlformats.org/officeDocument/2006/relationships/notesSlide" Target="/ppt/notesSlides/notesSlide6.xml" Id="R40a3637e2ed540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d2ef60da4f96" /><Relationship Type="http://schemas.openxmlformats.org/officeDocument/2006/relationships/notesSlide" Target="/ppt/notesSlides/notesSlide7.xml" Id="R573ea803a70345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f62aa7b5b4db4" /><Relationship Type="http://schemas.openxmlformats.org/officeDocument/2006/relationships/notesSlide" Target="/ppt/notesSlides/notesSlide8.xml" Id="Rf6b07b0b3ff0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8e6deff85433b" /><Relationship Type="http://schemas.openxmlformats.org/officeDocument/2006/relationships/notesSlide" Target="/ppt/notesSlides/notesSlide9.xml" Id="R4133523d9c33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6a063fd5341a6" /><Relationship Type="http://schemas.openxmlformats.org/officeDocument/2006/relationships/notesSlide" Target="/ppt/notesSlides/notesSlide10.xml" Id="R1f4c81dc381346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0d328ea2c4037" /><Relationship Type="http://schemas.openxmlformats.org/officeDocument/2006/relationships/notesSlide" Target="/ppt/notesSlides/notesSlide11.xml" Id="Rca3ba4dca97c4c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fecfe19f343f1" /><Relationship Type="http://schemas.openxmlformats.org/officeDocument/2006/relationships/notesSlide" Target="/ppt/notesSlides/notesSlide12.xml" Id="R311ce23d0cf844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124c558b24fcb" /><Relationship Type="http://schemas.openxmlformats.org/officeDocument/2006/relationships/notesSlide" Target="/ppt/notesSlides/notesSlide13.xml" Id="Rfa700b0311d146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5e67432fe4ab4" /><Relationship Type="http://schemas.openxmlformats.org/officeDocument/2006/relationships/notesSlide" Target="/ppt/notesSlides/notesSlide14.xml" Id="R8bbc33a5bdfc4a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ef0699695443d" /><Relationship Type="http://schemas.openxmlformats.org/officeDocument/2006/relationships/notesSlide" Target="/ppt/notesSlides/notesSlide15.xml" Id="Rb3175e9af4db4f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1ff0f2ee443d8" /><Relationship Type="http://schemas.openxmlformats.org/officeDocument/2006/relationships/notesSlide" Target="/ppt/notesSlides/notesSlide16.xml" Id="R26ae0a3250b146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4fa2b65c044bb" /><Relationship Type="http://schemas.openxmlformats.org/officeDocument/2006/relationships/notesSlide" Target="/ppt/notesSlides/notesSlide17.xml" Id="R6a304fdd6d9c45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b3d8267b6439a" /><Relationship Type="http://schemas.openxmlformats.org/officeDocument/2006/relationships/notesSlide" Target="/ppt/notesSlides/notesSlide18.xml" Id="Rd86635f1c0e443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5d65bf9904621" /><Relationship Type="http://schemas.openxmlformats.org/officeDocument/2006/relationships/notesSlide" Target="/ppt/notesSlides/notesSlide19.xml" Id="Rba41b2f068d24f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961001fa14520" /><Relationship Type="http://schemas.openxmlformats.org/officeDocument/2006/relationships/notesSlide" Target="/ppt/notesSlides/notesSlide20.xml" Id="R8bbce79b452542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a2339f8a643f5" /><Relationship Type="http://schemas.openxmlformats.org/officeDocument/2006/relationships/notesSlide" Target="/ppt/notesSlides/notesSlide21.xml" Id="R6ea00f5c438141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9f176f6b47c9" /><Relationship Type="http://schemas.openxmlformats.org/officeDocument/2006/relationships/notesSlide" Target="/ppt/notesSlides/notesSlide22.xml" Id="R93445ca3b6cd41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9586dd44b4d28" /><Relationship Type="http://schemas.openxmlformats.org/officeDocument/2006/relationships/notesSlide" Target="/ppt/notesSlides/notesSlide23.xml" Id="Ra928ef48fdec48a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59bc44ba244cc" /><Relationship Type="http://schemas.openxmlformats.org/officeDocument/2006/relationships/notesSlide" Target="/ppt/notesSlides/notesSlide24.xml" Id="Rf8a1c259715443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71ae3d1474a84" /><Relationship Type="http://schemas.openxmlformats.org/officeDocument/2006/relationships/notesSlide" Target="/ppt/notesSlides/notesSlide25.xml" Id="R802210327d3748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48787c33941cf" /><Relationship Type="http://schemas.openxmlformats.org/officeDocument/2006/relationships/notesSlide" Target="/ppt/notesSlides/notesSlide26.xml" Id="R9beea724538841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4c25fa73a421c" /><Relationship Type="http://schemas.openxmlformats.org/officeDocument/2006/relationships/notesSlide" Target="/ppt/notesSlides/notesSlide27.xml" Id="R69f3df9223f742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43b52f151406c" /><Relationship Type="http://schemas.openxmlformats.org/officeDocument/2006/relationships/notesSlide" Target="/ppt/notesSlides/notesSlide28.xml" Id="R6748464eb790400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b478043044f78" /><Relationship Type="http://schemas.openxmlformats.org/officeDocument/2006/relationships/notesSlide" Target="/ppt/notesSlides/notesSlide29.xml" Id="Rb6d7218d48e846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f6be42de46d5" /><Relationship Type="http://schemas.openxmlformats.org/officeDocument/2006/relationships/notesSlide" Target="/ppt/notesSlides/notesSlide30.xml" Id="R273735a40e1f44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264cce66448c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A9040-9729-4936-A977-7078E885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2549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454AB-7594-480F-9498-05C90C5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A7E6F-E75D-4F90-ABC1-1717C2E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E3FDE-7951-4358-8A2F-D19854BF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A4F89-8C26-4F79-9DED-7200A37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E0A50-8B39-4D83-BF66-C9ADB576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Autoencoders and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generative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306F8-EF88-4A26-B196-3649ED14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453406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A618D0-B00C-4408-A1E4-8F52C2E2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Today’s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CF35B-28E7-4962-ADC1-455D8615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E7696-1EDA-4F46-A4B4-5A035947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6A336-C8A2-435E-BEE4-34D27F97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B4EA0-EC12-4D31-8DDA-425F6A52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1E0B6-5041-4F2E-B94A-5D102172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52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Autoencoder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40CCC-1AC0-4F24-9D13-1F6C427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shape trace and bottleneck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DE625-7393-4D9B-85B9-803121B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811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5F266-30C0-4979-A6FE-56AD3B2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68B95-10A7-4C08-A082-0611FDA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Autoregression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AF63B-5F76-407C-9123-EAEB4894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joint probability as legal factors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F2520-F9EC-4228-85B0-FCF4421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717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944AF-5D38-4F67-ACCE-704751C5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F440F-CE3E-4707-AEEA-7F58326B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33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8023-3A46-4DB1-85D9-F4B46F4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ELBO, KL, and reparameterization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96809-443C-45C6-91AB-50402E04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622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3EBC5-EC5B-4886-91CC-F54B5C40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9CC73-8CB2-4BC6-9B4D-1B4F9FD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24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17901-51B9-480A-9743-0A76204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two-player objective and failure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1B0D8-4CE9-4372-A6D4-D1BB4A50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528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984B2-9077-441B-806C-A723D70D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181E8-1761-4E0F-BD4C-2B8E8CA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786F6-B4F6-4CB9-ADE8-98336C6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invertible map and Jacobian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D92B48-0B6B-4C33-903B-4C6BEBB9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433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0B048-CF54-4662-9FA9-475FD1E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0B6F7-B15C-4623-84A5-2E820A13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Diffusion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8FBEF-73A9-4964-8283-2782659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corruption, denoising, and sampler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44A0B-4A31-4AAB-9C31-BB53449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339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AD6AA-1CE2-4287-B9E4-92A26BF9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2CD1B-440B-4D45-BD8A-309D73C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95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270BC-7BE7-4FF0-BE4F-8BDBC491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positive and negative phases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06308-0800-4D8A-A884-1BF1A64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244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B79F9-B210-4AE5-8D53-5F8FA02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9AD6F3-10D2-4461-A8E9-D8279CF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6E51EC-AB03-4CA1-9AE6-9F409E49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benchmark-qualified ablation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9559A-13CC-4169-A6F3-FEC23464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150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0205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37198-5987-44F3-8FA0-E154C32E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Start with the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77AD-42FC-4AB7-BDE2-B196A4F0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9E71A-132A-4B73-AF88-D0A57B7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8AA0-7D99-4CFF-B2E2-14488962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52500" y="1381125"/>
          <a:ext xmlns:a="http://schemas.openxmlformats.org/drawingml/2006/main" cx="10287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572250"/>
              </a:tblGrid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Claim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needed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useful representation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downstream or robustness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high likelihood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density + preprocessing protocol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realistic samples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fidelity and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conditional control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alignment and quality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novelty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training-set similarity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60BAE-4F2C-4453-8C9E-7EAB3ECE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3BE4C-9143-4E19-BFF8-78949650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721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A selected sample grid does not establish distribution coverage.</a:t>
            </a:r>
          </a:p>
        </p:txBody>
      </p:sp>
    </p:spTree>
    <p:extLst>
      <p:ext uri="{BB962C8B-B14F-4D97-AF65-F5344CB8AC3E}">
        <p14:creationId xmlns:p14="http://schemas.microsoft.com/office/powerpoint/2010/main" val="1350311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DA7795-E63E-4BE9-BEB2-3A8E852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 objects organize the field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C8AF9-8B27-49CB-91AF-F320338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F4243-C4B1-40E4-B9FA-006B0D3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FE088-B97B-4F2B-BDA6-C9F17FC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6993F-1B6B-4D00-B187-5D30AEFF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00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8C0F4-2517-4813-BB8E-113FC7E5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F66E5-21C4-4B17-9C0B-A84C6D6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pθ(x)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23D0E-489E-4B3F-A95B-F94A0F7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14500"/>
            <a:ext cx="200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4A72B-9380-4D2E-B80C-BE7CD9C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52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LATENT JOINT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97CD6-6DBA-4728-A368-4BD7E77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24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pθ(x,z)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7A83A-DB00-4451-9599-FE68B7C3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200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ABEF-E1DA-4838-948F-D94B3F5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52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SAMPLER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0E940-A676-4D39-B339-18CA793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24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 = Gθ(z)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22C38-174D-486E-B990-F11E6CD5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14500"/>
            <a:ext cx="200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DA062-2D40-4E98-B16D-1A3F34C2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6C78A-65A6-4A29-B649-1C463D5E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24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∇x log pt(x)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04E-5AB1-48E4-BB88-1F910EC7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14500"/>
            <a:ext cx="200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40369-7B86-4E76-A5FA-0F80A8C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52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2F064-7BB8-459F-B00C-77CCC03E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24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Eθ(x)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D3B99-3ED2-4168-B9D7-CEB6B145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6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16096-9950-4D78-A095-F01AD0D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trained?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E204D-9F4D-460D-A773-3B6CC39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76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F895E-2EFD-4256-8E86-575F2BCA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62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tractable?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D67A0-245C-4386-96C1-C31D101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631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FC6B7C-FAF6-4723-9C21-ED580102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is sampling done?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DA504-2A3E-4C14-8130-DB0AE7A9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7D262D-F818-4696-ABF5-7535524C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562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42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can the metric miss?</a:t>
            </a:r>
          </a:p>
        </p:txBody>
      </p:sp>
    </p:spTree>
    <p:extLst>
      <p:ext uri="{BB962C8B-B14F-4D97-AF65-F5344CB8AC3E}">
        <p14:creationId xmlns:p14="http://schemas.microsoft.com/office/powerpoint/2010/main" val="742839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05CA8-0D62-417E-BE66-DE6EC5A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Deterministic autoencoder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E42D5-0D87-4BCB-9165-0553F16E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6CA35-16B2-4E26-88A8-0AC47C73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15209-0DB1-45E3-B7DB-45E694B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AC671-FBB9-4A3A-A464-E0F4982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3C760-E3B3-4D96-8E32-B312C3B4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066E8-BE1D-4AFE-89A4-B3A2A10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A0A80-2F1E-4B70-9D1E-CEA6776F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4C935-A53E-406E-BCC5-429EAF4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8DD8D-917B-4E12-97FC-2C0F0573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BC923-4DCB-41D6-AFBF-A48FD56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14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 = fφ(x)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6F6EA-5116-4A32-9C09-9D6FF0FA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0B6E0-59F7-4744-A585-599477D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45906-88E2-48ED-A27E-C3E151F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14017-28FE-4C3F-AFCA-72F72EF3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14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x̂ = gθ(z)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61F32-8DE6-485C-B08F-3BB344A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29125"/>
            <a:ext cx="7524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8A2FA-9923-480C-9CF9-9950996B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863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LAE = ‖x − gθ(fφ(x))‖²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56844-7C50-4868-976A-355B1192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The bottleneck preserves information rewarded by the reconstruction loss.</a:t>
            </a:r>
          </a:p>
        </p:txBody>
      </p:sp>
    </p:spTree>
    <p:extLst>
      <p:ext uri="{BB962C8B-B14F-4D97-AF65-F5344CB8AC3E}">
        <p14:creationId xmlns:p14="http://schemas.microsoft.com/office/powerpoint/2010/main" val="1456855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6222A-03E3-401A-A47F-299C02C1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bottleneck is a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00957-7E0C-4533-A1BB-9B959C5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D01DF-C036-4D8F-A529-7777E5D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4BB72-9AE0-45D8-A92D-DFA3D21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9625" y="1524000"/>
          <a:ext xmlns:a="http://schemas.openxmlformats.org/drawingml/2006/main" cx="10572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14750"/>
                <a:gridCol w="3429000"/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 small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constraint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 large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loses rare detail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preserves stable structure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may copy inputs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blurry reconstruction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supports transfer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may memorize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weak downstream utility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robust latent features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irregular latent space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D9785-9F37-4DB1-8BA9-653C7E64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A5A9F-0FE1-4E1D-A9FA-B7E0BDF1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054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 reconstruction loss ≠ semantic factors ≠ novelty ≠ calibrated density</a:t>
            </a:r>
          </a:p>
        </p:txBody>
      </p:sp>
    </p:spTree>
    <p:extLst>
      <p:ext uri="{BB962C8B-B14F-4D97-AF65-F5344CB8AC3E}">
        <p14:creationId xmlns:p14="http://schemas.microsoft.com/office/powerpoint/2010/main" val="1501269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A67B9-0504-41D8-BD1B-03662EA3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Convolutional shape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7B35F-9131-4799-AC3A-7C516D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9B227-DD76-4E5D-AF4E-A4BFAABC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0FAB0-C3DE-4BC9-B249-C5E0EABB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476375" y="1285875"/>
          <a:ext xmlns:a="http://schemas.openxmlformats.org/drawingml/2006/main" cx="923925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476250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Tensor shape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Fashion-MNIST image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1, 28, 28)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stride-2 conv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16, 14, 14)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stride-2 conv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32, 7, 7)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flatten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1568)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latent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dz)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reconstruction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1, 28, 28)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48677-7CFA-45CB-B482-3BA8CC8C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533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69496-9144-4FCE-844F-0B595B74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91225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shapes before downloading data</a:t>
            </a:r>
          </a:p>
        </p:txBody>
      </p:sp>
    </p:spTree>
    <p:extLst>
      <p:ext uri="{BB962C8B-B14F-4D97-AF65-F5344CB8AC3E}">
        <p14:creationId xmlns:p14="http://schemas.microsoft.com/office/powerpoint/2010/main" val="1953974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A4177-30EB-4F05-99F2-21E25BF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Autoregressive chain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D9AB0-205A-49C6-8316-7C0F0ABA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AC69C-F9D3-4991-B028-46787410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3D965-9B1D-445A-9860-12591C0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C3EC7-B577-48B6-99D4-A648C471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FBAA6-15F1-43E4-ACFB-A1FBB34A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pθ(x) = ∏ᵢ pθ(xᵢ | x&lt;ᵢ)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C7DF7-940F-4679-8025-6DE9AC2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238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8BDB9-4CC8-41CD-A4F9-28A137EF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p(x₁)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24534-35CA-4DB3-BC38-45092790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148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B4E69-45C7-45FA-B1AD-32B183AA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238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B8E85-DBB5-479A-9AEC-D85B2457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52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p(x₂|x₁)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8B685-CF77-48DD-B029-09D110B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148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C6DCD-E914-49E3-A449-2D85966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238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EF9DD-1940-46CC-BA28-63816694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52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p(x₃|x&lt;3)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74D74-3F6B-4D4D-9162-F70B503B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148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C30C6-AA67-401E-A2AE-F70FE593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238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752E7-636E-45FA-985A-2ABEDD9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p(x₄|x&lt;4)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C8C4B-804B-4257-980C-9747F2E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768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Exact normalized conditionals; ordering defines the prediction tasks.</a:t>
            </a:r>
          </a:p>
        </p:txBody>
      </p:sp>
    </p:spTree>
    <p:extLst>
      <p:ext uri="{BB962C8B-B14F-4D97-AF65-F5344CB8AC3E}">
        <p14:creationId xmlns:p14="http://schemas.microsoft.com/office/powerpoint/2010/main" val="1167602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73578-D9A5-4115-841C-773DDA60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Parallel training, serial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48871-89AD-41ED-8EB3-E6249E0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E9FFB-F59C-4A78-BF01-F703C68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0D6A2-566B-4B8C-AFB2-2BC037E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50859-D490-4B9D-AFD6-32E1FC9D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D5230-F848-47D2-9F24-C16EDCAB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0B204-C005-4414-B095-9679B09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known previous 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D0353-7A7E-41AE-BD21-86E428B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48EF6-C309-44E7-81C2-FE25A15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90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11BA1-67C0-42D4-86EE-74B20EF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90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6EA21-B5B1-4D39-AB5B-B7090FD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FCF13-D3AA-49DC-844D-56D3FFF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90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04DA9-D10E-4EF7-8288-83112EF7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one masked forward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29001-25F7-46B3-A8DA-07A3CC7F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1CDB1-7C55-4AC3-852E-DF0D8E66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D2990-E6AA-4C88-91BC-665DCC53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 each sampled token 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89D81-019B-4F32-B8DC-511BA97F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75855-CB2C-4023-94FC-CCDCD22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16A60-0F46-4B57-8739-D39EDDE1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ED81D-45B4-4BCD-8FE5-7A011DFD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BAADE-F720-4C6A-9775-7B9B6B5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38C88-1395-4E39-83F0-4A47943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345C8-1D5F-4C08-8B3A-F6043F2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7ED30-3E68-4DDF-A069-C9F57721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480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CC1ED-18CF-4F08-8B82-9A8CDA4A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90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FE605-FF7A-4E61-A13C-00494649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many sequential decisions</a:t>
            </a:r>
          </a:p>
        </p:txBody>
      </p:sp>
    </p:spTree>
    <p:extLst>
      <p:ext uri="{BB962C8B-B14F-4D97-AF65-F5344CB8AC3E}">
        <p14:creationId xmlns:p14="http://schemas.microsoft.com/office/powerpoint/2010/main" val="719512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87498-23E0-4E5B-A677-98171ED2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VAE is a latent probability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89605-220D-4DE8-BE1B-C5B7A4D1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A63EB-453D-40D3-A3F6-719468F1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DCD8B-B42A-44AB-9C7A-EF43FD4F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7CAB2-EA01-4174-9E09-DCBC771C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EEC3A-0F39-4C7D-A9A2-3E694347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CF92-DC08-438C-9C9F-E922477B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68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AE342-B385-47D0-8A71-2195889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5174F-5C78-4119-A790-23519301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qφ(z|x)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48C47-C673-4E7E-BFF9-43A30F0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68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89D8F-C4A5-4271-B362-56257E0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C076-FAED-42DC-A7CD-4B8094CB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D1AB0-D674-4DA0-AE24-FBFFD095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368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C0349-B925-4CBA-BD2D-91A970EA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14E14-CA7A-4D9C-8B20-953D3C6B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pθ(x|z)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024E5-6AAE-4117-84A7-D7757AEF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33875"/>
            <a:ext cx="3905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F1021-D4D7-4CF9-99C4-165AA9FB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72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  p(z) = N(0, I)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DCE41-95D1-4E29-AB0D-4C0F610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40C16-2102-47CD-A0AE-6FE4EF0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pθ(x) = ∫ pθ(x|z)p(z) dz</a:t>
            </a:r>
          </a:p>
        </p:txBody>
      </p:sp>
    </p:spTree>
    <p:extLst>
      <p:ext uri="{BB962C8B-B14F-4D97-AF65-F5344CB8AC3E}">
        <p14:creationId xmlns:p14="http://schemas.microsoft.com/office/powerpoint/2010/main" val="2103004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EC6DB-4894-46CD-9A32-74FAB7AC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lower bound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7832-9E93-4EC2-9E06-006B647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ED995-9E7C-41A8-AECF-10A49BB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05A62-629B-4347-B61F-A97184B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EFACD-A2D0-4D19-B573-91C1104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0382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5FAC3-1260-4B4F-9529-7B49FDAB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pθ(x)  ≥  Eqφ [ log pθ(x|z) ]  −  DKL(qφ(z|x) ‖ p(z))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71F04-08E4-4D81-8206-332FFFA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4524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77727-FB51-46F2-9F57-3A93B5C2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EXPLAIN THE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1E02C-5C1F-42A5-B198-28208E3E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expected decoder log likelihood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DCF34-36F5-441B-AFFD-26932889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524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CFCF1-A566-4A64-B351-87735B05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57675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MATCH THE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99B9D-015D-42FD-BB00-4A098699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posterior-to-prior KL</a:t>
            </a:r>
          </a:p>
        </p:txBody>
      </p:sp>
    </p:spTree>
    <p:extLst>
      <p:ext uri="{BB962C8B-B14F-4D97-AF65-F5344CB8AC3E}">
        <p14:creationId xmlns:p14="http://schemas.microsoft.com/office/powerpoint/2010/main" val="636657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F0FF0-E48E-461D-869B-0D2D0AE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Reparameterization carries gradients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6036B-EEA8-4082-8100-25B830AA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337A6-AB2E-419B-BC7D-DB3260C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2286B-DBF8-4CFA-93F8-5B2B6C2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43A97-DFEA-49B8-839F-4C22206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238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6BF56-E6A8-4A33-898D-C156CB2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μ, log σ²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3AD55-E85E-43A9-8E1B-6ED83F74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238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126EB-D417-46A9-81A6-B0108FF0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ε ~ N(0, I)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5346B-4266-4F45-B40C-06CABC05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FFFA6-6E8B-4EDA-9EBF-3AA5693F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291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3A6D9-0A2E-4A1E-9061-BBFFB9D6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609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A5876-6576-4957-AA99-450CEFB0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 = μ + exp(0.5 log σ²) ⊙ 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F080F-7076-4C87-9451-09EF715C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Randomness stays in ε; μ and log σ² remain on a differentiable path.</a:t>
            </a:r>
          </a:p>
        </p:txBody>
      </p:sp>
    </p:spTree>
    <p:extLst>
      <p:ext uri="{BB962C8B-B14F-4D97-AF65-F5344CB8AC3E}">
        <p14:creationId xmlns:p14="http://schemas.microsoft.com/office/powerpoint/2010/main" val="1650104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A23D1-FD83-433E-B3CA-3D726E3C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Beta controls a tradeoff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B963A-19BB-4883-BDD3-EC83D4DF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42444-BB5D-4B5C-9B84-C71D6A6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FF9A8-CA8D-48AB-8D75-184474EB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C1DE4-F78F-4CA7-8B91-089A8BF9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DADB7-06C2-469A-AE81-A7AA1483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Lβ-VAE = −Eq log pθ(x|z) + β DKL(qφ(z|x) ‖ p(z))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561A1-191E-4FCD-9D4B-5BE56ED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91BAC-3C8E-4290-A367-65D45B2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195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LOW 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9CF5A-9C0E-458F-B056-7E796798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155DD-1FCC-4DA6-87AA-79D2F87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weak prior 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3C7D0-39AA-4677-93E0-1E0BC777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250C5-0C8A-4E17-9728-433C21DA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BALANCED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2F3C-7A45-4D01-93DE-C12CF170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usable latent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66C87-007B-4DCA-BA55-A0D9635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76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declared tradeoff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72846-1B61-4D28-B6D6-FF01A1A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2C055-3FA4-4C42-8F28-1DF63910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195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HIGH 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F92EB-81F0-40FC-9021-4E5F0E68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strong prior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6FD99-B1F5-4E35-9796-835E201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detail 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898FE-B72E-4D99-BA0C-A0D7BEA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1A893-5393-49E1-BBFE-A4073532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KL near zero may signal posterior collapse.</a:t>
            </a:r>
          </a:p>
        </p:txBody>
      </p:sp>
    </p:spTree>
    <p:extLst>
      <p:ext uri="{BB962C8B-B14F-4D97-AF65-F5344CB8AC3E}">
        <p14:creationId xmlns:p14="http://schemas.microsoft.com/office/powerpoint/2010/main" val="776298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71478-2E2D-4163-BAF8-0026B43B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 12A: controlled AE / VAE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8A28F-0214-42A7-AEB1-171729C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E775A-3451-46D6-9634-07228F63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CB83D-5A0C-4F87-BB2E-A459DBFB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09625" y="1285875"/>
          <a:ext xmlns:a="http://schemas.openxmlformats.org/drawingml/2006/main" cx="1057275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Fashion-MNIST official train / test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splits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10,000 / 2,000 / 2,000 balanced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minimum validation objective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AE evidence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BCE, MSE, interpolation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VAE evidence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BCE, KL, prior samples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automatic CUDA + mixed precision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ablation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dimension or beta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FBF2B-15AC-4324-BD09-34CB7647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Locked test once — after the checkpoint and protocol are frozen.</a:t>
            </a:r>
          </a:p>
        </p:txBody>
      </p:sp>
    </p:spTree>
    <p:extLst>
      <p:ext uri="{BB962C8B-B14F-4D97-AF65-F5344CB8AC3E}">
        <p14:creationId xmlns:p14="http://schemas.microsoft.com/office/powerpoint/2010/main" val="417628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C9D5D-1F6C-4420-A9E1-4C96C546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GAN is a two-player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1FB9C-C225-4382-BBB9-CF86D0AF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6B422-F17A-48E6-A1D6-F2225CE1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1BB6-B4E9-4AC9-B251-8B11441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1A440-9188-42D1-8439-5F3CC9FC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762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946CC-58FE-462D-9905-790E2C6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4130A-7D7F-4C77-993E-9AA0638A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 ~ p(z)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9DB76-847B-4984-8659-95199F8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52CA2-5B8E-4106-9BF9-7EBCCF5E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2762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92CD1-CB85-455F-91C8-EA4FCEA8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E744D-F935-4BFD-B0BB-A2018C9E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x̃ = Gθ(z)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99772-606B-4F5D-86A9-D714C1F1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5C108-E43C-4497-A537-49BA44D2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B9011-5C02-4466-B298-F5537B68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DISCRIMINATOR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D6E0F-324F-4E49-887B-2161019A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Dψ(x)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66A65-393E-425E-AD50-66471D1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C8EE9-B131-4600-A266-0E08888C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Generator follows discriminator gradients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33EBB-E5B1-4D2F-88DA-9D9447A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3F2F0-61F7-42FC-A945-3586CA3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minG maxD  Ex log D(x) + Ez log(1 − D(G(z)))</a:t>
            </a:r>
          </a:p>
        </p:txBody>
      </p:sp>
    </p:spTree>
    <p:extLst>
      <p:ext uri="{BB962C8B-B14F-4D97-AF65-F5344CB8AC3E}">
        <p14:creationId xmlns:p14="http://schemas.microsoft.com/office/powerpoint/2010/main" val="160610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16157-E0A2-4BD0-9960-2E5041E8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Sharp samples can hide missing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73A3B-1FAD-4EDA-92E4-C1E67058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B7639-E3EC-497F-A518-D8EA406B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91C34-5F23-470C-A259-CFC69E7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00125" y="1381125"/>
          <a:ext xmlns:a="http://schemas.openxmlformats.org/drawingml/2006/main" cx="101917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6572250"/>
              </a:tblGrid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Failure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to request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 collapse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recall, diversity, rare cases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discriminator overfit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held-out discriminator evidence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oscillation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fixed-latent samples across training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gradient imbalance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both update and gradient records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memorization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training-neighbor and duplicate audit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F65C7-61FB-4D40-95DF-93A315ED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93B9F-7540-4237-A0A9-EA83B076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loss curve and one sample grid are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7644937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04DB9-8E98-4674-93F0-4896774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Normalizing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BEED8-CC4E-43E6-932B-D12966E9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03D3B-8A16-413D-9D43-74CAED8E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13C5C-E486-45D4-A3B8-16D06955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E9C19-DE06-4617-9B24-EDBC7878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5585D-8B85-48DE-B0E5-DD93963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1A936-89F3-4300-8B2F-48A53CE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45014-EF78-4227-AB23-D1E695AC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2FC0A-BCEE-4E2D-BC7F-3291B80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0459B-ED63-4BD7-8EC0-AAA9325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3ECA3-1BC0-4F3D-8AF1-331E8E1C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4CA0C-5856-4735-AECE-87EC611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8DCFB-75C5-4F2A-BB3C-CC53A3C7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D7EC4-6BF6-4A0F-8ED1-8B3C9BEE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6481D-8989-4ACF-BEDC-6FE4B2B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445F2-68D6-4210-AED5-7D65DE1F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52117-969C-44CA-99D5-8520F4D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D5D18-5FB9-4FF2-95D6-584830B5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CC2F4-E81E-4105-B3A6-9E7E4E51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981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D80FC-8B25-4E31-A222-8A066FE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pX(x) = log pZ(fθ(x)) + log |det Jfθ(x)|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1D157-1CB0-4CAB-A798-4269C7C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Exact likelihood and inversion require tractable transforms.</a:t>
            </a:r>
          </a:p>
        </p:txBody>
      </p:sp>
    </p:spTree>
    <p:extLst>
      <p:ext uri="{BB962C8B-B14F-4D97-AF65-F5344CB8AC3E}">
        <p14:creationId xmlns:p14="http://schemas.microsoft.com/office/powerpoint/2010/main" val="7484014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49D52-1763-4262-ADA2-01E56B0E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Change-of-variables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937D6-1253-4019-B82A-554DB4E8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DAC7F-1738-43CD-A74B-15B73F2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CC541-061A-4A57-9927-1D99DA9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31B81-A23D-428F-9C64-5BD17350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0382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D9FB3-F449-4A64-A8AC-9EBA1FB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 = 2x + 1      and      z ~ N(0,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2F543-6795-495A-B616-47361EFE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25928-29CF-4B65-90C5-0FE5EF83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JACOBIAN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81040-89A8-4B6F-B145-9A12F2A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dz / dx =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FC628-BBBD-4D0B-A354-0DFA2939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498E2-5A5D-4805-A84B-615E2B5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8AD56-A1D4-45EE-B04E-680F06F3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062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log pX = log pZ(2x+1) + log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CB23-DCE4-45DC-82C3-3CE4885C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778C4-DFEC-4AB3-8BD0-A47958AE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20E9-6DEA-4D26-BA8E-74795499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 = (z−1) /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03A28-7DC4-4F3D-8860-1F541050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673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Omitting log 2 assigns the wrong probability mass.</a:t>
            </a:r>
          </a:p>
        </p:txBody>
      </p:sp>
    </p:spTree>
    <p:extLst>
      <p:ext uri="{BB962C8B-B14F-4D97-AF65-F5344CB8AC3E}">
        <p14:creationId xmlns:p14="http://schemas.microsoft.com/office/powerpoint/2010/main" val="16210087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5A987-27EA-41F6-AA11-385CEF80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Energy-based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12AEB-7874-45A2-80DF-FF483479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1E462-C60B-4061-B2BB-C77A06A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3C31B-D73B-421D-9942-DDFE818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E2D0F-50F1-45E3-9097-25078854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B27ED-5D96-4EEC-ADFC-227D27C9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pθ(x) = exp[−Eθ(x)] / Zθ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4E4D8-EB03-4E07-A00A-B4FBE6D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E4F3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011F5-1686-46FA-9A2B-B49D2D7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22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low energy  →  high compatibility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D57D4-E3A1-45B8-8536-56166DC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POSITIVE 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E4F0C-ABB6-4028-ACB3-69232DA9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lower energy on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A48EE-13F6-4138-903C-C532293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NEGATIVE PHASE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F7534-FCE8-4265-8636-79794BA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raise energy on model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FDF59-B0EB-40C8-8560-0ADFC6D7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DF8A4-F73F-495A-98E4-89B0028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Partition function and MCMC mixing are the hard parts.</a:t>
            </a:r>
          </a:p>
        </p:txBody>
      </p:sp>
    </p:spTree>
    <p:extLst>
      <p:ext uri="{BB962C8B-B14F-4D97-AF65-F5344CB8AC3E}">
        <p14:creationId xmlns:p14="http://schemas.microsoft.com/office/powerpoint/2010/main" val="427053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BABA064-461F-4B33-9C4D-4C9A573F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DDPM forward corruption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F3F9E-0171-41EB-A7CC-D03B62F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1841A-A278-4024-9A13-3CF6797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02F80-F259-4DCF-B48A-766B75C2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A1605-2514-42A5-A66C-C7E82642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8D804-01C8-494E-B508-99018D3D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E9D28-E117-468B-844E-98F7883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59875-DF2E-412A-8413-8C0F1943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FEED7-4641-446D-8606-05C601FA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60BC8-82AC-4F54-846E-224D7412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069DE-F03A-4087-AED1-3F0A6201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8E549-FF10-4815-9E85-D07CAB1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3F93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362E8-BEE2-4D1A-A481-0CB973A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33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A3B13-4510-440E-8D38-5AA3E18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5F4C3-27C3-4B05-9A37-906A8751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5926A-B94C-4F56-97AB-3CCA418C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AB439-747C-4962-8F93-A3F85B6D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5DE99-3443-4F5C-901D-7991DD31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71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DC274-CDD9-4B0F-84D7-D9BF0888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24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0014A-E880-4D00-BBC2-84003DD6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14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2F8DA-740A-46DD-8712-BA65B837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67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7A9D0-7709-429C-AA11-5575DF2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41179-248C-4A53-BD76-AC8D8789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2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45EBB-A39B-477D-B14B-8819F435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4312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5575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6E13C-E86C-4F64-B5B7-33E7156F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7E66C-735B-4561-B038-3AB61AEC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0CB2C-7A46-4913-AA65-E617AAB7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807D2-D7A7-44B4-97C9-21F4F10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EDAC5-2024-4856-96C8-92CE415F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D696E-4BDB-4EA2-AAB2-67F0E0E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71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15D66-89BD-4338-8C26-DCAA5410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24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CDF5C-66AC-4F58-AB97-0A11C29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14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BE228-7D33-4A51-AD8F-85A0BEAC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67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283BAD-EC7B-43F7-9143-9EE339E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57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59C9D-AF79-4BA4-A939-E1E674C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782BA1-E2E8-4F1D-B56E-41ADE1CE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00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42852F-1276-402D-9CEA-94B885B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C1D6B4-92AC-40D8-87B9-B442768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43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D8826B-B2AC-484F-A572-CB0E0E76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24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8D06FD-D888-4F93-B1C6-6732D04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8F3075-8D86-470B-A9AF-5DF86D7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A62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B42165-5D4C-4DD3-A00E-AAD511D0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33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E0DD58-CDE8-488C-AF75-0F0F28A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9A9E20-EC38-4CE3-9E72-D14E91C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7A9677-7396-4DE4-BC6E-AAC2DB17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91BEFA-16F7-4FCB-AD1A-E2E4F00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F7A3C2-C355-471D-8A02-B46D6026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71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B86CFC-E188-4E45-8866-24D96E0F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24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F67503-BCEA-4939-B213-1507E40A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14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97D3A9-9A48-4446-9E03-6B340E9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67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D9B3CD-E6CF-43D4-BC0C-E2570FD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57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F53469-9059-40FB-B7D9-23F3B68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22C5C3-8ABF-4AE1-9605-AAB357FE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00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595A36-3791-4D87-83B6-6330C95E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25E412-DCFB-433D-9666-C1555F4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43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4A26FB-4010-4C12-987D-5FE69EFF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8B5D98-4082-41C6-B480-4A8D447F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48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1D8EF8-4F44-4B95-840F-8CF86D3A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38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430857-8FC9-4671-8964-5DD4582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90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183B35-6811-4BDA-9014-DCABE901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81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92E6EC-9500-4C41-8D9C-75BB8B1E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24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2BC25A-6929-4CFA-9AED-BB830CA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FFCD44-E77B-4D58-ADA1-98B5712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E51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B2DA30-3859-45A5-AE03-22DFFF8B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33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B3D868-386A-42F1-85D2-2C054B74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F94EDB-B624-4B30-AAF8-744BED35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21849D-0508-4722-91EE-4C955609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77AD18-5241-4FDA-8D48-8EA1DD6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F9B7A5-3B06-4B30-ABE8-3539AE4A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71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B66110-A099-4D12-A4F9-6D79F190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24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B91C42-69EF-4F29-BDFC-A417A48E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514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7A85CA-A545-46E0-94C9-E1F6B2E0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67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754E22-5606-4C8B-9C9C-049A2B9E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457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EB16E9E-B418-48DE-A805-97137F3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09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646CFB-5D6C-4868-B41A-A1C88CFA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2400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6A942D-087B-4D79-A715-56BAF90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163D6B-5E93-44E9-A1DF-0419952C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343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365370-EDEF-4AF9-9001-93C4DBF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95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DC03EAC-15EC-47B3-B054-8C53437F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048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61797B-A8B1-45C4-BBA4-09E3F67A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638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6793C2-A851-49BF-91E8-D12D613E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90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DA10E7-4219-4022-8B7F-5040AEE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81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526F36-686B-41F3-9178-A4960C5F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33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A1E38D-7501-430F-B6A0-0C080F7F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24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9F0105-35E6-41EE-A3E1-92EC444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876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304EB4-9B65-4599-808B-75EF522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66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4D6F1A-46EC-4FA2-B44B-E41632B7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2D7FA1-9492-4EF5-9F6E-98ED41A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24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1078B7-CF61-432B-B65A-AC9AC9AC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BD439B6-D9D3-4AD5-8453-B84F7C86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xt = √ᾱt x₀ + √(1−ᾱt) ε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A7CAD8F-4A1E-4330-B406-32C930D0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Sample any corruption level directly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10771820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32F82-AA1A-4177-A2EB-33AA1AD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Work one noise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5F49-1D10-4236-A830-2690084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D665-8F50-44F5-9F81-2011F2C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2A0E1-63AD-44FC-8476-C696DB91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9B360-FEED-4D16-A2F1-3A88ED5F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5781A-AF2F-4715-BEE2-AF987919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78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x₀ = 0.8     ᾱt = 0.64     ε = −0.5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71540-ACAE-4335-A56D-2A91E3C8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21ECB-CD2C-41B2-BFE5-92619BE1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48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2F536-4B3E-460F-8EC0-3B1FE9B8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√0.64 × 0.8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87860-A763-4958-B13C-4D5FCD2E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0.64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808E5-57BA-4566-A7F4-CB8D85C1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9087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FD923-06E1-4ED9-AD63-7F4E86A2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E9323-0227-4927-98F0-0E41AB27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√0.36 × (−0.5)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0C308-6C6C-489A-9840-4762BE6F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−0.30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3CEBB-9455-44CB-A9D6-59A29861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A0275-56C1-4D0E-91ED-DC6E8659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CORRUPTED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48B11-BDE8-4992-A70C-8A6D1B1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0.64 − 0.30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1F8C5-8391-4481-A44E-F383A839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62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0.34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4F134-5423-48E5-9232-0FF736C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If ε̂ = −0.3, squared error = (−0.5 + 0.3)² = 0.04</a:t>
            </a:r>
          </a:p>
        </p:txBody>
      </p:sp>
    </p:spTree>
    <p:extLst>
      <p:ext uri="{BB962C8B-B14F-4D97-AF65-F5344CB8AC3E}">
        <p14:creationId xmlns:p14="http://schemas.microsoft.com/office/powerpoint/2010/main" val="299953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43D0A-2C63-453F-829E-FAA127D4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Noise-prediction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56893-90FE-4B38-8BCD-008EBD7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5789D-BCA9-4FB1-B153-29EB3A37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F92A8-E9FA-40A9-A94A-D9A5E193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6379F-2AE3-4DB8-821A-0DDD920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1019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09C75-A353-45C1-9A82-E89F487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19275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Lsimple = E x₀,t,ε  ‖ ε − εθ(xt,t) ‖²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1739A-8B4A-4F8B-9311-57108C1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FD231-EEEA-4644-B74D-0649A283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719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935AC-93E4-42FE-AF4F-9AA73B71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19C6D-3CF0-4CBC-A3BD-D06E8B3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5767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C2BF7-798E-4F89-984E-DBCFC33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F9A36-82F4-42E2-9CE8-427F19D9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719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0A175-AEDD-4524-A165-855D6046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68002-1266-4D3B-B7A2-9071502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25767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80A03-3B3E-43FD-83FF-1576638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6237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E0E27-5001-41D9-9069-947440DE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719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72746-19E3-409F-827C-08BCBBB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81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CAC6-91C8-4CCA-B709-759B515B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5767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6E700-4019-4894-9478-8AFFDE33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45F48-A1B0-4C6B-8713-3CDA7BC4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719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CORRUPT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89188-6DDE-43D8-B678-881A35CE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3E37E-7962-4309-81B4-40558EDE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5767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733C0-1E3E-4F56-9C32-BC806D8E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6237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86523-52D3-48F0-B654-05A1AEE6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719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DENOISER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0F5F2-34B3-4F5B-88EF-EB0CA79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ε̂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20FE3-C6FA-49B7-BFC2-21DF3409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The timestep embedding tells the network the corruption scale.</a:t>
            </a:r>
          </a:p>
        </p:txBody>
      </p:sp>
    </p:spTree>
    <p:extLst>
      <p:ext uri="{BB962C8B-B14F-4D97-AF65-F5344CB8AC3E}">
        <p14:creationId xmlns:p14="http://schemas.microsoft.com/office/powerpoint/2010/main" val="19179338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59D35-971C-4BF0-AEC7-5CFE612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Generation reverses corruption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33822-CE70-4DE1-B7A5-4003E9A2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9DCDF-0061-4CBD-A301-1C451CA2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4D447-9EA4-48A7-AF59-F966CA3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6DC51-EE09-453B-B244-3685015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4F65-73E2-4660-9CA1-609639B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28A03-E4BF-400B-A0EF-E716D97B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43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C52DD-E71C-40C8-BDF9-085A4ECD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F053A-6CB1-4258-953C-0ACD1BD8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B1343-B69E-4ECC-A612-549E9C8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EC753-C7FA-4472-9F01-F8696AF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45DB1-7F64-4D67-816B-DC8D34F2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33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DE924-1F64-407B-B6A1-F1E8B8E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526E3-7F63-4AA0-8C6E-E0F681A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34205-3B1F-4594-8386-A2ED3E9F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5F3BA-3F31-4E94-9338-1DA690E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43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368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8134C-A7B8-42C8-AFA1-CE7978B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B5284-1EFF-4635-9BBF-7480FF4A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336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EDD85-7456-43E0-A819-04260D1A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57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ECF23-876D-4DB0-B7C7-015E8D2A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DDPM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9556B-4E16-47BC-A366-B868BCF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stochastic reverse steps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B81E0-D7E3-437F-A7A7-7EBC1D5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57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67154-5CA8-4998-B302-9AF99CA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DDIM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4C6D9-F2D4-4F2A-BB68-B6A432C4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1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fewer deterministic or stochastic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EF68D-40A0-4A05-948C-BB2F989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1025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Report scheduler • steps • seed • precision • seconds / image</a:t>
            </a:r>
          </a:p>
        </p:txBody>
      </p:sp>
    </p:spTree>
    <p:extLst>
      <p:ext uri="{BB962C8B-B14F-4D97-AF65-F5344CB8AC3E}">
        <p14:creationId xmlns:p14="http://schemas.microsoft.com/office/powerpoint/2010/main" val="16864350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65430-40B4-4143-9131-1BDBA80C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is a noisy-density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CACAA-2F4C-4ADD-887D-5E18FB7C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D8C51-9158-484E-85D7-074A74CA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2170D-1861-4CF5-AC3D-112760F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D9A1A-EBEB-40C4-A07C-B5889EC4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78D8A-420A-4728-9F89-D0959D2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sθ(xt,t) ≈ ∇xt log pt(xt)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E315-1C4A-4B25-96E5-5D633DB6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F2690-6823-4E91-AE5C-880FC48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672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2FD30-75B7-4DDF-905F-BFBC3E48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8A4BF-FA5E-4108-8609-2FC64735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A16EF-9F97-4A4F-A7B2-6521F0E1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5BA9B-D7B7-40CF-B377-3BA8CC49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005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B4AFF-2591-493F-AD3D-7B6DDBB7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872AE-C2C6-41F0-9926-96A7467E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7EEB5-6552-410F-8168-E039C224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29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57593-2881-47FE-9D64-34799827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0532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66EE0-9223-4401-AD60-98E02404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995DA-7A56-4CBF-8CB5-3E666776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5282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A1DB7-557A-4047-8094-96AAD11B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D992E-592A-4CC7-B311-4AFCB57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624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D662E-1710-431E-B3F8-12222D81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B522D-8098-4BD4-AE0C-400AA38D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095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</a:t>
            </a:r>
          </a:p>
          <a:p xmlns:a="http://schemas.openxmlformats.org/drawingml/2006/main">
            <a:pPr algn="ctr">
              <a:defRPr sz="13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AE59B-EF0D-4716-BEFC-710AD9E3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81625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48116-7830-4C5F-AAA8-F7A267F8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∇xt log q(xt|x₀) = − ε / √(1−ᾱt)</a:t>
            </a:r>
          </a:p>
        </p:txBody>
      </p:sp>
    </p:spTree>
    <p:extLst>
      <p:ext uri="{BB962C8B-B14F-4D97-AF65-F5344CB8AC3E}">
        <p14:creationId xmlns:p14="http://schemas.microsoft.com/office/powerpoint/2010/main" val="9589077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CA3EF-EA0C-4691-978F-CECEF2A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Lab 12B: DDPM on CIFAR-10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E7C27-6752-4669-B487-4DDB806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9DFA4-9ACD-4452-916A-0A2E996C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A8570-A800-4E12-B7AE-3E1754FA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1285875"/>
          <a:ext xmlns:a="http://schemas.openxmlformats.org/drawingml/2006/main" cx="1076325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24750"/>
              </a:tblGrid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checkpoint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google/ddpm-cifar10-32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35.7M-parameter U-Net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sampler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DDIM, 50 network evaluations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16 samples + five-stage trajectory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automatic CUDA; timed per image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optional metric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protocol-declared course FID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5364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same seed; steps or scheduler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A537E-ECAF-4A9B-A4A2-6F089337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B87C3-FF58-4684-BF91-A6039E9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531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Sixteen samples test the path — they do not reproduce a benchmark.</a:t>
            </a:r>
          </a:p>
        </p:txBody>
      </p:sp>
    </p:spTree>
    <p:extLst>
      <p:ext uri="{BB962C8B-B14F-4D97-AF65-F5344CB8AC3E}">
        <p14:creationId xmlns:p14="http://schemas.microsoft.com/office/powerpoint/2010/main" val="5549642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CE826-FFA3-427D-B1FB-C1C5B32C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FID compares feature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91700-6035-4DD2-A870-3332DA37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1BCEF-9D0A-40CA-A716-DC4E30D1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DDF6B-7B93-47D7-9FA5-90CA002D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A67D1-1C6D-46C4-8E30-9FE1373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AFCC9-AC0B-4B08-B020-5DECB43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430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FID = ‖μr−μg‖² + Tr(Σr+Σg−2(ΣrΣg)¹ᐟ²)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5C69B-FCCB-4DAA-8BE3-0A2E4E2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03BDA-F9AA-4257-BFF9-9CA22A56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290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F9C9E-8053-45E5-85CA-A0742E88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 + 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07FE3-DFF3-4E33-B7D0-171C59BA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86125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55E0F-ED75-4CD6-9592-D1DCB91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290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A4680-109D-4DFB-ADCC-5135E81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616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extractor +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FDFA7-7001-4160-BB86-4A15A98F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4FB5D-A8A5-43BF-91FE-FF5BF185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290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2522D-528E-441A-B417-1D25A83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528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48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 statistics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3D7A1-D9C0-4704-BB55-B173E2D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09507-7F79-4DA0-AB4A-DAC9C436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96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PIXELS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6919D-4779-4FE2-B833-D6341BC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434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resize + 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8ED32-4645-4E2D-AAAE-570054CA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767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D3250-8165-44DE-9ACA-BC384FD3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6196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3D240-299F-4D0B-A439-5D5BBC4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434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25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labels + 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793E7-7886-401E-A58C-C4D0B8EE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07BD8-CDB0-4B64-BE10-15D96F4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196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E34A7-0E86-4F37-B1F5-A604A1CA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434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234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 + selection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C030D-C877-478E-84EA-8FB7576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FID does not test memorization, provenance, alignment, or downstream utility.</a:t>
            </a:r>
          </a:p>
        </p:txBody>
      </p:sp>
    </p:spTree>
    <p:extLst>
      <p:ext uri="{BB962C8B-B14F-4D97-AF65-F5344CB8AC3E}">
        <p14:creationId xmlns:p14="http://schemas.microsoft.com/office/powerpoint/2010/main" val="16313617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3136F-D04A-474C-99E5-46158EB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CIFAR-10 research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8896C-2FE1-4A64-B725-08924BF6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F3C0C-E26F-445A-8E66-95E6DAA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C79F3-9A22-413E-BDED-ED329F22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11144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238375"/>
                <a:gridCol w="1524000"/>
                <a:gridCol w="4524375"/>
              </a:tblGrid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 ↓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Sampling 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StyleGAN2-ADA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2.42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paper protocol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DDPM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diffusion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3.17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iterative sampler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NCSN++ / SDE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predictor-corrector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EDM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diffusion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1.97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35 evaluations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Consistency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direct 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234C8-D728-4121-B625-0EBED12D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19750"/>
            <a:ext cx="9239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3F2F3-0D6E-4242-83B0-7FCA9A9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53100"/>
            <a:ext cx="847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Paper-reported values — verify conditioning, data, samples, features, and compute.</a:t>
            </a:r>
          </a:p>
        </p:txBody>
      </p:sp>
    </p:spTree>
    <p:extLst>
      <p:ext uri="{BB962C8B-B14F-4D97-AF65-F5344CB8AC3E}">
        <p14:creationId xmlns:p14="http://schemas.microsoft.com/office/powerpoint/2010/main" val="4135612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B7027-12CA-4190-98E8-CD3A8F46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Recent directions change the compute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FC480-A21E-49E5-ACA1-FC2E3CE2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E58D-4C5A-4CC5-973C-031B5F39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DD533-FA32-48C8-A960-0AFCFB9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3335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400050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Direction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Representation / backbone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compute question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diffusion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autoencoder latent + denoiser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detail per spatial cost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Diffusion Transformer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patches + Transformer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 per model FLOP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EDM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preconditioned denoiser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 per evaluation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consistency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trajectory endpoint map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one vs few steps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flow matching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continuous velocity field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path + solver steps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A9EF1-A175-4EF5-B17D-75193454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EED7-FE06-4F8F-B948-EF2EC9F5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belongs beside training and sampling compute.</a:t>
            </a:r>
          </a:p>
        </p:txBody>
      </p:sp>
    </p:spTree>
    <p:extLst>
      <p:ext uri="{BB962C8B-B14F-4D97-AF65-F5344CB8AC3E}">
        <p14:creationId xmlns:p14="http://schemas.microsoft.com/office/powerpoint/2010/main" val="14619615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B5391-6A0D-41FF-8834-8ECDF0E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Autoregression and flows continue to evolve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96DA8-5584-4824-AFBC-A656BE7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E3358-48A5-4704-90DF-CCE6CA0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07943-81E0-43BA-9F82-F8362D82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286250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idea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to test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LlamaGen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next-token visual codes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tokenizer ceiling vs generator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parallel visual AR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random-order parallel queries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speed vs coverage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continuous 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velocity-field regression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path curvature vs solver 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hybrid generator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AE + diffusion / AR / flow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which component limits quality?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D0D67-C352-49E7-8399-6DF1AC8D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15C4C-960A-4498-BBF6-B7EA5F52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705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952F-F29C-45A3-B178-B4EE097F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D78C4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323B9-12A5-4E2A-AC86-E8811B6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5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5B385-0F79-4524-B5FA-657AB679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A7E95-76D0-4EDB-A523-473A3E15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705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418E0-A9D7-48C3-B5DE-7D7C1F9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C63A8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9AE43-AE77-44F7-8618-E630311E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054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SAMPLER</a:t>
            </a:r>
          </a:p>
        </p:txBody>
      </p:sp>
    </p:spTree>
    <p:extLst>
      <p:ext uri="{BB962C8B-B14F-4D97-AF65-F5344CB8AC3E}">
        <p14:creationId xmlns:p14="http://schemas.microsoft.com/office/powerpoint/2010/main" val="10061109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F5D59-9A3D-4375-9464-104649A8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direction and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14B98-C05F-4195-BFF1-C3856952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8030F-9CF1-4E35-9337-78DDD276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0978-7010-4552-BC99-5B9AAE69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CDF64-D57F-444B-99E8-6062EAF7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584C7-F53F-4F64-8625-4A60359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81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58AD6-3B5C-463A-88F2-15FBB75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8E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7D8E0"/>
                </a:solidFill>
                <a:latin typeface="Arial"/>
                <a:ea typeface="Arial"/>
                <a:cs typeface="Arial"/>
              </a:rPr>
              <a:t>one factor with meaningful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1A42A-3860-4FD7-99DB-34A5714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18D57-A9A4-4121-8364-B0FFAD2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A14F5-D6ED-4565-8915-54046876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240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44129-BC42-4E46-B85E-CA0300E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240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8E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7D8E0"/>
                </a:solidFill>
                <a:latin typeface="Arial"/>
                <a:ea typeface="Arial"/>
                <a:cs typeface="Arial"/>
              </a:rPr>
              <a:t>data, seeds, metric, and 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93255-D7FF-46AD-8518-F67E397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527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67F15-E967-473D-A753-7904E31A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A54E3-4203-4B2F-AF71-BD30E1D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670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096AD-9E5F-4F20-957C-1A9EA45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670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8E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7D8E0"/>
                </a:solidFill>
                <a:latin typeface="Arial"/>
                <a:ea typeface="Arial"/>
                <a:cs typeface="Arial"/>
              </a:rPr>
              <a:t>direction and practical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2654A-240F-462B-A228-9ABE8772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956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528C5-EE0D-4192-BC56-987EBD31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F4A20-E1B1-40E9-BD71-B677782B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9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2847E-F092-45C7-92CE-F1A67312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99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8E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7D8E0"/>
                </a:solidFill>
                <a:latin typeface="Arial"/>
                <a:ea typeface="Arial"/>
                <a:cs typeface="Arial"/>
              </a:rPr>
              <a:t>quality, coverage, and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D8C5D-1087-4DF7-909F-55CD3A8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7E0F7-D484-4794-834B-A921FD0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F4EA0-5EEF-4805-B3BF-792C5BE3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52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6AF29-BCE4-410C-A445-476E8364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529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8E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7D8E0"/>
                </a:solidFill>
                <a:latin typeface="Arial"/>
                <a:ea typeface="Arial"/>
                <a:cs typeface="Arial"/>
              </a:rPr>
              <a:t>result that rejects the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2DF82-D433-404B-B312-A449AFA1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0C313-3A9A-4920-B245-A7F787F8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FF6BB-5BBE-4011-B331-9BAF2634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816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Distinguish reconstruction from density • explain VAE KL • compare sampling paths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name one FID protocol detail</a:t>
            </a:r>
          </a:p>
        </p:txBody>
      </p:sp>
    </p:spTree>
    <p:extLst>
      <p:ext uri="{BB962C8B-B14F-4D97-AF65-F5344CB8AC3E}">
        <p14:creationId xmlns:p14="http://schemas.microsoft.com/office/powerpoint/2010/main" val="1534918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2026-09-10T00:04:22.9160000Z</dcterms:created>
  <dcterms:modified xsi:type="dcterms:W3CDTF">2026-09-10T00:04:22.9160000Z</dcterms:modified>
</coreProperties>
</file>