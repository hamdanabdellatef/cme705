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f8a61aeb35432d" /><Relationship Type="http://schemas.openxmlformats.org/officeDocument/2006/relationships/extended-properties" Target="/docProps/app.xml" Id="Rc2076f6fd0744fd1" /><Relationship Type="http://schemas.openxmlformats.org/officeDocument/2006/relationships/officeDocument" Target="/ppt/presentation.xml" Id="R4c710faa78bc4f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df0a6c7e9a45f9"/>
  </p:sldMasterIdLst>
  <p:notesMasterIdLst>
    <p:notesMasterId xmlns:r="http://schemas.openxmlformats.org/officeDocument/2006/relationships" r:id="R6cad004d5852404a"/>
  </p:notesMasterIdLst>
  <p:sldIdLst>
    <p:sldId xmlns:r="http://schemas.openxmlformats.org/officeDocument/2006/relationships" id="256" r:id="Ra41ca179dfd54c41"/>
    <p:sldId xmlns:r="http://schemas.openxmlformats.org/officeDocument/2006/relationships" id="257" r:id="R4afa93dfce904998"/>
    <p:sldId xmlns:r="http://schemas.openxmlformats.org/officeDocument/2006/relationships" id="258" r:id="Rded3820fb5e5420d"/>
    <p:sldId xmlns:r="http://schemas.openxmlformats.org/officeDocument/2006/relationships" id="259" r:id="R95116228e6e24b4e"/>
    <p:sldId xmlns:r="http://schemas.openxmlformats.org/officeDocument/2006/relationships" id="260" r:id="Rb7f99a7d97984283"/>
    <p:sldId xmlns:r="http://schemas.openxmlformats.org/officeDocument/2006/relationships" id="261" r:id="R0748e76481d94bca"/>
    <p:sldId xmlns:r="http://schemas.openxmlformats.org/officeDocument/2006/relationships" id="262" r:id="R61b24dd6954342d4"/>
    <p:sldId xmlns:r="http://schemas.openxmlformats.org/officeDocument/2006/relationships" id="263" r:id="Rcc51062ea24d4613"/>
    <p:sldId xmlns:r="http://schemas.openxmlformats.org/officeDocument/2006/relationships" id="264" r:id="Rc2a50c12cb524739"/>
    <p:sldId xmlns:r="http://schemas.openxmlformats.org/officeDocument/2006/relationships" id="265" r:id="R0a79e7b4940f424c"/>
    <p:sldId xmlns:r="http://schemas.openxmlformats.org/officeDocument/2006/relationships" id="266" r:id="R443963df7fa8406f"/>
    <p:sldId xmlns:r="http://schemas.openxmlformats.org/officeDocument/2006/relationships" id="267" r:id="R64ce26da10154a9a"/>
    <p:sldId xmlns:r="http://schemas.openxmlformats.org/officeDocument/2006/relationships" id="268" r:id="Ra9dc158e1c2e40eb"/>
    <p:sldId xmlns:r="http://schemas.openxmlformats.org/officeDocument/2006/relationships" id="269" r:id="Rc4c95d058e034b72"/>
    <p:sldId xmlns:r="http://schemas.openxmlformats.org/officeDocument/2006/relationships" id="270" r:id="Rc9c56f53d1c74dc9"/>
    <p:sldId xmlns:r="http://schemas.openxmlformats.org/officeDocument/2006/relationships" id="271" r:id="R203f62fe259f47d1"/>
    <p:sldId xmlns:r="http://schemas.openxmlformats.org/officeDocument/2006/relationships" id="272" r:id="Rc3ff50b258a54be0"/>
    <p:sldId xmlns:r="http://schemas.openxmlformats.org/officeDocument/2006/relationships" id="273" r:id="Re68421493a534391"/>
    <p:sldId xmlns:r="http://schemas.openxmlformats.org/officeDocument/2006/relationships" id="274" r:id="R461297786a7f4740"/>
    <p:sldId xmlns:r="http://schemas.openxmlformats.org/officeDocument/2006/relationships" id="275" r:id="R74b44588ae454b85"/>
    <p:sldId xmlns:r="http://schemas.openxmlformats.org/officeDocument/2006/relationships" id="276" r:id="R0b50f53e66dd40d0"/>
    <p:sldId xmlns:r="http://schemas.openxmlformats.org/officeDocument/2006/relationships" id="277" r:id="R6222473022a542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4897444efc4da8" /><Relationship Type="http://schemas.openxmlformats.org/officeDocument/2006/relationships/slideMaster" Target="/ppt/slideMasters/slideMaster1.xml" Id="Rf0df0a6c7e9a45f9" /><Relationship Type="http://schemas.openxmlformats.org/officeDocument/2006/relationships/notesMaster" Target="/ppt/notesMasters/notesMaster1.xml" Id="R6cad004d5852404a" /><Relationship Type="http://schemas.openxmlformats.org/officeDocument/2006/relationships/presProps" Target="/ppt/presProps.xml" Id="R2f18117c2e394c2a" /><Relationship Type="http://schemas.openxmlformats.org/officeDocument/2006/relationships/tableStyles" Target="/ppt/tableStyles.xml" Id="R14bcbbc841c343f6" /><Relationship Type="http://schemas.openxmlformats.org/officeDocument/2006/relationships/slide" Target="/ppt/slides/slide1.xml" Id="Ra41ca179dfd54c41" /><Relationship Type="http://schemas.openxmlformats.org/officeDocument/2006/relationships/slide" Target="/ppt/slides/slide2.xml" Id="R4afa93dfce904998" /><Relationship Type="http://schemas.openxmlformats.org/officeDocument/2006/relationships/slide" Target="/ppt/slides/slide3.xml" Id="Rded3820fb5e5420d" /><Relationship Type="http://schemas.openxmlformats.org/officeDocument/2006/relationships/slide" Target="/ppt/slides/slide4.xml" Id="R95116228e6e24b4e" /><Relationship Type="http://schemas.openxmlformats.org/officeDocument/2006/relationships/slide" Target="/ppt/slides/slide5.xml" Id="Rb7f99a7d97984283" /><Relationship Type="http://schemas.openxmlformats.org/officeDocument/2006/relationships/slide" Target="/ppt/slides/slide6.xml" Id="R0748e76481d94bca" /><Relationship Type="http://schemas.openxmlformats.org/officeDocument/2006/relationships/slide" Target="/ppt/slides/slide7.xml" Id="R61b24dd6954342d4" /><Relationship Type="http://schemas.openxmlformats.org/officeDocument/2006/relationships/slide" Target="/ppt/slides/slide8.xml" Id="Rcc51062ea24d4613" /><Relationship Type="http://schemas.openxmlformats.org/officeDocument/2006/relationships/slide" Target="/ppt/slides/slide9.xml" Id="Rc2a50c12cb524739" /><Relationship Type="http://schemas.openxmlformats.org/officeDocument/2006/relationships/slide" Target="/ppt/slides/slide10.xml" Id="R0a79e7b4940f424c" /><Relationship Type="http://schemas.openxmlformats.org/officeDocument/2006/relationships/slide" Target="/ppt/slides/slide11.xml" Id="R443963df7fa8406f" /><Relationship Type="http://schemas.openxmlformats.org/officeDocument/2006/relationships/slide" Target="/ppt/slides/slide12.xml" Id="R64ce26da10154a9a" /><Relationship Type="http://schemas.openxmlformats.org/officeDocument/2006/relationships/slide" Target="/ppt/slides/slide13.xml" Id="Ra9dc158e1c2e40eb" /><Relationship Type="http://schemas.openxmlformats.org/officeDocument/2006/relationships/slide" Target="/ppt/slides/slide14.xml" Id="Rc4c95d058e034b72" /><Relationship Type="http://schemas.openxmlformats.org/officeDocument/2006/relationships/slide" Target="/ppt/slides/slide15.xml" Id="Rc9c56f53d1c74dc9" /><Relationship Type="http://schemas.openxmlformats.org/officeDocument/2006/relationships/slide" Target="/ppt/slides/slide16.xml" Id="R203f62fe259f47d1" /><Relationship Type="http://schemas.openxmlformats.org/officeDocument/2006/relationships/slide" Target="/ppt/slides/slide17.xml" Id="Rc3ff50b258a54be0" /><Relationship Type="http://schemas.openxmlformats.org/officeDocument/2006/relationships/slide" Target="/ppt/slides/slide18.xml" Id="Re68421493a534391" /><Relationship Type="http://schemas.openxmlformats.org/officeDocument/2006/relationships/slide" Target="/ppt/slides/slide19.xml" Id="R461297786a7f4740" /><Relationship Type="http://schemas.openxmlformats.org/officeDocument/2006/relationships/slide" Target="/ppt/slides/slide20.xml" Id="R74b44588ae454b85" /><Relationship Type="http://schemas.openxmlformats.org/officeDocument/2006/relationships/slide" Target="/ppt/slides/slide21.xml" Id="R0b50f53e66dd40d0" /><Relationship Type="http://schemas.openxmlformats.org/officeDocument/2006/relationships/slide" Target="/ppt/slides/slide22.xml" Id="R6222473022a542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aa2d68f53e4a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35b4a086264186" /><Relationship Type="http://schemas.openxmlformats.org/officeDocument/2006/relationships/notesMaster" Target="/ppt/notesMasters/notesMaster1.xml" Id="Rbd7d972481d84c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d73ea46afe4242" /><Relationship Type="http://schemas.openxmlformats.org/officeDocument/2006/relationships/notesMaster" Target="/ppt/notesMasters/notesMaster1.xml" Id="Rfad2559337454f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b8b9a62f7a454e" /><Relationship Type="http://schemas.openxmlformats.org/officeDocument/2006/relationships/notesMaster" Target="/ppt/notesMasters/notesMaster1.xml" Id="R02f9feb46b784d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2bb0044f2a4448" /><Relationship Type="http://schemas.openxmlformats.org/officeDocument/2006/relationships/notesMaster" Target="/ppt/notesMasters/notesMaster1.xml" Id="Ra25044642e2b46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4803d111f742e4" /><Relationship Type="http://schemas.openxmlformats.org/officeDocument/2006/relationships/notesMaster" Target="/ppt/notesMasters/notesMaster1.xml" Id="R800a4c10457e40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033fcbb00c46d2" /><Relationship Type="http://schemas.openxmlformats.org/officeDocument/2006/relationships/notesMaster" Target="/ppt/notesMasters/notesMaster1.xml" Id="R88462a0b589440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e027535b784ae3" /><Relationship Type="http://schemas.openxmlformats.org/officeDocument/2006/relationships/notesMaster" Target="/ppt/notesMasters/notesMaster1.xml" Id="R6924f88c61d142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1b9651c0364f89" /><Relationship Type="http://schemas.openxmlformats.org/officeDocument/2006/relationships/notesMaster" Target="/ppt/notesMasters/notesMaster1.xml" Id="R27d669189e2540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e2d5473b0e46eb" /><Relationship Type="http://schemas.openxmlformats.org/officeDocument/2006/relationships/notesMaster" Target="/ppt/notesMasters/notesMaster1.xml" Id="R9b49cf6246ee47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2b4a00485e4618" /><Relationship Type="http://schemas.openxmlformats.org/officeDocument/2006/relationships/notesMaster" Target="/ppt/notesMasters/notesMaster1.xml" Id="Rf9e87429e7da49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3e75501d7d46e7" /><Relationship Type="http://schemas.openxmlformats.org/officeDocument/2006/relationships/notesMaster" Target="/ppt/notesMasters/notesMaster1.xml" Id="R2312124f06954e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be83d0d407465f" /><Relationship Type="http://schemas.openxmlformats.org/officeDocument/2006/relationships/notesMaster" Target="/ppt/notesMasters/notesMaster1.xml" Id="Rd211757266b243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6e652571d74723" /><Relationship Type="http://schemas.openxmlformats.org/officeDocument/2006/relationships/notesMaster" Target="/ppt/notesMasters/notesMaster1.xml" Id="R64cbefd1459e4f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b71c504b9d4e9e" /><Relationship Type="http://schemas.openxmlformats.org/officeDocument/2006/relationships/notesMaster" Target="/ppt/notesMasters/notesMaster1.xml" Id="R8c48df6e3ef647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ac7fbca4494da1" /><Relationship Type="http://schemas.openxmlformats.org/officeDocument/2006/relationships/notesMaster" Target="/ppt/notesMasters/notesMaster1.xml" Id="Re31a12bbd61d47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81d934f87b4c58" /><Relationship Type="http://schemas.openxmlformats.org/officeDocument/2006/relationships/notesMaster" Target="/ppt/notesMasters/notesMaster1.xml" Id="R72a283b161c441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dd7d6d6898444e" /><Relationship Type="http://schemas.openxmlformats.org/officeDocument/2006/relationships/notesMaster" Target="/ppt/notesMasters/notesMaster1.xml" Id="Re2773f8e21a14b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11ac389f8f4caf" /><Relationship Type="http://schemas.openxmlformats.org/officeDocument/2006/relationships/notesMaster" Target="/ppt/notesMasters/notesMaster1.xml" Id="R1e6b37013765430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5fd6707e21465d" /><Relationship Type="http://schemas.openxmlformats.org/officeDocument/2006/relationships/notesMaster" Target="/ppt/notesMasters/notesMaster1.xml" Id="R709880f5b61044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b30698d9b74e77" /><Relationship Type="http://schemas.openxmlformats.org/officeDocument/2006/relationships/notesMaster" Target="/ppt/notesMasters/notesMaster1.xml" Id="Rc693e3dbcc524a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f022723b1c41c5" /><Relationship Type="http://schemas.openxmlformats.org/officeDocument/2006/relationships/notesMaster" Target="/ppt/notesMasters/notesMaster1.xml" Id="R2b934a9ccaff4e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18290cfb084caa" /><Relationship Type="http://schemas.openxmlformats.org/officeDocument/2006/relationships/notesMaster" Target="/ppt/notesMasters/notesMaster1.xml" Id="Ra8a095de6d824f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State the guiding question: how do K competing scores become stable probabilities and defensible multiclass evidence? The three colored streams represent competing class scores normalized into one 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Point students to the worksheet. The lesson begins with task semantics and ends with a defensible evaluation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Extend the Week 6 binary output to K class logits. The output width equals the class count for mutually exclusive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number of labels alone does not decide the output. Ask whether several labels can be true simultaneously.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Logits do not obey probability constraints. Only their differences matter. The largest score determines the argmax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Compute the example z equals two, one, zero. After stable shifting, the probabilities are approximately .665, .245, and .090.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Prove shift invariance by factoring out exp c. Adding the same constant to one row leaves all class probabilities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Walk through the stable calculation. Maximum subtraction prevents overflow without changing any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Class index one corresponds to the one-hot row zero, one, zero. The class mapping must travel with saved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one-hot and class-index forms define the same objective. Use stable log probabilities rather than log of a rounded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Cross-entropy selects the probability assigned to the target. Here class zero wins but class one is correct, giving a loss near 1.609.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Interpret the signs of P minus Y. The target component is negative; non-target components are positive. Every row sums to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Trace the dimensions. The batch dimension m is preserved in outputs; the class dimension K is introduced by the weight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Contract the observations dimension for the weight gradient and sum the shared bias contribution over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lab checks every element of W and b. A low error supports derivative code at these values, not the whole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Training fits, validation selects, and test estimates after decisions are fixed. If test data influence a choice, the result must be labelled provisional.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State orientation before reading cells. One class-zero example becomes class one, and three class-one examples become class two.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 majority classifier is correct on half the observations but completely misses two classes. Macro recall exposes this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Students predict before execution, then record stability, gradient, validation, and locked-test evidence. The result belongs to one deterministic synthetic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Use the grid as a midterm consolidation. Give groups one failure and ask which link should have caught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Review task semantics, split identity, leakage, exact metric specification, reference, class evidence, and honest test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Collect five concise statements. Preview Week 8: depth, learning curves, overfitting, weight decay, early stopping, and dropout.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b90c24f4f648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2b718839e64ea5" /><Relationship Type="http://schemas.openxmlformats.org/officeDocument/2006/relationships/slideLayout" Target="/ppt/slideLayouts/slideLayout1.xml" Id="R62820b865bbc47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820b865bbc47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384c046364ecd" /><Relationship Type="http://schemas.openxmlformats.org/officeDocument/2006/relationships/image" Target="/ppt/media/image.png" Id="R529abcb44d304d2e" /><Relationship Type="http://schemas.openxmlformats.org/officeDocument/2006/relationships/notesSlide" Target="/ppt/notesSlides/notesSlide1.xml" Id="R93e41f50c3cc4c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e6e3e55994abc" /><Relationship Type="http://schemas.openxmlformats.org/officeDocument/2006/relationships/notesSlide" Target="/ppt/notesSlides/notesSlide2.xml" Id="Rcd95676697ca4c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c7bac5b7544fc" /><Relationship Type="http://schemas.openxmlformats.org/officeDocument/2006/relationships/notesSlide" Target="/ppt/notesSlides/notesSlide3.xml" Id="R5bc733fc4be14e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57ab6021847fe" /><Relationship Type="http://schemas.openxmlformats.org/officeDocument/2006/relationships/notesSlide" Target="/ppt/notesSlides/notesSlide4.xml" Id="R441f35ffc63943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0e487908246de" /><Relationship Type="http://schemas.openxmlformats.org/officeDocument/2006/relationships/notesSlide" Target="/ppt/notesSlides/notesSlide5.xml" Id="R980ece30c6e245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94e8809944990" /><Relationship Type="http://schemas.openxmlformats.org/officeDocument/2006/relationships/notesSlide" Target="/ppt/notesSlides/notesSlide6.xml" Id="R2eb5736fa27c4f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5d67209ce48db" /><Relationship Type="http://schemas.openxmlformats.org/officeDocument/2006/relationships/notesSlide" Target="/ppt/notesSlides/notesSlide7.xml" Id="Rf7ec0d7c7e8b47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1532910034178" /><Relationship Type="http://schemas.openxmlformats.org/officeDocument/2006/relationships/notesSlide" Target="/ppt/notesSlides/notesSlide8.xml" Id="R4b112b8879b642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9a5ffd17b4c9f" /><Relationship Type="http://schemas.openxmlformats.org/officeDocument/2006/relationships/notesSlide" Target="/ppt/notesSlides/notesSlide9.xml" Id="R43a547e843984d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1ebe2e7a54fc1" /><Relationship Type="http://schemas.openxmlformats.org/officeDocument/2006/relationships/notesSlide" Target="/ppt/notesSlides/notesSlide10.xml" Id="Rc05c79a4038845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4e066ca984c67" /><Relationship Type="http://schemas.openxmlformats.org/officeDocument/2006/relationships/notesSlide" Target="/ppt/notesSlides/notesSlide11.xml" Id="Re5445d4f3ab043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f906d2eeb4264" /><Relationship Type="http://schemas.openxmlformats.org/officeDocument/2006/relationships/notesSlide" Target="/ppt/notesSlides/notesSlide12.xml" Id="Ra08da6b1d7de45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6ab5d456641e7" /><Relationship Type="http://schemas.openxmlformats.org/officeDocument/2006/relationships/notesSlide" Target="/ppt/notesSlides/notesSlide13.xml" Id="R31eb7895bb564c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1f9cc76974eb0" /><Relationship Type="http://schemas.openxmlformats.org/officeDocument/2006/relationships/notesSlide" Target="/ppt/notesSlides/notesSlide14.xml" Id="Rb9f95baf13cf4b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e6e3f473546f7" /><Relationship Type="http://schemas.openxmlformats.org/officeDocument/2006/relationships/notesSlide" Target="/ppt/notesSlides/notesSlide15.xml" Id="R4d34c9483d0344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2eb525e62442d" /><Relationship Type="http://schemas.openxmlformats.org/officeDocument/2006/relationships/notesSlide" Target="/ppt/notesSlides/notesSlide16.xml" Id="Rdcac477e2d4e43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f0b0de91f49f1" /><Relationship Type="http://schemas.openxmlformats.org/officeDocument/2006/relationships/notesSlide" Target="/ppt/notesSlides/notesSlide17.xml" Id="Re0a98f0df2d940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1a9e674564b20" /><Relationship Type="http://schemas.openxmlformats.org/officeDocument/2006/relationships/notesSlide" Target="/ppt/notesSlides/notesSlide18.xml" Id="R4470487eca8349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b283b6e3f4f99" /><Relationship Type="http://schemas.openxmlformats.org/officeDocument/2006/relationships/notesSlide" Target="/ppt/notesSlides/notesSlide19.xml" Id="R28650cc8166840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4ef3b7f384156" /><Relationship Type="http://schemas.openxmlformats.org/officeDocument/2006/relationships/notesSlide" Target="/ppt/notesSlides/notesSlide20.xml" Id="R89180c37f0b2414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afd18eb7e48cf" /><Relationship Type="http://schemas.openxmlformats.org/officeDocument/2006/relationships/notesSlide" Target="/ppt/notesSlides/notesSlide21.xml" Id="Rec5d81fd8bec429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43179cfa043f9" /><Relationship Type="http://schemas.openxmlformats.org/officeDocument/2006/relationships/notesSlide" Target="/ppt/notesSlides/notesSlide22.xml" Id="Rc5299e7f862846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abcb44d304d2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CAB35-A5C1-4ADA-A76D-1A1A5AD1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50EE8-CA73-4D57-9948-FF344CB7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6C27A-C6A1-49B6-968D-59800F67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667A2-977C-4C59-BA2A-02DF19F8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EABE2-DA8C-47C6-A377-5F45DB05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905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Multiclass learning</a:t>
            </a:r>
          </a:p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consolidation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DC6E8-0A37-4F59-BAF4-D4A8533D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557142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2E6C8-BF72-44A5-9568-BA840EB3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Today's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5480D-7030-4658-8917-F2DCFA53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D5982-EBF9-4B44-BE89-CCB830F8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CD916-05C1-4F96-BF09-962AB9AA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4F204-3D8A-47F6-B6C2-90917655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Seven products connect output design to an evaluation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7646F-D165-41DF-B46E-99379EC0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84648-B7A0-4F31-A2A6-3BD2F3DB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7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9E998-431D-45E3-BCD5-C578916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573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task semantics determine the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39506-8067-440F-BA2E-9D345CD0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574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DABAD-FE10-4377-8111-E6B3C2A6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5DBD1-0871-4F2F-9BA2-D25ABCEB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Stable softmax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772BC-F133-4DBC-B054-3E6EE9ED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479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row-wise maximum subtraction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677BA-FB38-4DEC-A5F2-0BC9F0DE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479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E747D-BD9D-4882-A573-1FC8172F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87F61-113B-48F6-B1BD-CC93D6AD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Target and 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5432F-3CCA-4395-9311-5A86F20F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384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class index or one-hot cross-entropy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2AD77-79BC-4901-81B6-111D9E0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385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25C40-8780-4952-9DE6-09A5CF33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9A320-F03C-49DE-9C64-13873AB2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 gradient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CB9E8-F3A6-464C-9CF4-A05F1AE2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290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 − Y with valid shapes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70DC6-67F3-4B38-9AAC-31742B42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290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B04DBE-D069-4A16-B789-0FBC122B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6B454-88C6-4F4D-B450-3F11383B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Gradient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08EB7-19EF-4F57-AA3D-E03B788D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95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analytical and numerical agreement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AB80C6-699C-423E-B00C-96AAF4E2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F370A-615E-4B09-81D6-49B42AE6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E4C525-40CE-4A4A-9772-751DBED9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Class-aware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23310B-F7CD-4C64-8438-76B72F2D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01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confusion matrix and macro recall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94759-730D-4E5D-BA52-6FD1804D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01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99B11E-ACFD-4ED6-A5E0-D717C17C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3A34B5-634F-417C-9733-45C5B913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Evaluation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D96D57-7D79-4D64-88D3-BF373CE5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006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metric, split, leakage, and test status</a:t>
            </a:r>
          </a:p>
        </p:txBody>
      </p:sp>
    </p:spTree>
    <p:extLst>
      <p:ext uri="{BB962C8B-B14F-4D97-AF65-F5344CB8AC3E}">
        <p14:creationId xmlns:p14="http://schemas.microsoft.com/office/powerpoint/2010/main" val="662197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A2CDC-219F-4B3B-8CFA-1AAEAC62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one binary logit to K class logits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AB2A4-4A04-4EC7-96D9-6CC1AC23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8B245-E26B-4818-94CE-6025035B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4DD96-1EF6-490F-8AE7-F0AB573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B86C3-54A8-4598-BF5F-6ED952F3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BINARY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1CB9F-9D61-4519-891D-310C30CF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000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0399A-A2C9-4D67-B794-B66AC798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logit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65A47-54EB-42F2-BFD7-D9B7A95A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sigmoid → P(class 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5FA9C-1862-4EB5-BA89-E5ABCA7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62250"/>
            <a:ext cx="857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77144-D385-43A0-B80A-BED2B03A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MUTUALLY EXCLUSIVE MULTICLASS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978A0-F2D9-4D47-8A6A-5752731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4857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2AAED-9C1A-4015-B8D0-063FC884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812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 logits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BA18F-3D90-44F9-9CA7-4FA2EF3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softmax → one distribution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A9D7D-969D-439E-AC5E-197A7263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191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F29BD-ED18-4DF0-A435-F881F631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 = XW + b       Z : (m, K)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F19B5-D086-4900-9FC3-91C327E8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810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Exactly one class is correct for each observation.</a:t>
            </a:r>
          </a:p>
        </p:txBody>
      </p:sp>
    </p:spTree>
    <p:extLst>
      <p:ext uri="{BB962C8B-B14F-4D97-AF65-F5344CB8AC3E}">
        <p14:creationId xmlns:p14="http://schemas.microsoft.com/office/powerpoint/2010/main" val="1211136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907EB-BB55-475C-9070-3EDB5A82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 design follows target semantics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7D58C-14FD-48FF-A6E1-054D6105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C0307-B956-454D-82A4-7DF15123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B3967-4D8F-4BB5-9057-D688F563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04875" y="1524000"/>
          <a:ext xmlns:a="http://schemas.openxmlformats.org/drawingml/2006/main" cx="103822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810000"/>
                <a:gridCol w="3857625"/>
              </a:tblGrid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Mutually exclusive multiclass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Multilabel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How many may be correct?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exactly 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zero, one, or many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Output relationship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classes compete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labels are independent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Common 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one K-way softmax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K sigmoids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machine state: normal / warning / fault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image tags: smoke + vehicle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D998A-F8D7-4247-81A9-0D68F7AC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77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Ask whether labels can co-occur before choosing the output.</a:t>
            </a:r>
          </a:p>
        </p:txBody>
      </p:sp>
    </p:spTree>
    <p:extLst>
      <p:ext uri="{BB962C8B-B14F-4D97-AF65-F5344CB8AC3E}">
        <p14:creationId xmlns:p14="http://schemas.microsoft.com/office/powerpoint/2010/main" val="1982934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6D3EA-1B60-456D-BEA1-C016E7E9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Logits are relative scores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91ADB-FD32-4D38-B0D6-7E249FD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6340C-A860-4CB3-A01E-C0186432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B0C8D-A6F5-4B7F-9058-8E8011AB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E1545-E97E-4961-96E1-F58F7C44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0D269-9CD1-423C-9C1E-4C8317C9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−1.4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F914C-56E4-4FC2-8832-513B99AB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DE28B-7D75-4AC8-B6C2-EB1BF663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C04FA-34CD-41A9-9B2B-CFD867AD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2.1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C01CB-2FA0-4430-9DC7-F715CAD7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13A0E-5AD6-4BEC-B8EB-DFDECFA5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54C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A5A8E-1757-4D41-8FFA-13C37EC2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0.7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8A330-B895-4A5A-ACB4-90EAED1F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0D2B8-E5A4-405C-898B-B439475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negative allowed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9B472-5896-459F-AEA7-990FDEA5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larger than one 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F266B-49F8-4BDE-8BCF-7E5D0837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absolute value is not 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58CD0-B2BB-4C02-86B8-2111B879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05375"/>
            <a:ext cx="8001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7C0B1-519D-4B95-BA08-1121871D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prediction = argmax score = class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85FF3-6243-4C87-85BB-9D0354F0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531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Softmax compares every score in the same row.</a:t>
            </a:r>
          </a:p>
        </p:txBody>
      </p:sp>
    </p:spTree>
    <p:extLst>
      <p:ext uri="{BB962C8B-B14F-4D97-AF65-F5344CB8AC3E}">
        <p14:creationId xmlns:p14="http://schemas.microsoft.com/office/powerpoint/2010/main" val="1555065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78F564-962A-4EF3-A90F-0F043BCB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Softmax creates one probability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8801C-C372-4B94-BB70-6DAE8296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EC4F2-99E4-40E0-8ABB-25785925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1FCEE-BD84-4886-B8D5-02F519E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C39FE-4EDA-420F-927A-E2C617D7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55368-51F1-4E7B-9E92-EC8DC705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737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pₖ = exp(zₖ) / Σⱼ exp(zⱼ)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B5697-FAC2-488E-ABA7-85822B81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class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86D68-C584-4CBB-B691-9F7FD425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581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BB066-A8D7-4C66-AF73-BA4CDE51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3863816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D78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E5672-A843-443C-92A5-C1C70B1D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671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0.665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0D09A-F5AE-4CF4-BA5B-641A476F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624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class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3B641-32A4-4983-AD8D-47A6273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581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2C4F8-4346-4773-8FDE-B14F80EC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1423511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BAF91-F309-49F3-8276-6CC68E3C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291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0.245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140FE-29F8-4F89-910A-FD0212AE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244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class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69A8B-4337-4B3E-9658-FA2FD4DD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581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48B35-8CD9-44EE-B3B6-A7C527C9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522923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02C19-B2BF-4D73-A29F-1D5A4E91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911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0.090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851FE-481E-49A9-B44D-D26302FB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3336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E3421-D07C-4AD0-BB9B-F3C4CAFE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0 &lt; pₖ &lt;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C7AB2-7448-4A9F-83D0-7FF8BB79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Σ pₖ =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CBE7D-7C13-4402-9A8E-4572434F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053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argmax preserved</a:t>
            </a:r>
          </a:p>
        </p:txBody>
      </p:sp>
    </p:spTree>
    <p:extLst>
      <p:ext uri="{BB962C8B-B14F-4D97-AF65-F5344CB8AC3E}">
        <p14:creationId xmlns:p14="http://schemas.microsoft.com/office/powerpoint/2010/main" val="1568531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85176-0717-4C8E-ACF9-901667FC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differences among logits matter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9E7E6-EA62-42CA-8A9D-C40B0015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67B3A-8C7B-41FB-A904-7E3B2C9F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72E02-526E-41CA-8838-428C28C5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7AE30-9EB0-4C9E-97A4-FF3825D5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C3D01-F993-48F5-80DB-1C29B0C4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2400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14D50-AAE2-4978-B420-96EB62C1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859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[ 2, 1, 0 ]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C954B-C656-4BB9-8052-4FAB97C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38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5F345-9FE5-4CDB-B68F-FC0B191E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74924-9951-468E-8AE1-C66876A6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85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80016-23D2-4235-80A9-796D82A5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38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77DFC-D187-4084-A2A7-E6CBBD28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34322-B78E-4D9D-92AB-33DE8CFD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430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[1002,</a:t>
            </a:r>
          </a:p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1001,1000]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C88A7-8797-4E4C-A4CA-E9596973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876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81526-4168-435A-9FD6-D13CA7D5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813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softmax(z + c) = softmax(z)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82132-5497-471C-83B7-6B9B13D2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exp(c) appears in every numerator and the denominator, then cancels.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36B69-8863-4D7F-B6CC-9716592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721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74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Shift invariance makes stable maximum subtraction valid.</a:t>
            </a:r>
          </a:p>
        </p:txBody>
      </p:sp>
    </p:spTree>
    <p:extLst>
      <p:ext uri="{BB962C8B-B14F-4D97-AF65-F5344CB8AC3E}">
        <p14:creationId xmlns:p14="http://schemas.microsoft.com/office/powerpoint/2010/main" val="777212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668D6-8888-469F-A653-28D88F84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Subtract the row maximum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4964C-A30A-45F1-B1EC-5B53EC82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7F687-36F6-48F5-A43F-5E86A12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2A9A8-027C-45AB-BD2E-64607EE0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676DD-AF36-44A6-8BA1-5CEA048F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0025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CE830-2920-4CFB-9585-B42AA480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AE872-D69F-432B-9C50-414CA450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ROW LOGITS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21AD8-B725-428A-8A9C-6B96FA2C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[1002, 1001, 998]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42A90-2531-4F98-AF7B-94E5B513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051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A9832-E69C-4E42-9FC1-488D5C9C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78375-5EEA-42C6-9892-EAC058B2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C7D95-3A98-43E6-9FAB-8A397E6F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09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SUBTRACT 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E6FEA-0E66-45BB-B2FD-266230CE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[0, −1, −4]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31673-AD18-4564-948E-EE9E42BE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CD17E-2036-4DDE-AEC3-71C1E943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CB924-EEE4-4006-85D7-53CDB2E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FD537-11A9-4F31-8AA0-A823194E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9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EXPONENTIATE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5BDCF-90A1-4400-AAD9-D6268C15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[1, .368, .018]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80014-3130-4A37-B69A-DF44203E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C79A4-54DA-49B0-AF09-F038A99D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3B3A0-D875-44C3-A699-366D244A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43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C8AA3-991B-4EF3-8687-5826511E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09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8A642-26F9-42DA-AFD3-E8565D21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[.721, .265, .013]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DF3B1-6646-479B-89D1-32163E55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6BB09-7EAB-4EC3-ABE8-4E377116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largest shifted value is 0, so every exponential is ≤ 1.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F2225-B285-443E-A774-D831D3A6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857875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Compute independently across the class axis for every row.</a:t>
            </a:r>
          </a:p>
        </p:txBody>
      </p:sp>
    </p:spTree>
    <p:extLst>
      <p:ext uri="{BB962C8B-B14F-4D97-AF65-F5344CB8AC3E}">
        <p14:creationId xmlns:p14="http://schemas.microsoft.com/office/powerpoint/2010/main" val="6667063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6F42F-8B53-41A4-B5F1-54A54FCF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Class indices and one-hot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13AB5-73A5-42F8-8E38-C7AB011D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8CD4D-9BAC-4849-951B-B10A3F74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E5D34-226D-4EE3-B8CE-E07A14B7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476375" y="1619250"/>
          <a:ext xmlns:a="http://schemas.openxmlformats.org/drawingml/2006/main" cx="9239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905000"/>
                <a:gridCol w="4000500"/>
              </a:tblGrid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 meaning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Index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One-hot row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normal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[1, 0, 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warning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[0, 1, 0]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critical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[0, 0, 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63F85-E984-45A6-B9FF-7E14A929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9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compact representation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16917-916B-4FD8-8229-B7B9CC54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95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same target semantics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0FE3F-1416-4887-A571-8B161D52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8286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7705B-6521-44B3-97EA-B2E86326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3405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5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Class order must remain fixed in data, outputs, metrics, and reports.</a:t>
            </a:r>
          </a:p>
        </p:txBody>
      </p:sp>
    </p:spTree>
    <p:extLst>
      <p:ext uri="{BB962C8B-B14F-4D97-AF65-F5344CB8AC3E}">
        <p14:creationId xmlns:p14="http://schemas.microsoft.com/office/powerpoint/2010/main" val="2407221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4E111-5A53-4943-B2B4-9A21B2F2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Categorical cross-entropy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7A5D9-BA22-4F1B-A1FB-67B016D1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22707-64E3-4036-9F21-C0F200A5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7F657-B59C-4E6F-94F0-6A96FB4E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3BF21-2625-4730-91E6-7D2E003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ONE-HOT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DDBC4-048A-4D61-9ABA-EB8BDF08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0DC93-6C52-4F6E-A293-CA6C6B5C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 = −(1/m) Σᵢ Σₖ Yᵢₖ log Pᵢₖ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7D73E-9123-4C0C-9553-DADCD2A9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CLASS-INDEX 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EE4E9-E3E8-4D6C-9B89-A92F4EAE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477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42A8A-3BA4-47EE-9B1B-6DC974F8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 = −(1/m) Σᵢ log Pᵢ,ₜᵢ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6F77C-EF78-4E84-B819-FC6D3116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Only the target-class term survives in each row.</a:t>
            </a:r>
          </a:p>
        </p:txBody>
      </p:sp>
    </p:spTree>
    <p:extLst>
      <p:ext uri="{BB962C8B-B14F-4D97-AF65-F5344CB8AC3E}">
        <p14:creationId xmlns:p14="http://schemas.microsoft.com/office/powerpoint/2010/main" val="688019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444D7-C6E3-455B-99C5-4BB2CF6F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Cross-entropy uses the target probability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DAA16-FF72-4988-AA6D-187D613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CFB1F-1DB8-4568-B39E-679A856D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CB406-B85A-4DF3-87CD-09120157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125CA-877C-4A96-B2EB-B7AA7B31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572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A59AB-5C12-4CAB-9BB1-04F9E8BF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 = [0.70, 0.20, 0.10]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909EE-F555-44B9-916A-BBE6A4B2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71625"/>
            <a:ext cx="4572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E6388-D215-4D7A-8BD0-032632C8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target index 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35B92-8DF4-437D-905F-35CE5BC2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1143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62209-359C-46DB-89A1-E34A62B4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575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class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D8A39-77EA-459A-89B0-EA1F430A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81375"/>
            <a:ext cx="590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B2B4F-5F50-4FED-81A9-331DE782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81375"/>
            <a:ext cx="4133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78C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DE807-6CD7-4AF8-AA94-B121AA44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2422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0.70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FC345-5B9F-4279-B193-CCD8FFF6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class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738D7-FC10-4F25-BAFE-C76E6883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43375"/>
            <a:ext cx="590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00C3E-06D4-490C-95FA-A937FFF0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43375"/>
            <a:ext cx="1181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5F47C-0E47-49E5-A8E0-8E106EE3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8622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0.20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25B2C-D6CB-483A-B13C-557252BE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815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class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8F8F6-666F-48EF-A51D-8024FBC8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590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D29C28-226B-41E4-A5D6-8F2A672D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5905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E833D-07DE-4615-AD59-2872931A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4822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994D81-C02A-4BC5-A066-CAFDB5E2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2333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A4BD3-A480-4A1C-87E8-63CF5A69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623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ℓ = −log(.20)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390320-4655-47C0-8FBB-E72B9D56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≈ 1.609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1AE09-E9D3-4082-8E50-1D56404B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10250"/>
            <a:ext cx="771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Argmax is wrong, and the loss records the target probability.</a:t>
            </a:r>
          </a:p>
        </p:txBody>
      </p:sp>
    </p:spTree>
    <p:extLst>
      <p:ext uri="{BB962C8B-B14F-4D97-AF65-F5344CB8AC3E}">
        <p14:creationId xmlns:p14="http://schemas.microsoft.com/office/powerpoint/2010/main" val="13745730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B42E4-0C5F-43EF-987C-1B2CF14A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output gradient remains compact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8630A-8DC5-47BC-8249-801133F8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5DF0F-F3FC-4CC5-A68E-5E5F698C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BE33C-B23C-4099-888E-11503D2E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89BC7-FCB5-4517-ABF3-696A36DE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E5A62-B6D2-4866-9D45-7CCD44BE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52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GZ = (P − Y) /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A5A7E-7877-4EF8-BD90-55D5BB8C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ONE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80049-A4A0-4504-ABA8-68702277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F4234-5DD5-4F4E-8C99-32FDAFBE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100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[ 0.70, 0.20, 0.10 ]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53392-7395-4C49-AEB9-4AC450B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F7BD4-0498-4351-892E-BCE910CF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338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[ 0.00, 1.00, 0.00 ]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0E56D-FCCE-4CBA-A6DD-5EE14AF9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GZ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CA981-6A4D-48A1-9559-139396C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530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[ 0.70, −0.80, 0.10 ]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79F94-5DD9-4C8C-8B83-6C6C1E4F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02C3C-443A-4F17-BF09-6853D654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10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row sum =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31E5B-12D1-40DB-8604-766154A7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81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raise target score</a:t>
            </a:r>
          </a:p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lower competing scores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4C157-D26C-4B26-9CCB-3839C698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This is the multiclass analogue of Week 6.</a:t>
            </a:r>
          </a:p>
        </p:txBody>
      </p:sp>
    </p:spTree>
    <p:extLst>
      <p:ext uri="{BB962C8B-B14F-4D97-AF65-F5344CB8AC3E}">
        <p14:creationId xmlns:p14="http://schemas.microsoft.com/office/powerpoint/2010/main" val="18893150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F9830-842D-42E3-8F59-54B6160C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Linear softmax classifier shapes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B9DEF-F86E-4233-8C63-DBE6F650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4697E-7875-4CF1-BC0B-C3424926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0A1F9-1887-41DB-AA1C-D64BE0A9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000125" y="1476375"/>
          <a:ext xmlns:a="http://schemas.openxmlformats.org/drawingml/2006/main" cx="1019175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762500"/>
                <a:gridCol w="3238500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Shape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batch of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(m, 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class weight vectors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(d, K)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class biases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(1, K)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Z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logits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(m, K)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probabilities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(m, K)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one-hot targets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(m, K)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BE12B-5750-469D-B2B4-05B5055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53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The output width equals the number of classes.</a:t>
            </a:r>
          </a:p>
        </p:txBody>
      </p:sp>
    </p:spTree>
    <p:extLst>
      <p:ext uri="{BB962C8B-B14F-4D97-AF65-F5344CB8AC3E}">
        <p14:creationId xmlns:p14="http://schemas.microsoft.com/office/powerpoint/2010/main" val="17797234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2DDC3-E768-4AAA-B3C5-3C1E679F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 gradients match W and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36851-3E3F-4FA7-808D-8AAFD866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93167-935D-414F-82FC-5B2B82C5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7D535-B8AE-42A9-BD06-B4F1CB91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2A6FE-7B9B-478B-AF3F-7AA85377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WEIGHTS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47075-F44E-4CBE-B9E3-FDCE7E5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857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C1213-1F68-4AC1-90B1-79726304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GW = XᵀGZ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DD9C2-D43C-463E-8671-7E5E24B0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432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(d,m)(m,K) = (d,K)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46EC6-A2FB-493E-9F66-B08AD62E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B1E1E-3D9D-4705-B772-3105C0E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84C89-667F-401C-B3E0-6315CEB0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Gb = sum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6819C-2150-467C-9606-7AD5E8DA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(1,K)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F7E25-AD3F-4F54-A993-11D5B6B2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8286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46FDC-C56E-42AA-9A32-81AD8370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 every gradient → update W and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A295D-C18A-428C-B4AC-D440ED90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Average once through GZ for the mean objective.</a:t>
            </a:r>
          </a:p>
        </p:txBody>
      </p:sp>
    </p:spTree>
    <p:extLst>
      <p:ext uri="{BB962C8B-B14F-4D97-AF65-F5344CB8AC3E}">
        <p14:creationId xmlns:p14="http://schemas.microsoft.com/office/powerpoint/2010/main" val="2382666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E8EB3-3FB6-4D35-8019-FF8210F0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Numerical checking isolates derivative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4F329-345F-46ED-B91E-8F1A966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D8B45-7F6B-4848-A1D7-69B12754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27891-549F-4438-B763-9EFEBD00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84283-B7B8-4802-837D-E8F3AD96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D4626-9833-423B-B619-E956CC84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859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Gⱼ(num) ≈ [ J(θⱼ + ε) − J(θⱼ − ε) ] / 2ε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90526-1C34-4BEA-9DEE-50E75B92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ANALYTICAL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C7C4D-C92D-4CCC-919E-586B18D2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0605D-245F-4BE9-98D3-275EC8AA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9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backward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DC0B6-850B-47FA-93F2-33C1FC33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4812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EC689-5C41-452A-909C-07855630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NUMERICAL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03C75-B225-4058-B951-DCC5E4EE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36FD2-94A8-431E-9CAD-8C387863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719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98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two losses per component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11CB4-32CE-4C69-8950-806D982D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9BF7A-2561-4038-9A42-8FD4D130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A9A04-84D2-41BC-A0E2-6F6FCC75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807CE-CFB1-4544-A028-1E96EB7D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719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relative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251D0-D57D-4B88-B2C1-3F000DB1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387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maximum relative error ≈ 8.1 × 10⁻¹¹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05747-6233-42EB-A4BE-D14337E7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10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teaching tolerance: 10⁻⁶</a:t>
            </a:r>
          </a:p>
        </p:txBody>
      </p:sp>
    </p:spTree>
    <p:extLst>
      <p:ext uri="{BB962C8B-B14F-4D97-AF65-F5344CB8AC3E}">
        <p14:creationId xmlns:p14="http://schemas.microsoft.com/office/powerpoint/2010/main" val="11932416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A7618-88CD-43CB-8D7A-7C3112C1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Selection and final evaluation have different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1F990-A4FC-4B16-9722-A11655B0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AC2F7-6AE0-408D-9C16-8DD88781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08A9E-CF91-4386-9886-25966995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7E21A-FD43-410E-81E8-E3EA0BDD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6FB0E-2F33-4546-9C0F-2F6DE265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9A961-FE8F-4331-A0D5-62AA8AA8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4F716-863B-45FB-9B11-2572C1F2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fit parameters</a:t>
            </a:r>
          </a:p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preprocessing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B1AE9-14E5-4862-96E4-D81E4FA1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480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FF6E7-8FE8-4AB1-8A3D-DB3312A4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403B4-445C-47FD-90F6-E9597081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56E77-D5BE-4E2C-80E9-7DFA5561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241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AEACF-FA8C-4544-8DE1-2DF7172B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learning rate</a:t>
            </a:r>
          </a:p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freeze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C73CF-7F77-47A5-81D9-A754281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480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E01FB-B626-41E0-BAC5-4E123112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716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41800-C007-4439-A396-6C2CD9E4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54C7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03845-95C8-4E1F-BAF0-80C4D0AE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241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A5BE6-F8BB-48A2-AA33-15CF266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once for</a:t>
            </a:r>
          </a:p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510F7-4298-4F3F-AC67-371DD27E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0537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A test result used for selection is no longer independent.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87787-0B2C-445C-A2DD-D8EC3335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19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Label it provisional and obtain a new final evaluation plan.</a:t>
            </a:r>
          </a:p>
        </p:txBody>
      </p:sp>
    </p:spTree>
    <p:extLst>
      <p:ext uri="{BB962C8B-B14F-4D97-AF65-F5344CB8AC3E}">
        <p14:creationId xmlns:p14="http://schemas.microsoft.com/office/powerpoint/2010/main" val="14989286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5FEDC-059D-44EB-A618-7EE76014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Read the confusion matrix orientation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8C629-8925-412D-89E1-146D574B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47800-5528-49E7-9DB7-1BE79E63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204CD-FF62-405B-B5C7-A3F27F43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646DA-F2FC-40C5-B2AC-9382729B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Rows = true classes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34FD6-F028-431C-AFE4-B47E93F5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Columns = predicted classes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857375" y="2000250"/>
          <a:ext xmlns:a="http://schemas.openxmlformats.org/drawingml/2006/main" cx="84772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428750"/>
                <a:gridCol w="1428750"/>
                <a:gridCol w="1428750"/>
                <a:gridCol w="1809750"/>
              </a:tblGrid>
              <a:tr h="75009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True \ Pred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 0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 1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 2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class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class 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class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8DD93-E063-4D11-855C-CFE821D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81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diagonal = correct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3F258-9BC1-486B-9031-36CC8E5C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81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off-diagonal = named error 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C375A-1A80-4246-AD3F-19E8C271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05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Every row total must equal the true-class support.</a:t>
            </a:r>
          </a:p>
        </p:txBody>
      </p:sp>
    </p:spTree>
    <p:extLst>
      <p:ext uri="{BB962C8B-B14F-4D97-AF65-F5344CB8AC3E}">
        <p14:creationId xmlns:p14="http://schemas.microsoft.com/office/powerpoint/2010/main" val="16614996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475C4-9B4B-4D1F-8CBB-8D893BE5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 and macro recall answer different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45FBD-6163-4EF8-9680-F1C70D3C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696DC-53C4-4AEA-8ADA-13553F94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60A24-4191-4CDB-BCB1-1CD5BDE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0B92C-91B9-438B-BAC0-96FBF57E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E77B5-0407-4BAB-82F9-D4EFA8F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233FA-8768-4722-8C59-885A17FE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812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correct / all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21EA9-DEC5-4B64-92B7-C2E64C90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MACRO 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7E48F-B611-41FF-830E-DF80B782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2B395-8145-41EB-BFD2-BBC43B76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 of per-class recalls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E1ED6-5F23-4A08-813D-F3822B2F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majority classifier on class counts [30, 18, 12]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E7D3B-C62A-488E-8F49-79785B46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3714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FE0CB-8EBE-47BD-8D75-505BA985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81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accuracy = 0.500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D131B-CEB8-4665-A406-EB96C2A2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3714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D85FC-B682-45C4-A569-7CA04062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81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macro recall = 0.333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58FA2-42D0-4957-B836-BA3BB66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9055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4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 weights observations. Macro recall weights classes equally.</a:t>
            </a:r>
          </a:p>
        </p:txBody>
      </p:sp>
    </p:spTree>
    <p:extLst>
      <p:ext uri="{BB962C8B-B14F-4D97-AF65-F5344CB8AC3E}">
        <p14:creationId xmlns:p14="http://schemas.microsoft.com/office/powerpoint/2010/main" val="18423494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F4144-C607-4689-A6E1-02ED95F5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NumPy lab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74D2A-9CD3-4C6D-8DEF-1E443CA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6F0F2-89B1-4780-9806-15118298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97D93-0833-45F7-9C40-7396D621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65C6C-3F89-49E6-84FD-6CAD739F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8587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python labs/week07_softmax_numpy.py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2095500" y="1809750"/>
          <a:ext xmlns:a="http://schemas.openxmlformats.org/drawingml/2006/main" cx="8001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4290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value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Stable row sums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[1.000, 1.000]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Largest shift difference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0.000e+00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Maximum gradient error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8.086e−11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Selected rate by validation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0.80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Majority accuracy / macro recall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0.500 / 0.333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Model accuracy / macro recall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0.933 / 0.933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Model test cross-entropy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0.2179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5AA14-E8A1-42D3-ACCE-2F8EE912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055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Confusion rows true, columns predicted: [[29,1,0], [0,15,3], [0,0,12]]</a:t>
            </a:r>
          </a:p>
        </p:txBody>
      </p:sp>
    </p:spTree>
    <p:extLst>
      <p:ext uri="{BB962C8B-B14F-4D97-AF65-F5344CB8AC3E}">
        <p14:creationId xmlns:p14="http://schemas.microsoft.com/office/powerpoint/2010/main" val="11098791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0050E3-7681-49AE-AC68-90825E93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Consolidation: one evidence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2F7C2-EAC1-46ED-9749-9ACAF2F5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AE6F8-8B8E-4138-8D4E-528FE8E4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B6217-1943-454A-B325-767D194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37CEF-9EA8-4AD2-8CE5-76C53B57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19250"/>
            <a:ext cx="2571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AC302-6EF6-4DD9-A52D-B4C3B8E2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EE54B-7A83-4324-9263-63451BF4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711F0-6FF0-4BAE-81E1-B591730C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717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+ observation unit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171D3-4EAE-4775-B521-DDAF5A68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20980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F0D1F-B6AA-49C7-BE60-BEA2D307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571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6C1D7-5C10-42CC-AB32-65A806B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8F7FE-227D-47DB-AE60-65735F94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8097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4BDDD-BEB9-4FA3-B643-DD89AC80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provenance + leakage paths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82413-9CA1-454C-A6B1-30D2057F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291DB-00A0-4945-A30F-5BECFF84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2571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1C86C-A03B-4A4D-86CC-2AE0FE2E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B53BF-645E-4A5D-B389-F5390300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21200-1903-4C7B-9B72-04C0B576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 / validation / test roles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35E02-3D0F-4458-AFCB-11030CD2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0980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A4659-7440-4061-8893-659E41FB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571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12A65-C46B-4F52-B860-D6B8781F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621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19949-3885-4E09-BA53-3781B7BA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8097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B4118-DBA8-43FD-99F0-8A9B5447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forward shapes + output semantics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FED47-08F4-4545-A4DE-A26FFC6B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62375"/>
            <a:ext cx="2571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6760E-5EEA-4A38-BF3F-7C72C762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ADD31-A51F-443B-BA78-F8BC7BBD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47AEB-2E67-4658-8C8D-3A02E260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 + checked gradients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5ACF66-DE1C-4634-B23B-CC3BCD1F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529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0BA7BC-3E25-4823-877D-21F90006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2571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EFE2CD-6A55-45EA-9F0B-44F72E4C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52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A4B34E-4EA0-493D-B560-26099E0F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9528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25D5DF-C4ED-4B2F-AAEC-AF14C04C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76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777B6E-D4C3-4508-AD03-5F498DBE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529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EDE988-C965-4F8C-93DB-A3FB274C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62375"/>
            <a:ext cx="2571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A6783B-7436-45BD-8C80-6DDE38C5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7D71EC-EA0F-40E4-AB19-7C893C98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FF42B-F552-432A-B635-B0FCC5B4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+ class-specific errors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8CC66D-E279-4217-8CD5-38FE912A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3529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2DB5F3-CC17-4519-A448-19D8E47A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62375"/>
            <a:ext cx="2571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BD4CCB-0C6C-4442-98FF-5BA4012B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052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325918-706E-4771-B27F-2F443A18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528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048572-535F-4643-A70B-45DB0FB5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76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broader than the procedure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812A6-A9F6-4287-876A-0AEDE3E0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53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 model score is only one link.</a:t>
            </a:r>
          </a:p>
        </p:txBody>
      </p:sp>
    </p:spTree>
    <p:extLst>
      <p:ext uri="{BB962C8B-B14F-4D97-AF65-F5344CB8AC3E}">
        <p14:creationId xmlns:p14="http://schemas.microsoft.com/office/powerpoint/2010/main" val="4499467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EA7637-2E27-4421-AE7C-AEB5E911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Evaluation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D275F-D26C-4259-A965-DBCE430F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76BC7-538F-451A-9914-AA43D1D9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5F681-E321-4A26-86EA-60AB6A8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50961-F1EE-4E0F-8BD5-F3889E9C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1E4F7-48EB-44A8-A84E-778264B4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335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type, target, prediction 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4F31B-3C24-4243-A2B0-1FA729AB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8FB33-2411-401C-BF1B-0230F688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FBA4B-2E49-4E5A-8795-79DCF158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050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identities, roles, grouping,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7464E-3BED-48D8-BB89-38C4FE55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D0236-88C5-4B41-AD9E-3C12EEB7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LEAKAGE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B5EC6-79AB-43EC-AE9E-8A3C7BEC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duplicates, fitted preprocessing, target 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4832D-9F01-497A-A1CC-A3FAD791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1963B-1A09-4182-A3F4-68EF2B5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87076-4E30-494A-B3DE-E9ACE956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formula, direction, averaging, decision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E9214-835B-4AE9-B112-C076AEC1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84197-CB3F-43B6-8856-48E3EB5C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97E05-3F88-42F6-9D31-E4B2F769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simple model on the same observations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FA51D-264C-44D4-BEDC-64F9F855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9FA24-92A2-4335-A6E8-4B9E2444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CLASS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FD31D-ACB8-43BF-9A98-387D338C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support, recall, confusions or subgroups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ECA0B-5C76-4F38-AA3A-CFF066CF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B1C52-C6F9-42B7-B89E-5CDADD81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TEST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D20591-9F04-4116-8719-BB21F02F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locked, final use, or provisional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1110F-3C88-4F92-A08E-E086A7E9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4E08E-88AB-48CC-9AA2-AEA76BB7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AD2A51-A734-4BA6-9ADA-6892DC1F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340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claim, limitation, next experiment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E4C1A-1A54-446F-B624-7A12FCF2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0483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Audit evaluation before adding model complexity.</a:t>
            </a:r>
          </a:p>
        </p:txBody>
      </p:sp>
    </p:spTree>
    <p:extLst>
      <p:ext uri="{BB962C8B-B14F-4D97-AF65-F5344CB8AC3E}">
        <p14:creationId xmlns:p14="http://schemas.microsoft.com/office/powerpoint/2010/main" val="17132573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B4F43-D6B4-4A67-8908-D56F688C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and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9A6C3-424A-4800-880F-806700A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8BAC2-829C-4BD5-81F0-65BDD9B7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3A244-8FE7-4112-9D37-50CE7D25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8A648-351D-4A7A-AACC-D677DA23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52366-6A29-4174-B8BC-B72A34E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354E9-F8CD-442D-AD3F-E6A29B8F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573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must softmax be computed row-wise?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DD61A-5BA2-4BFD-B1D6-82491677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145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3CB49-BCAA-4E67-8BA3-F5198910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6537A-EC72-4A87-9CD5-2765E05C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431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does maximum subtraction change no probability?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F2FA5-ACE9-4EC4-B54E-1A73BD57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03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47A19-5457-475B-BFE5-6CBA30E6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289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12B74-6858-4A22-82A4-84EAF0EB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289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does GZ = (P − Y) / m?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29A12-B4E6-40B1-995B-816F1F5B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861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43D92-8CA8-4939-A4D3-96DFBDC4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14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F7B9F-B7D4-4F0F-A000-BF500D53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147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do confusion-matrix rows and columns mean?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F2196-4950-4BE9-BA00-44904D16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719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EC34B-25B4-45B5-8D25-57CC9850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005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71D55-92A7-4FB8-A3F1-8AD03079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is macro recall more informative than accuracy?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99AC4-389D-449D-A632-178426B4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150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95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Next: deeper networks, generalization gaps, and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687034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2026-09-06T16:15:58.7700000Z</dcterms:created>
  <dcterms:modified xsi:type="dcterms:W3CDTF">2026-09-06T16:15:58.7700000Z</dcterms:modified>
</coreProperties>
</file>