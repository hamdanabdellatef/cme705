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caff95c9c644fa" /><Relationship Type="http://schemas.openxmlformats.org/officeDocument/2006/relationships/extended-properties" Target="/docProps/app.xml" Id="R16430a7130064b14" /><Relationship Type="http://schemas.openxmlformats.org/officeDocument/2006/relationships/officeDocument" Target="/ppt/presentation.xml" Id="R44487a32054e4d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0db398166d47fb"/>
  </p:sldMasterIdLst>
  <p:notesMasterIdLst>
    <p:notesMasterId xmlns:r="http://schemas.openxmlformats.org/officeDocument/2006/relationships" r:id="R614c8a992508458e"/>
  </p:notesMasterIdLst>
  <p:sldIdLst>
    <p:sldId xmlns:r="http://schemas.openxmlformats.org/officeDocument/2006/relationships" id="256" r:id="Rdf53b54c17614db5"/>
    <p:sldId xmlns:r="http://schemas.openxmlformats.org/officeDocument/2006/relationships" id="257" r:id="R7efac855f55e43c6"/>
    <p:sldId xmlns:r="http://schemas.openxmlformats.org/officeDocument/2006/relationships" id="258" r:id="R4c095ab592494502"/>
    <p:sldId xmlns:r="http://schemas.openxmlformats.org/officeDocument/2006/relationships" id="259" r:id="Rd7757cee79b441b9"/>
    <p:sldId xmlns:r="http://schemas.openxmlformats.org/officeDocument/2006/relationships" id="260" r:id="R7ad01c9cfdec481f"/>
    <p:sldId xmlns:r="http://schemas.openxmlformats.org/officeDocument/2006/relationships" id="261" r:id="Rdc41ef1d315a4f82"/>
    <p:sldId xmlns:r="http://schemas.openxmlformats.org/officeDocument/2006/relationships" id="262" r:id="Rfd9203f6ba074e21"/>
    <p:sldId xmlns:r="http://schemas.openxmlformats.org/officeDocument/2006/relationships" id="263" r:id="R95fdd98fd025453b"/>
    <p:sldId xmlns:r="http://schemas.openxmlformats.org/officeDocument/2006/relationships" id="264" r:id="R2b64c379798b4843"/>
    <p:sldId xmlns:r="http://schemas.openxmlformats.org/officeDocument/2006/relationships" id="265" r:id="Re582f6c095064a63"/>
    <p:sldId xmlns:r="http://schemas.openxmlformats.org/officeDocument/2006/relationships" id="266" r:id="Ra9dc526d6bcf4aa0"/>
    <p:sldId xmlns:r="http://schemas.openxmlformats.org/officeDocument/2006/relationships" id="267" r:id="R9dd2b4dc8459417f"/>
    <p:sldId xmlns:r="http://schemas.openxmlformats.org/officeDocument/2006/relationships" id="268" r:id="Re60d07c745944a48"/>
    <p:sldId xmlns:r="http://schemas.openxmlformats.org/officeDocument/2006/relationships" id="269" r:id="Rf9f27ef9107b40c9"/>
    <p:sldId xmlns:r="http://schemas.openxmlformats.org/officeDocument/2006/relationships" id="270" r:id="Ra9204831398f4a6a"/>
    <p:sldId xmlns:r="http://schemas.openxmlformats.org/officeDocument/2006/relationships" id="271" r:id="R1237db2c6a224379"/>
    <p:sldId xmlns:r="http://schemas.openxmlformats.org/officeDocument/2006/relationships" id="272" r:id="R11d3f177240944d3"/>
    <p:sldId xmlns:r="http://schemas.openxmlformats.org/officeDocument/2006/relationships" id="273" r:id="R0078dca4c0154155"/>
    <p:sldId xmlns:r="http://schemas.openxmlformats.org/officeDocument/2006/relationships" id="274" r:id="R659407d2159d40eb"/>
    <p:sldId xmlns:r="http://schemas.openxmlformats.org/officeDocument/2006/relationships" id="275" r:id="R33e35098b7084b07"/>
    <p:sldId xmlns:r="http://schemas.openxmlformats.org/officeDocument/2006/relationships" id="276" r:id="R26483bebce144fe6"/>
    <p:sldId xmlns:r="http://schemas.openxmlformats.org/officeDocument/2006/relationships" id="277" r:id="R1b8806ede5bc45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74f4c155374aeb" /><Relationship Type="http://schemas.openxmlformats.org/officeDocument/2006/relationships/slideMaster" Target="/ppt/slideMasters/slideMaster1.xml" Id="R5d0db398166d47fb" /><Relationship Type="http://schemas.openxmlformats.org/officeDocument/2006/relationships/notesMaster" Target="/ppt/notesMasters/notesMaster1.xml" Id="R614c8a992508458e" /><Relationship Type="http://schemas.openxmlformats.org/officeDocument/2006/relationships/presProps" Target="/ppt/presProps.xml" Id="Rafea07f68ac1453b" /><Relationship Type="http://schemas.openxmlformats.org/officeDocument/2006/relationships/tableStyles" Target="/ppt/tableStyles.xml" Id="R7faea9a7c7644c72" /><Relationship Type="http://schemas.openxmlformats.org/officeDocument/2006/relationships/slide" Target="/ppt/slides/slide1.xml" Id="Rdf53b54c17614db5" /><Relationship Type="http://schemas.openxmlformats.org/officeDocument/2006/relationships/slide" Target="/ppt/slides/slide2.xml" Id="R7efac855f55e43c6" /><Relationship Type="http://schemas.openxmlformats.org/officeDocument/2006/relationships/slide" Target="/ppt/slides/slide3.xml" Id="R4c095ab592494502" /><Relationship Type="http://schemas.openxmlformats.org/officeDocument/2006/relationships/slide" Target="/ppt/slides/slide4.xml" Id="Rd7757cee79b441b9" /><Relationship Type="http://schemas.openxmlformats.org/officeDocument/2006/relationships/slide" Target="/ppt/slides/slide5.xml" Id="R7ad01c9cfdec481f" /><Relationship Type="http://schemas.openxmlformats.org/officeDocument/2006/relationships/slide" Target="/ppt/slides/slide6.xml" Id="Rdc41ef1d315a4f82" /><Relationship Type="http://schemas.openxmlformats.org/officeDocument/2006/relationships/slide" Target="/ppt/slides/slide7.xml" Id="Rfd9203f6ba074e21" /><Relationship Type="http://schemas.openxmlformats.org/officeDocument/2006/relationships/slide" Target="/ppt/slides/slide8.xml" Id="R95fdd98fd025453b" /><Relationship Type="http://schemas.openxmlformats.org/officeDocument/2006/relationships/slide" Target="/ppt/slides/slide9.xml" Id="R2b64c379798b4843" /><Relationship Type="http://schemas.openxmlformats.org/officeDocument/2006/relationships/slide" Target="/ppt/slides/slide10.xml" Id="Re582f6c095064a63" /><Relationship Type="http://schemas.openxmlformats.org/officeDocument/2006/relationships/slide" Target="/ppt/slides/slide11.xml" Id="Ra9dc526d6bcf4aa0" /><Relationship Type="http://schemas.openxmlformats.org/officeDocument/2006/relationships/slide" Target="/ppt/slides/slide12.xml" Id="R9dd2b4dc8459417f" /><Relationship Type="http://schemas.openxmlformats.org/officeDocument/2006/relationships/slide" Target="/ppt/slides/slide13.xml" Id="Re60d07c745944a48" /><Relationship Type="http://schemas.openxmlformats.org/officeDocument/2006/relationships/slide" Target="/ppt/slides/slide14.xml" Id="Rf9f27ef9107b40c9" /><Relationship Type="http://schemas.openxmlformats.org/officeDocument/2006/relationships/slide" Target="/ppt/slides/slide15.xml" Id="Ra9204831398f4a6a" /><Relationship Type="http://schemas.openxmlformats.org/officeDocument/2006/relationships/slide" Target="/ppt/slides/slide16.xml" Id="R1237db2c6a224379" /><Relationship Type="http://schemas.openxmlformats.org/officeDocument/2006/relationships/slide" Target="/ppt/slides/slide17.xml" Id="R11d3f177240944d3" /><Relationship Type="http://schemas.openxmlformats.org/officeDocument/2006/relationships/slide" Target="/ppt/slides/slide18.xml" Id="R0078dca4c0154155" /><Relationship Type="http://schemas.openxmlformats.org/officeDocument/2006/relationships/slide" Target="/ppt/slides/slide19.xml" Id="R659407d2159d40eb" /><Relationship Type="http://schemas.openxmlformats.org/officeDocument/2006/relationships/slide" Target="/ppt/slides/slide20.xml" Id="R33e35098b7084b07" /><Relationship Type="http://schemas.openxmlformats.org/officeDocument/2006/relationships/slide" Target="/ppt/slides/slide21.xml" Id="R26483bebce144fe6" /><Relationship Type="http://schemas.openxmlformats.org/officeDocument/2006/relationships/slide" Target="/ppt/slides/slide22.xml" Id="R1b8806ede5bc45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1aad8d4c7d41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c7e041527d42d3" /><Relationship Type="http://schemas.openxmlformats.org/officeDocument/2006/relationships/notesMaster" Target="/ppt/notesMasters/notesMaster1.xml" Id="Rc7c1d818f7ab49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84041f73804c63" /><Relationship Type="http://schemas.openxmlformats.org/officeDocument/2006/relationships/notesMaster" Target="/ppt/notesMasters/notesMaster1.xml" Id="R1d31e6a60b3b4b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2e8a589c9d4b3d" /><Relationship Type="http://schemas.openxmlformats.org/officeDocument/2006/relationships/notesMaster" Target="/ppt/notesMasters/notesMaster1.xml" Id="Rb1c48064137b43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9da9441c1b41a4" /><Relationship Type="http://schemas.openxmlformats.org/officeDocument/2006/relationships/notesMaster" Target="/ppt/notesMasters/notesMaster1.xml" Id="R3896e2b985424e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446206c2f64c01" /><Relationship Type="http://schemas.openxmlformats.org/officeDocument/2006/relationships/notesMaster" Target="/ppt/notesMasters/notesMaster1.xml" Id="Rd2ae75acf92e40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699a1d64b040bf" /><Relationship Type="http://schemas.openxmlformats.org/officeDocument/2006/relationships/notesMaster" Target="/ppt/notesMasters/notesMaster1.xml" Id="Rbc453c639fc641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43618edd2f41a3" /><Relationship Type="http://schemas.openxmlformats.org/officeDocument/2006/relationships/notesMaster" Target="/ppt/notesMasters/notesMaster1.xml" Id="R81646a1e04d248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c1bab5cc794398" /><Relationship Type="http://schemas.openxmlformats.org/officeDocument/2006/relationships/notesMaster" Target="/ppt/notesMasters/notesMaster1.xml" Id="R71bb412d21dd4f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c9ef67095146e3" /><Relationship Type="http://schemas.openxmlformats.org/officeDocument/2006/relationships/notesMaster" Target="/ppt/notesMasters/notesMaster1.xml" Id="Ra7962fade9a64e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0edd3af3534c13" /><Relationship Type="http://schemas.openxmlformats.org/officeDocument/2006/relationships/notesMaster" Target="/ppt/notesMasters/notesMaster1.xml" Id="Ra7db1542aa554e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15fa2dc30f44e5" /><Relationship Type="http://schemas.openxmlformats.org/officeDocument/2006/relationships/notesMaster" Target="/ppt/notesMasters/notesMaster1.xml" Id="Rf678fdbe1dd44c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912d9596274d4c" /><Relationship Type="http://schemas.openxmlformats.org/officeDocument/2006/relationships/notesMaster" Target="/ppt/notesMasters/notesMaster1.xml" Id="Rfeb8aa21294c47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47fa6b2cd14028" /><Relationship Type="http://schemas.openxmlformats.org/officeDocument/2006/relationships/notesMaster" Target="/ppt/notesMasters/notesMaster1.xml" Id="Re63dbcf7193043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d04fad1f334475" /><Relationship Type="http://schemas.openxmlformats.org/officeDocument/2006/relationships/notesMaster" Target="/ppt/notesMasters/notesMaster1.xml" Id="Rf054ce942fe940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05658693ea2409f" /><Relationship Type="http://schemas.openxmlformats.org/officeDocument/2006/relationships/notesMaster" Target="/ppt/notesMasters/notesMaster1.xml" Id="R8bf6f5a1a93c45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b4da042fd0f4f9e" /><Relationship Type="http://schemas.openxmlformats.org/officeDocument/2006/relationships/notesMaster" Target="/ppt/notesMasters/notesMaster1.xml" Id="Rca19f28d8b35428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bb537e7ce14d6a" /><Relationship Type="http://schemas.openxmlformats.org/officeDocument/2006/relationships/notesMaster" Target="/ppt/notesMasters/notesMaster1.xml" Id="R8ce4654b9dec4f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63c65cd9334482" /><Relationship Type="http://schemas.openxmlformats.org/officeDocument/2006/relationships/notesMaster" Target="/ppt/notesMasters/notesMaster1.xml" Id="Rbd16fd5212234bb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104dd69a0364f73" /><Relationship Type="http://schemas.openxmlformats.org/officeDocument/2006/relationships/notesMaster" Target="/ppt/notesMasters/notesMaster1.xml" Id="Rf7735a3ed7384c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ad7ce622e9848de" /><Relationship Type="http://schemas.openxmlformats.org/officeDocument/2006/relationships/notesMaster" Target="/ppt/notesMasters/notesMaster1.xml" Id="R23b9e372258343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2df4d456aa74216" /><Relationship Type="http://schemas.openxmlformats.org/officeDocument/2006/relationships/notesMaster" Target="/ppt/notesMasters/notesMaster1.xml" Id="R501e351395564f0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c5fc0d42dd5419b" /><Relationship Type="http://schemas.openxmlformats.org/officeDocument/2006/relationships/notesMaster" Target="/ppt/notesMasters/notesMaster1.xml" Id="R13ff821835d940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minutes. State the guiding question: how can we increase neural-network capacity without confusing better training fit with better generalization? The gated nodes represent dropout during training; the learning curves represent validation-controlled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Point students to the worksheet. The lesson moves from depth and diagnosis to three regularization tools, then tests dropout in a controlled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 deeper network composes transformations and raises capacity. Training fit alone cannot establish that the added capacity helps; selection still requires validation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Compare the evidence patterns. Weak training and validation performance suggests underfitting or optimization failure. A widening split gap suggests overfitting. A deployment subgroup failure may be distribution shift.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Use the derivative convention zero at z equals zero. ReLU avoids sigmoid saturation on its positive side but does not guarantee successful optimization.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Backpropagation multiplies local derivatives and weights through layers. Avoid presenting ReLU as a complete cure: initialization, normalization, architecture, and optimization all matter.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Read both curves. Discuss four patterns and ask what evidence would distinguish overfitting from a split mismatch or unstable validation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Compute the example gap as 0.37. A growing positive gap may indicate memorization or split mismatch, but the primary metric must still match the research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Derive the added gradient term. Select lambda using validation evidence and document which parameters are penalized.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With ordinary gradient descent, the L2 penalty yields multiplicative shrinkage. Explain that optimizer-specific decoupled weight decay is a separate implementation choice.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A complete rule names the monitored quantity, direction, minimum improvement, patience, maximum epochs, evaluation frequency, tie rule, and restored state. The last epoch is not automatically selected.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Dropout samples a subnetwork only during training. Dropped activations are zero and kept activations are divided by the keep probability.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Derive the expectation using E of M equals q. The measured training mean is approximately, not exactly, equal because one finite random mask fluctuates.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Reuse the mask saved during the forward pass. A dropped activation receives zero gradient in that pass. Resampling in backward would differentiate a computation that never occurred.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students to explain each row. The test loop must use evaluation behavior, otherwise the reported result is stochastic and measures a different procedure.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List every held-fixed decision. This experiment isolates dropout probability within one deterministic teaching setup; it does not estimate performance across data-generating processes.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Read the table vertically. Stronger dropout lowers validation loss and the generalization gap in this run. Selection uses validation loss only; the test split remains 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After validation fixes dropout 0.45, evaluate it and the predeclared no-dropout reference on the locked test split. State the confusion orientation and claim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Mechanism checks answer whether dropout uses the intended scaling, modes, and backward mask. Validation and test outcomes answer whether that implementation helped this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Dropout, weight penalties, and early stopping can reduce fitting to training detail. They cannot restore independence or make an irrelevant metric meaningful.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Review the assignment requirements. Students should change one factor, report uncertainty, preserve test independence, include implementation checks, and state a claim no broader than the procedure.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Collect five concise statements. Preview Week 9: local receptive fields, shared kernels, pooling, and the inductive bias of convolution.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bc339ddfd4d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85017cb38d4600" /><Relationship Type="http://schemas.openxmlformats.org/officeDocument/2006/relationships/slideLayout" Target="/ppt/slideLayouts/slideLayout1.xml" Id="R205b8ef060d844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5b8ef060d844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c5aa825734ef8" /><Relationship Type="http://schemas.openxmlformats.org/officeDocument/2006/relationships/image" Target="/ppt/media/image.png" Id="R1fce0992647d488e" /><Relationship Type="http://schemas.openxmlformats.org/officeDocument/2006/relationships/notesSlide" Target="/ppt/notesSlides/notesSlide1.xml" Id="Ra2ef12885b5649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01106f45b41c2" /><Relationship Type="http://schemas.openxmlformats.org/officeDocument/2006/relationships/notesSlide" Target="/ppt/notesSlides/notesSlide2.xml" Id="R88cb2c5e52ea4b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94e95d60742ac" /><Relationship Type="http://schemas.openxmlformats.org/officeDocument/2006/relationships/notesSlide" Target="/ppt/notesSlides/notesSlide3.xml" Id="Rbd0b1732cd4f44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d4967215047dd" /><Relationship Type="http://schemas.openxmlformats.org/officeDocument/2006/relationships/notesSlide" Target="/ppt/notesSlides/notesSlide4.xml" Id="R1e194ab0f2ad4c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e6401c95e49d0" /><Relationship Type="http://schemas.openxmlformats.org/officeDocument/2006/relationships/notesSlide" Target="/ppt/notesSlides/notesSlide5.xml" Id="R3486160ab33740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218f713d548f0" /><Relationship Type="http://schemas.openxmlformats.org/officeDocument/2006/relationships/notesSlide" Target="/ppt/notesSlides/notesSlide6.xml" Id="R5271ed2e3b9f4b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08e21ca5e4ae7" /><Relationship Type="http://schemas.openxmlformats.org/officeDocument/2006/relationships/notesSlide" Target="/ppt/notesSlides/notesSlide7.xml" Id="R6e9f338e935048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624112f2442aa" /><Relationship Type="http://schemas.openxmlformats.org/officeDocument/2006/relationships/notesSlide" Target="/ppt/notesSlides/notesSlide8.xml" Id="R2ebfc63881db44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0cfd999844887" /><Relationship Type="http://schemas.openxmlformats.org/officeDocument/2006/relationships/notesSlide" Target="/ppt/notesSlides/notesSlide9.xml" Id="R72689b4abe4e46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7e490b8634d91" /><Relationship Type="http://schemas.openxmlformats.org/officeDocument/2006/relationships/notesSlide" Target="/ppt/notesSlides/notesSlide10.xml" Id="Radf75355bd5e4e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f89f3b6024f8b" /><Relationship Type="http://schemas.openxmlformats.org/officeDocument/2006/relationships/notesSlide" Target="/ppt/notesSlides/notesSlide11.xml" Id="R07d5a9cd2bee48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44d47eb7b45af" /><Relationship Type="http://schemas.openxmlformats.org/officeDocument/2006/relationships/notesSlide" Target="/ppt/notesSlides/notesSlide12.xml" Id="Rebaaecca7cc147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c40b57ccf4608" /><Relationship Type="http://schemas.openxmlformats.org/officeDocument/2006/relationships/notesSlide" Target="/ppt/notesSlides/notesSlide13.xml" Id="R56e0d904533b4d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bd438ff2f4526" /><Relationship Type="http://schemas.openxmlformats.org/officeDocument/2006/relationships/notesSlide" Target="/ppt/notesSlides/notesSlide14.xml" Id="R9ebcee2c1d5445b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b60b1312742ca" /><Relationship Type="http://schemas.openxmlformats.org/officeDocument/2006/relationships/notesSlide" Target="/ppt/notesSlides/notesSlide15.xml" Id="R27eec75f7db246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b1662ce734981" /><Relationship Type="http://schemas.openxmlformats.org/officeDocument/2006/relationships/notesSlide" Target="/ppt/notesSlides/notesSlide16.xml" Id="R4360fe0b22e2487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4ab80ef1e403d" /><Relationship Type="http://schemas.openxmlformats.org/officeDocument/2006/relationships/notesSlide" Target="/ppt/notesSlides/notesSlide17.xml" Id="Rb2dd71efc8a740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7f80ca5ae45d4" /><Relationship Type="http://schemas.openxmlformats.org/officeDocument/2006/relationships/notesSlide" Target="/ppt/notesSlides/notesSlide18.xml" Id="R08d264acdfbf417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759c5322c45c2" /><Relationship Type="http://schemas.openxmlformats.org/officeDocument/2006/relationships/notesSlide" Target="/ppt/notesSlides/notesSlide19.xml" Id="Rb0811c50ae014df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fb9fb743e4d0a" /><Relationship Type="http://schemas.openxmlformats.org/officeDocument/2006/relationships/notesSlide" Target="/ppt/notesSlides/notesSlide20.xml" Id="R013b007298a040c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e2f7064c74a60" /><Relationship Type="http://schemas.openxmlformats.org/officeDocument/2006/relationships/notesSlide" Target="/ppt/notesSlides/notesSlide21.xml" Id="R9888e56d0651408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25b724540459f" /><Relationship Type="http://schemas.openxmlformats.org/officeDocument/2006/relationships/notesSlide" Target="/ppt/notesSlides/notesSlide22.xml" Id="Rb7ccf5ca3e3043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e0992647d488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12C3B-75FE-4E9A-B9DB-2FB88130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>
              <a:alpha val="85098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6F848-D672-43EC-AF87-0FCF29DD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CME705</a:t>
            </a:r>
          </a:p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09D7D-1EE3-4768-845B-CEF24764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90800"/>
            <a:ext cx="4810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Neural Networks, Deep Learning,</a:t>
            </a:r>
          </a:p>
          <a:p xmlns:a="http://schemas.openxmlformats.org/drawingml/2006/main">
            <a:pPr algn="l">
              <a:defRPr sz="21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and Research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6C500-C297-432D-9177-D88BE466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DEE83-C363-4EE0-A717-424C256F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WEEK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11275-6227-42CF-A331-A8A1A580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4905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Deep networks</a:t>
            </a:r>
          </a:p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generalization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CBDCC-85EC-464E-A910-DFAAB26C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CFD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CFD8"/>
                </a:solidFill>
                <a:latin typeface="Arial"/>
                <a:ea typeface="Arial"/>
                <a:cs typeface="Arial"/>
              </a:rPr>
              <a:t>Karabuk University   Department of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162057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7526C7-1AA6-4CBB-95C8-3655FBCC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Today's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831B2-DFAA-4B63-BC51-3FB15FD1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23D08-FA45-4861-9141-CB68C76F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12BA5-56B1-41B8-BA6F-697374C5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31240-0F36-4B65-ABCA-747B50DF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Mechanism checks and controlled outcome evidence stay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84553-D252-4DBF-B142-D8C46C50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CBB18-95AA-41FC-AB40-AE8815C1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78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Depth and ReLU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B8CE9-ABB5-40A3-99A7-4B2C7B94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5737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capacity and gradient paths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76772-650E-45F4-A845-6D063C55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574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AE76B-D3EC-4ADB-B9D7-0851298B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8AA9C-BB05-4FBF-9B4A-BA17A903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384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Curve diagnosis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63D43-51ED-4201-912E-B0DCCB5B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4792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underfitting, overfitting, and mismatch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5399D-906D-40E0-BD74-FCFF04F4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4797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19F8B-6B98-4C53-A126-96F2AE6C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E78D0-9504-4831-94BD-CEC5F4C8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Weight penalty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B5D92-5F09-49DB-BAA7-27AD39AF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3847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objective and update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8A689-ACA3-49BD-A36D-BF944F2F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385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EE6E5-AEB3-461B-9213-8006D383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FD691D-C56D-49F0-987F-51A55C48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Early stopping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67AA2-524A-46A1-9074-AD74C016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2902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validation-controlled checkpoint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0334C-9201-4BB6-87F3-23F00A05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2907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E43D26-CD80-4AFB-AE39-E35CE82C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C7A6AE-BEEF-4FCE-A5C5-684870F1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0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Inverted dropout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44CA6-F1E0-43B1-88C1-B6AD2FDD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1957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expectation, mask, and modes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584A09-F285-4C33-A5CB-3860FA7A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F38EB0-2390-42AC-B411-1AE7C048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FF5A9F-B563-4BB2-8BFE-ADCB4842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Controlled comparison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29E702-ABC7-493E-8FA2-ABFAA64E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1012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one changed factor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28DAC4-4980-4659-B519-DF6A0A84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017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FDD78F-6845-4F9E-B959-557D57B0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621233-D549-43C1-AA26-DDD2BDD4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Research claim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1F2B01-F4E8-4463-AFA4-9D523D93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0067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evidence, limitation, and next decision</a:t>
            </a:r>
          </a:p>
        </p:txBody>
      </p:sp>
    </p:spTree>
    <p:extLst>
      <p:ext uri="{BB962C8B-B14F-4D97-AF65-F5344CB8AC3E}">
        <p14:creationId xmlns:p14="http://schemas.microsoft.com/office/powerpoint/2010/main" val="13444154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8420ED-8C4B-47A5-8D17-FF753F63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Depth changes capacity, not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7FF08-74AB-4DE5-8495-FECF552A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C9D44-D75C-480C-AF79-568A56CA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FAFA4-CB0A-49A2-B2AC-958607B1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38593-7946-40AD-9BBF-440C1CB8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781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42EA7-0C75-4DB4-B293-748F11F1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95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626EE-B471-4E56-BB2C-6CA9E3DB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099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9D606-E01A-4C89-A48F-0AFFA0FE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552700"/>
            <a:ext cx="1771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596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6256F-25E3-4E53-8448-2FB7B75F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066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A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10F36-52EC-488A-BA64-9D9545F3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81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A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E0695-068B-4E00-BE39-9D219B40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95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A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C061E-6459-4D49-8C47-0DBC0EF1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099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A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E39EB-A1AA-4EF9-A2B0-5670E199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924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A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7AF77-4802-4EDD-A604-71C1503B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52700"/>
            <a:ext cx="1771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596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A290B-EF78-443F-BACF-36899DCF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066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A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375B3-5536-4B8D-96BE-E6A9270D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81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A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72F6C-9DB7-42F4-9542-33980588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95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A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150735-EAF8-4998-8C1F-3863EDB3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099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A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09664B-3F8E-4324-A86A-B0B0CE70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24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A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9609D-C761-43F6-A6EC-1183C35F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52700"/>
            <a:ext cx="1771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596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4555B2-DF85-45A0-8617-182D7FE5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38363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D8AF5-352F-441B-B4D6-368C4B0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52738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EB823-7E20-4938-A571-76D1873B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00625"/>
            <a:ext cx="971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8842B2-7F26-40B4-8C20-D7967057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81600"/>
            <a:ext cx="857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47"/>
          </a:bodyPr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Hℓ = φℓ(Hℓ₋₁Wℓ + bℓ)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8184F4-302A-4883-B684-2B6421B2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531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More transformations can fit useful structure and training noise.</a:t>
            </a:r>
          </a:p>
        </p:txBody>
      </p:sp>
    </p:spTree>
    <p:extLst>
      <p:ext uri="{BB962C8B-B14F-4D97-AF65-F5344CB8AC3E}">
        <p14:creationId xmlns:p14="http://schemas.microsoft.com/office/powerpoint/2010/main" val="7238407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8DB33-73C5-4DDA-A5EF-736D459F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Three problems require different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CCD98-0A79-4BE7-A47E-18D59558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07495-6E5A-4290-978E-7A711D55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8995F-03D7-4DF8-B958-DB0732C9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2571750"/>
                <a:gridCol w="2619375"/>
                <a:gridCol w="3429000"/>
              </a:tblGrid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Pattern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Training evidence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 evidence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First response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Underfitting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poor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poor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features, capacity, or optimization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Overfitting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improves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stalls or worsens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regularization, data, or simpler model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Distribution shift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may look good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deployment subgroup fails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revise data and 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DF432-5A96-4819-BD75-24E5E403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8191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DEDE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D25B9-4690-4CAE-BE66-95083175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Do not call every weak validation result overfitting.</a:t>
            </a:r>
          </a:p>
        </p:txBody>
      </p:sp>
    </p:spTree>
    <p:extLst>
      <p:ext uri="{BB962C8B-B14F-4D97-AF65-F5344CB8AC3E}">
        <p14:creationId xmlns:p14="http://schemas.microsoft.com/office/powerpoint/2010/main" val="19354767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97042-8147-4897-85F4-3F83EF15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ReLU keeps one side active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C2F6F-A9CD-477E-A3F4-30807808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29400-CB6A-4C1B-8D1F-678ABE28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3F59C-3B33-4063-AF27-973A8A67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AF69B-48D2-48C9-83DE-ED862DA4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4762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61258-5EEE-4393-855B-C04F2308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05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ReLU(z) = max(0, z)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6E2F2-CBC1-4CEE-8B70-625485A5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4762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35B8F-787B-4EDF-8F5D-BF8ECA1E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dReLU/dz = 1 if z &gt; 0</a:t>
            </a:r>
          </a:p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 if z ≤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BB7BE-8704-40E2-B6BE-71B814AA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8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6CBC4-4A8B-4857-BA14-7FD204F5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8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65BEA-0F8C-41E8-9A41-2ED47B1F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95625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0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0CE6F-6196-4330-8BDA-B283D612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inactive side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66EE5-F9E9-4264-A538-D352462E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active linear side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6EBF9-9DD8-4CCE-A26E-53B17ED2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57625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15C28-E480-441F-BF5B-CF478E0B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148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Helps positive-side</a:t>
            </a:r>
          </a:p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gradient paths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A6210-5864-492D-94AA-9B30563C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0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Can create inactive units</a:t>
            </a:r>
          </a:p>
        </p:txBody>
      </p:sp>
    </p:spTree>
    <p:extLst>
      <p:ext uri="{BB962C8B-B14F-4D97-AF65-F5344CB8AC3E}">
        <p14:creationId xmlns:p14="http://schemas.microsoft.com/office/powerpoint/2010/main" val="12951170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2C2EB-CD58-433C-BB9A-7A66520D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Gradient behavior accumulates through depth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104A6-1CDC-4D05-A2E3-D348E5F2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8E71F-EDA9-4537-B3C4-B183AA2E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99F83-9276-4649-B21A-0627E35C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BCDE0-4DB3-46D3-B4C5-9A896FFF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36ED9-9A6F-4AB3-A8B1-CAC28E6E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4317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upstream</a:t>
            </a:r>
          </a:p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gradient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323C1-040F-46D9-97F5-FD97D407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860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A6709-410F-4E68-AFD8-89B03D49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3837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54C7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43F35-7229-4586-AEC1-6EB30CF0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4317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W₃ and φ′₃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BFA62-B062-4306-8081-F505BC2E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6860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2E1E8-8322-4C51-8B84-805C4D96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54C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A4D0D-01D6-403C-885A-5664FDC4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4317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W₂ and φ′₂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3C994-7FCC-4F1C-AF5C-5AC772F2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FE991-FB34-4996-BF8D-949A8BF2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3837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A8F09-588A-4942-8EEF-C29A1D22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4317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W₁ and φ′₁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A3BE5-2C84-44C3-8A85-1A477128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∂J/∂Hℓ₋₁ = (∂J/∂Hℓ) Wℓᵀ ⊙ φ′ℓ₋₁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B1F10-DB66-4928-A4B0-41E7D6CA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435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909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small repeated factors → vanishing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DA51B-031E-408E-BB72-47023FB9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1435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13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large repeated factors → exploding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21C4F-C2C5-481D-AC1A-2070F6EE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57875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Activation, initialization, normalization, architecture, and optimizer interact.</a:t>
            </a:r>
          </a:p>
        </p:txBody>
      </p:sp>
    </p:spTree>
    <p:extLst>
      <p:ext uri="{BB962C8B-B14F-4D97-AF65-F5344CB8AC3E}">
        <p14:creationId xmlns:p14="http://schemas.microsoft.com/office/powerpoint/2010/main" val="13376949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BC39A0-A025-426B-BEC2-C2C7E34C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Read training and validation curves together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460CA-EC08-46CB-B54D-A708F538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9B370-1399-4E7A-AD1D-C3F6ACA1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E7CAE-B320-4588-8B3C-5F59EFFB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D8176-929E-4FFD-B393-31EFEF7B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8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9F5A7-4868-469A-8C4C-74C545AA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0" cy="3667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8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3B77C-45FF-4D53-9F15-3ABC1CAE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4B76A-2322-454D-BA1B-C67368B9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6197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epoch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4BC53-EAA8-4722-86C7-DF14030C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28875"/>
            <a:ext cx="61912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0A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3D3A0-914F-4F92-9CFB-09F18810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43250"/>
            <a:ext cx="619125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0A7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F9EBB-4100-454D-AC58-1223B269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62375"/>
            <a:ext cx="61912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0A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E625E-028B-4370-BE10-93746D43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38625"/>
            <a:ext cx="6191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0A7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A87BB-72DD-4D25-9C1B-83692D65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619625"/>
            <a:ext cx="6191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90AE2-72B1-48C3-97CF-1839A40B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05375"/>
            <a:ext cx="6667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0A7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932AC-459B-4B15-8217-B09D1287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8B572-0173-4140-9EB2-448714B0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F0652F-CFDD-4706-99DA-4E117D75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724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C8D55-1E0E-40E9-8B70-394A0783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383453-3805-4F72-A737-780511C3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58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B9B699-C42C-4DF3-A801-27CAA6DD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42BA2D-D31D-42B6-A324-1DDD6D7A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57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C124A-5AB9-4620-B278-6C2B36C4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6191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6C910-3C46-4AEA-80B1-E2D7A3D6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86125"/>
            <a:ext cx="61912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B8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08D08-7DFC-43D8-B2A3-DFC2B566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62375"/>
            <a:ext cx="6191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B8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45DE8-8934-46A6-9B6F-0C1D7335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581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D6B6D2-585C-44FA-819E-D7EDE6F0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48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E40058-E8AA-40A6-8C57-1EF001FB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724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78B12A-B7BB-4670-8BC0-4C097D2E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62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70F8B7-7790-4D77-875F-CCF948FB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4BE8DF-E44B-4CA0-8AAB-60F2E449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33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0DC5AD-EBE6-46D5-BACB-BD0FAB49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098364-28D5-4035-A84A-2999EC55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00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26D458-AB22-47CC-8D1E-30C0F88A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729DFF-B18B-49DE-821D-F283156B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14500"/>
            <a:ext cx="2143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00976F-1E26-4C78-8C45-FEBE2F58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9050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BOTH HIGH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AB47D4-0D76-4C7E-A985-A409AF8D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4315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underfitting or optimization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DE6098-1ECB-44C7-9AD2-47D5E369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143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2F171C-111F-4F34-910B-2123671D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050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BOTH FALL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B45ED4-807F-4C42-8286-3502C264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useful learning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4C67CB-CB0C-4022-BAD4-24AF1099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29000"/>
            <a:ext cx="2143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A71956-3A5B-4B86-A004-2772407E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195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GAP GROWS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B5D5AB-535A-426E-BA1D-33CE709C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5765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overfitting or mismatch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1258DE-8E8A-43E2-BEF2-9EBAD3A9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143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D52B8B-D679-4248-BC30-9657ABF3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195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VALIDATION NOISY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E7AA68-15ED-48BB-9A0E-3AE86AAD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5765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sample size, seeds, subgroups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9ED4D5-5FF2-4C80-BB4A-338B4EB8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7212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789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 curve points to the next check; it does not prove the cause.</a:t>
            </a:r>
          </a:p>
        </p:txBody>
      </p:sp>
    </p:spTree>
    <p:extLst>
      <p:ext uri="{BB962C8B-B14F-4D97-AF65-F5344CB8AC3E}">
        <p14:creationId xmlns:p14="http://schemas.microsoft.com/office/powerpoint/2010/main" val="5322186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7BD4D-D486-49DB-B02A-C6B215DC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generalization gap is a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C9362-2681-464E-94C8-F4F91242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6AC45-ACDF-4FFA-B1A6-DD84871A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CB78F-9CCC-44A3-BBB3-29B3C41F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D5E2C-12FC-4045-8FB9-7A7817A5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942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42201-935C-42BF-823B-DD9B9E83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002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gₜ = Jvalidation,t − Jtraining,t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D821A-7E07-4699-9D12-41FDC032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TRAINING LOSS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A082C-5E7D-47BB-B113-3293C618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5C285-E8D5-4BD6-8BA0-EF981B66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433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D8191-2087-4682-9D06-6395F801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E0411-9051-48E7-8533-55A25FB2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E3490-148F-4627-8CE9-AE03233D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433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0.62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FF750-25E6-4943-9D30-5F3AF435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4C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4C7A5"/>
                </a:solidFill>
                <a:latin typeface="Arial"/>
                <a:ea typeface="Arial"/>
                <a:cs typeface="Arial"/>
              </a:rPr>
              <a:t>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0447D-43CA-4C3D-8450-B08AD20A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54C7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EF47D-E808-44D1-BB53-B6E65014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433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54C7A5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54C7A5"/>
                </a:solidFill>
                <a:latin typeface="Arial"/>
                <a:ea typeface="Arial"/>
                <a:cs typeface="Arial"/>
              </a:rPr>
              <a:t>0.37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8958A-E8FA-458D-8125-C03E5490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76875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Compare checkpoints under the same data and metric.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3EDC9-A053-461B-9BEF-66CA9D9F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9531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gap is not the final research objective.</a:t>
            </a:r>
          </a:p>
        </p:txBody>
      </p:sp>
    </p:spTree>
    <p:extLst>
      <p:ext uri="{BB962C8B-B14F-4D97-AF65-F5344CB8AC3E}">
        <p14:creationId xmlns:p14="http://schemas.microsoft.com/office/powerpoint/2010/main" val="13307625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77748-690A-4A26-8DC7-DED18A16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L₂ regularization penalizes large weights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CFE5E-80EA-4F3D-B5EB-E907655D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5968D-ACC5-4EC9-8A44-84AB860B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D3164-EA29-4175-B7C4-FC784A9F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6E1B4-A966-417B-B8BA-1D9179BD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0382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142FA-3FB6-4FEB-96ED-BAF1DA37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57375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Jreg = Jdata + (λ/2) Σℓ ‖Wℓ‖F²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D86AB-C8FF-4180-B46E-40F26452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05125"/>
            <a:ext cx="1047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11B0D-DD2E-4F1A-B897-452FD743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10382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967AC-4273-4174-ACDA-02FECE16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∇Wℓ Jreg = ∇Wℓ Jdata + λWℓ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2006C-5BC8-4EA3-99A0-407AE198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86375"/>
            <a:ext cx="2952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8377D-C14D-42EB-98D7-4EF817EC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5782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λ = 0   no penalty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279AB-EA8B-46A1-8439-32A02596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86375"/>
            <a:ext cx="2952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E17E6-C15C-4806-ACA4-906DBC78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45782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small λ   mild pressure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56F14-35EE-40A4-86BD-382303EE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86375"/>
            <a:ext cx="2952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31B15-786A-45CA-80F7-03DEE161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45782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large λ   strong pressure</a:t>
            </a:r>
          </a:p>
        </p:txBody>
      </p:sp>
    </p:spTree>
    <p:extLst>
      <p:ext uri="{BB962C8B-B14F-4D97-AF65-F5344CB8AC3E}">
        <p14:creationId xmlns:p14="http://schemas.microsoft.com/office/powerpoint/2010/main" val="4960449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6254E-A4AE-43E8-B1B4-0F44AF8D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Weight shrinkage changes the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48280-64DE-4C0D-A0BF-616F3E40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84443-49E0-4852-8950-C01132A4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161E5-F94A-41DB-8681-402E3968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247AF-EDF3-4A73-B27F-AE2ED07A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66875"/>
            <a:ext cx="1000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EAED0-FC8A-4286-8A3C-62246EB6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002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 ← (1 − ηλ)W − η∇W Jdata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02997-9222-4FDD-97DE-5931C6AE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29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(1 − ΗΛ)W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84794-D335-4CCE-A1B1-7B01CF29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4619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8DC53-C868-4DA0-B021-63F3A82B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9575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shrink the current weights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7A4C9-A91A-4B0C-A6AC-C851E95E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−Η∇JDATA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F3E6D-D4E2-4EF6-8DBB-CBA8A257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4619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F0136-C466-4BB6-A807-894BB772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19575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follow the data gradient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4DE8E-BBE6-4BA5-B8DC-3ADE3E3B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476875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Biases are often excluded by explicit design.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3C2E1-AE9A-4203-A99C-DDDB1D60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5312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Name an objective penalty and decoupled optimizer weight decay accurately.</a:t>
            </a:r>
          </a:p>
        </p:txBody>
      </p:sp>
    </p:spTree>
    <p:extLst>
      <p:ext uri="{BB962C8B-B14F-4D97-AF65-F5344CB8AC3E}">
        <p14:creationId xmlns:p14="http://schemas.microsoft.com/office/powerpoint/2010/main" val="18766114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89B7-4986-4672-A92B-3982E2BD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Early stopping selects a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0E0D3-EDC3-4029-8521-CA6BFD77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C6778-E185-411C-AA59-710F4B6F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8C8C4-7207-448D-993C-BFF1F833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47EEC-F30D-486F-ADF0-DB594300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240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B2500-4D20-499A-8C42-20E3F0F2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CD1D1-8595-4B1A-9468-3B6CC914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FE873-0F3E-4D84-A7BB-6C27EF1E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5FEBC-F1A9-4A83-A529-77209CEC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1462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0A9AC-DA75-4DA0-B256-1D579287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240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CA4FA-B4A4-424E-862E-4782385C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6A05D-5A8D-4624-B619-10538834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IMPROVE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CA7BF-7FD0-4A1D-B95D-C270136A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051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save parameters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72E93-5380-4115-912F-04E4EFFE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1462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BA03E-FF51-4A7E-B4E9-A048340C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5240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3D712-D054-4B37-BE40-B15A0A06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BEC71-85BA-4151-8A14-940DEF51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81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WAIT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EBF2A-34E3-4186-A634-0043F8BF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051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count patience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3AF71-4278-4056-A07E-B5BA30F3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1462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3B990-18F1-4002-8A67-8A570A4B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5240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869D1-F4FD-410C-9202-5C264B68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A6B60-F05F-41E8-935F-C71DD9D9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81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D120E8-1957-4F29-95B7-52152287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051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restore best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C4086F-3CC6-43C2-BECA-9A328684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368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E1888E-B018-424F-BBEA-3FC3285B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838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4882E4-CE44-4B21-864F-4138A937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38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35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321256-036A-433D-9A60-854B15E2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38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best epoch 81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2907BA-178A-473D-BC7D-1669250B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38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stop epoch 261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276799-73EC-4CF7-BC96-47969C27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857875"/>
            <a:ext cx="5191125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0F4D70-4DAE-4C90-88EA-55AE4D4D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7435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restore the epoch-81 parameters</a:t>
            </a:r>
          </a:p>
        </p:txBody>
      </p:sp>
    </p:spTree>
    <p:extLst>
      <p:ext uri="{BB962C8B-B14F-4D97-AF65-F5344CB8AC3E}">
        <p14:creationId xmlns:p14="http://schemas.microsoft.com/office/powerpoint/2010/main" val="19275686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848812-0569-477A-BA93-48610FF4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Dropout samples a training-time subnetwork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C4FD6-BD97-4154-87F4-047D0826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C1FEA-8250-401D-9446-64FF74EF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8D7E1-8329-4369-BD34-2B4679AF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9CD1A-3BC2-4937-9227-4ADE37BE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09908-04A4-4900-BEE8-219409D9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D6DC0-D4B2-4FE2-8BE0-5E919BB1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E10EF-1BB2-46D1-9C7D-57456CED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38450"/>
            <a:ext cx="1962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596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35F42-59FE-4BED-A496-088733D4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A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95488-129A-45D9-84C0-FDCAFAB8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D3268-E970-409E-9E68-B9C6E5EE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190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53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CBE30-1C9E-4149-8AF1-DD3D0DA5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81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A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5801C-DD17-4287-BB64-8F578D3F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A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6A79F-886A-42D9-A2FE-EDB12B64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14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26886-332E-48A3-AB25-7043E2B2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190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53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86D3D-21EF-4301-A556-F3F1EDF3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38450"/>
            <a:ext cx="1962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596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619AD1-E8A5-4E90-A310-ECFF51EE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47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4D305-B86E-4DFA-A787-311172C6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190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53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578C0-4CDC-4A5A-83AF-E80FCECA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14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A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0A3684-1CE4-4E05-BA98-4C5F1B47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81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A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4695F-D96C-430A-B74E-6A3B9746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ADC0B0-F3F8-4428-8FAE-5D44B41E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190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53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62B2FF-B5CF-4E8B-9052-A3A3C993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14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A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7DC072-4F8D-4E9C-8AFD-DBF66BB8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38450"/>
            <a:ext cx="1962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596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CC89A0-E8EB-49DE-AFD7-8EDFEBB7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479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013B6C-0EA0-4610-A0E0-A8A10013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14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B29965-CE2D-49E6-8412-03740B66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86375"/>
            <a:ext cx="8382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F6CDEE-7225-485B-A54E-02CAC200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578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Mij ~ Bernoulli(q)       H̃ = (M/q) ⊙ 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47639C-4946-4205-ABC6-49BF1969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1436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 = drop probability     q = 1 − p</a:t>
            </a:r>
          </a:p>
        </p:txBody>
      </p:sp>
    </p:spTree>
    <p:extLst>
      <p:ext uri="{BB962C8B-B14F-4D97-AF65-F5344CB8AC3E}">
        <p14:creationId xmlns:p14="http://schemas.microsoft.com/office/powerpoint/2010/main" val="2763676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18D12-74FE-45B6-A5D9-C6AABDD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Inverted scaling preserves the expectation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D93A8-F9A6-4B31-B472-0024A987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8B3AB-17F5-466D-895F-46AE272A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CE3B9-EF7D-45ED-B049-0008D892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C3CAD-9615-427F-8657-111F353D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71625"/>
            <a:ext cx="981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FE5CC-E643-42BE-AE54-0351A0C3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0500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E[(M/q) ⊙ H] = 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A87BD-85E2-4D9B-A4F1-B4FF100A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BE39A-2E49-4C87-8CF9-7709B63C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6237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35E0F-394C-4ADB-9935-11D8C355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0.8000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08A6C-5CFC-443F-BE29-2EC8A6E5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TRAINING MASK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F63F1-3428-4AC5-9187-A0E6F5EF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6237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12A4D-A632-4A8A-844A-FB4C261D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767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0.8002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8C1A0-3395-41FC-97BE-998F36FC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33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0499E-530B-4929-842C-8BDC0476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6237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B96DB-EFCE-49F0-ABD8-8E488BEE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0.8000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5E49D-D182-418D-9D22-0C6C43D8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768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17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Finite masks fluctuate; expectation is a repeated-sampling statement.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4E0AC-D1CD-4EB6-9068-8FCE367A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5312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With inverted dropout, evaluation needs no extra scaling.</a:t>
            </a:r>
          </a:p>
        </p:txBody>
      </p:sp>
    </p:spTree>
    <p:extLst>
      <p:ext uri="{BB962C8B-B14F-4D97-AF65-F5344CB8AC3E}">
        <p14:creationId xmlns:p14="http://schemas.microsoft.com/office/powerpoint/2010/main" val="17926812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BFE80-373A-4E0F-80CE-97E88BF2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Backpropagation reuses the same mask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3E044-2E75-47DE-B9CE-6490AF7B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E6F10-B24E-43BF-8856-3EFAF915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28400-270C-47F5-8352-1E9AE825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42CB8-61AE-4240-9871-F60566A0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1009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FFB47-D256-43B3-8A6C-3AB1DE33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38325"/>
            <a:ext cx="904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forward:     H̃ = (M/q) ⊙ 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D3E38-0F10-4990-8F9B-599B7C0B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9525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9F620-95FE-475B-8434-5F124E50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1009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7C818-8410-46D1-AEDB-0A65665E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43325"/>
            <a:ext cx="904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backward:   GH = GH̃ ⊙ (M/q)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79417-6428-4926-8C54-8573C117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SAVED MASK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31917-45E3-482A-A7B7-4B2BF1EB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computation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2461E-CE8A-413E-B5A3-47E31DC2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DROPPED UNIT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50827-0427-4C7A-9297-C4F47069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381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zero gradient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722B4-E159-4393-B63E-D7121D47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006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NEW MASK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3D098-078E-4104-9E76-3823DACC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81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wrong 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39068-0564-4408-AEEA-3F3B7E82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95312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76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 newly sampled backward mask describes a different forward pass.</a:t>
            </a:r>
          </a:p>
        </p:txBody>
      </p:sp>
    </p:spTree>
    <p:extLst>
      <p:ext uri="{BB962C8B-B14F-4D97-AF65-F5344CB8AC3E}">
        <p14:creationId xmlns:p14="http://schemas.microsoft.com/office/powerpoint/2010/main" val="21006126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30EE4-0A2A-41FD-87D6-53FE64B7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Training and evaluation modes differ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E39A0-8DD2-40DE-9E21-C22185AB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9B033-64EF-4E95-929E-8E4A8108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5596E-E49D-4C84-9121-BFE7264D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428750" y="1619250"/>
          <a:ext xmlns:a="http://schemas.openxmlformats.org/drawingml/2006/main" cx="93345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095625"/>
                <a:gridCol w="3095625"/>
              </a:tblGrid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Behavior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Evaluation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Dropout 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sampled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disabled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Kept-unit scaling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1/q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Fixed-input output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stochastic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deterministic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regularized fitting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stable prediction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4874D-909F-4E49-B9BC-FFFCED03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72125"/>
            <a:ext cx="8382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DEDE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67D8C-4E2C-4E3C-906F-AD9B496D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150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Evaluation-time dropout changes the model being measured.</a:t>
            </a:r>
          </a:p>
        </p:txBody>
      </p:sp>
    </p:spTree>
    <p:extLst>
      <p:ext uri="{BB962C8B-B14F-4D97-AF65-F5344CB8AC3E}">
        <p14:creationId xmlns:p14="http://schemas.microsoft.com/office/powerpoint/2010/main" val="20246681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75DDCE-E0A8-4B65-84D7-56DF0E9B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controlled variable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34332-253C-4E48-A77F-DF1B5BF8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4D978-D49D-4B40-9EF2-8BC95E56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242F2-615B-424C-A06B-3F545E1B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6A2CC-DD8B-4EDB-B584-E13BDDF2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3524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D664F-E5AD-49C0-BD61-E61674E7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907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D5F3A-9C82-41F3-A4E6-AC7E1FBF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generated split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6AE84-BA4B-4506-9BD4-8E693F70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524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C49E4-FE50-4922-9A6B-45F28862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907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35538-3DDE-496C-9816-0CDFD260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717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19 flipped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C21D7-B70D-4EC9-AC0E-C8B6189F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3524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39425-5D22-4846-9EEA-8733059F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907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FBBA2-6F3A-4D3C-A5E8-C4ABAB1A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717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64/32 architecture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1EB89-3989-4B4F-A80A-2D324D56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95625"/>
            <a:ext cx="3524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94042-AAB4-4B3B-926A-3020612B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670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F8939-6721-4D23-A0A2-F5AF15E2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480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initialization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452AA-D436-4CD1-9755-2869938A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3524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C334A-3FA5-4BCD-9ABB-6B0EDF12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670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2675D-AD7C-4D4C-806E-7C9B76A6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480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learning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F8F420-A439-4F9E-8477-58873C2D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3524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47615-7FA8-4C3F-AD65-4B0642F4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670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F705B-3D5C-4B20-AB6D-7C1C60D0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480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early-stopping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F2FD80-5B42-405D-B331-5D63B349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00625"/>
            <a:ext cx="923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54C7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78E89-37A2-4C10-9AB0-4B5B7970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10175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dropout changes: 0.00   0.15   0.30   0.45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FF47D8-36B0-4AFA-86A5-F7FD8BFF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953125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Changing one factor keeps the interpretation local and clear.</a:t>
            </a:r>
          </a:p>
        </p:txBody>
      </p:sp>
    </p:spTree>
    <p:extLst>
      <p:ext uri="{BB962C8B-B14F-4D97-AF65-F5344CB8AC3E}">
        <p14:creationId xmlns:p14="http://schemas.microsoft.com/office/powerpoint/2010/main" val="5661468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75CC7-8881-4C37-9487-A6576D35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Validation selects the candidate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134FB-C10D-4550-9682-967BBB23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673F1-58EF-4E5B-A3DC-DD89047D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E86DA-05AD-40F8-BE4B-588A3492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190625" y="1571625"/>
          <a:ext xmlns:a="http://schemas.openxmlformats.org/drawingml/2006/main" cx="98107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2000250"/>
                <a:gridCol w="1952625"/>
                <a:gridCol w="2333625"/>
                <a:gridCol w="1762125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Dropout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Best epoch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 loss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 loss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Gap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0.2679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0.7180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0.4500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0.15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119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0.2670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0.6476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0.3805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0.30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0.2461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0.5920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0.3459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2B7A6D"/>
                          </a:solidFill>
                          <a:latin typeface="Arial"/>
                          <a:ea typeface="Arial"/>
                          <a:cs typeface="Arial"/>
                        </a:rPr>
                        <a:t>0.45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2B7A6D"/>
                          </a:solidFill>
                          <a:latin typeface="Arial"/>
                          <a:ea typeface="Arial"/>
                          <a:cs typeface="Arial"/>
                        </a:rPr>
                        <a:t>513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2B7A6D"/>
                          </a:solidFill>
                          <a:latin typeface="Arial"/>
                          <a:ea typeface="Arial"/>
                          <a:cs typeface="Arial"/>
                        </a:rPr>
                        <a:t>0.2429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2B7A6D"/>
                          </a:solidFill>
                          <a:latin typeface="Arial"/>
                          <a:ea typeface="Arial"/>
                          <a:cs typeface="Arial"/>
                        </a:rPr>
                        <a:t>0.5590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2B7A6D"/>
                          </a:solidFill>
                          <a:latin typeface="Arial"/>
                          <a:ea typeface="Arial"/>
                          <a:cs typeface="Arial"/>
                        </a:rPr>
                        <a:t>0.3161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03274-1EFD-4241-B3B7-CAC58B03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429250"/>
            <a:ext cx="7143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3C41D-9136-46A9-92A5-86759B38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911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selected by minimum validation loss: dropout 0.45</a:t>
            </a:r>
          </a:p>
        </p:txBody>
      </p:sp>
    </p:spTree>
    <p:extLst>
      <p:ext uri="{BB962C8B-B14F-4D97-AF65-F5344CB8AC3E}">
        <p14:creationId xmlns:p14="http://schemas.microsoft.com/office/powerpoint/2010/main" val="5017336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4F475-F854-4CD2-94B1-F486E6FF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the test split after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91082-357B-49D9-969C-EFF3A5F9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F3B1F-47BF-42D4-AC2E-600A09D5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4C7A7-FBD6-4E05-8B17-9E9C26CA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1285875" y="1524000"/>
          <a:ext xmlns:a="http://schemas.openxmlformats.org/drawingml/2006/main" cx="96202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2333625"/>
                <a:gridCol w="2333625"/>
              </a:tblGrid>
              <a:tr h="7302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Fixed model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loss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dropout 0.00 reference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0.6746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0.633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selected dropout 0.45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0.5649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0.733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1D6E1-2C49-4B0D-99D7-3D63E638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433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SELECTED-MODEL CONFUSION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1333500" y="4524375"/>
          <a:ext xmlns:a="http://schemas.openxmlformats.org/drawingml/2006/main" cx="49530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428750"/>
                <a:gridCol w="142875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True \ Pred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negative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positive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negative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positive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94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7F6EF-8373-46F6-AA64-B7400097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333875"/>
            <a:ext cx="3429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E7F46-BED6-4D2C-B51A-253DC4A1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48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negative recall   0.661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76E56-B34E-49FE-B281-5DB9A59E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62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positive recall    0.810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1E197-8CFC-40E1-963E-3088AAC6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953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deterministic synthetic split; no transfer claim.</a:t>
            </a:r>
          </a:p>
        </p:txBody>
      </p:sp>
    </p:spTree>
    <p:extLst>
      <p:ext uri="{BB962C8B-B14F-4D97-AF65-F5344CB8AC3E}">
        <p14:creationId xmlns:p14="http://schemas.microsoft.com/office/powerpoint/2010/main" val="9543465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215DE-1494-4778-B789-88ADD38C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Dropout mechanics are checked separately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E4305-AA0B-4C37-B12F-8452B88B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D2733-F39F-42A7-ACB7-4BB332E0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07D0A-64E7-419F-98AB-B222C442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1619250" y="1381125"/>
          <a:ext xmlns:a="http://schemas.openxmlformats.org/drawingml/2006/main" cx="89535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3143250"/>
              </a:tblGrid>
              <a:tr h="53578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 check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value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activation mean before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0.8000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training-mode mean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0.8002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dropped fraction at p = 0.25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0.2498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evaluation maximum difference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0.000e+00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evaluation mask all 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backward-gradient mean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0.1600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nonzero gradients at dropped positions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96792-DFB4-4E59-A387-33C870FC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9055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Mechanism evidence asks whether the implementation behaves as defined.</a:t>
            </a:r>
          </a:p>
        </p:txBody>
      </p:sp>
    </p:spTree>
    <p:extLst>
      <p:ext uri="{BB962C8B-B14F-4D97-AF65-F5344CB8AC3E}">
        <p14:creationId xmlns:p14="http://schemas.microsoft.com/office/powerpoint/2010/main" val="10370596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BDB994-88AB-426E-B603-9C11B3F5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Regularization cannot repair invalid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B2B64-E9FF-40CB-9526-FBF7C8D9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01738-1C04-4321-B4F0-38C74494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2A7C6-B405-4F33-8DD9-F234830B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E20E0-2F73-4920-B6F5-84D50741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3524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6C013-FCA4-4354-BB81-5C1A07F1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811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TARGET LEAKAGE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9A666-D272-45A2-AA08-B5E124AF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or label-derived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5AA01-6E0D-475A-A4DD-E96F8E6E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524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0E66F-4A95-4C7A-82B5-C1A4A62A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811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SPLIT OVERLAP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98612-0677-4547-BD04-D5DF91DC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subject in several splits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B2A6F-FD0D-4199-8888-A408B6C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524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112EF-B2FB-4145-A95F-5FBAF751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811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CLASS MAPPING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E5CC7-503D-4B9E-8B9C-49B40AAF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inconsistent output meaning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10BD1-CAE0-4746-B9BD-F27386A1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14750"/>
            <a:ext cx="4381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89255-16E1-45E2-90A5-338A427C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24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WRONG METRIC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7A33F-CAB9-4EE4-B1C8-79F91F3F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815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unrelated to the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7A8EC-79E4-4933-A7BB-0CA0A212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4381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37FF2-51DE-41E8-A46A-8F9054D0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24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TEST 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F6882-C18F-47BA-B716-DE34BDEE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815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influences tuning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80AB5-009E-4A8F-BE46-D2C6D9E3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673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336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Fix the experimental design before tuning regularization.</a:t>
            </a:r>
          </a:p>
        </p:txBody>
      </p:sp>
    </p:spTree>
    <p:extLst>
      <p:ext uri="{BB962C8B-B14F-4D97-AF65-F5344CB8AC3E}">
        <p14:creationId xmlns:p14="http://schemas.microsoft.com/office/powerpoint/2010/main" val="8093999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0F28D8-53D7-4904-9304-DDE9FE75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Controlled-experiment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45E03-1C34-41C8-82AF-1366CF5C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0BA1E-7D09-4B11-9C4C-46E860DB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9957D-C61A-471F-9CC1-3BE93234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33FDB-2B74-46D0-949C-9A386686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C36E7-7B51-423B-9260-E26A7153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28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F7358-03EE-4816-8079-F604270A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287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directional hypothesis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D5BAE-472E-4531-B59F-F002F6A2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3832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A470F-C99F-40A4-800E-DCE4F25C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DDDB5-FD37-4212-B03D-5C4FEA0B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57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0AEB2-4A97-4B43-92BC-8D6E3B91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5740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one factor; list every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43BB9-0C01-4817-956C-DA565713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6697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33E42-48FF-455B-B12C-87A09849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20150-801E-474A-933E-4900344A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86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7088F-28A7-4437-ADF9-6C566AA2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860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data, split, code, and seeds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F5142-78B0-457E-899C-03A32E7A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9562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A94409-EE3F-4ABA-BCEA-9D7A0851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70CF0-623F-41DC-80AC-276FD273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14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ED965-FC57-4BD2-8F36-D1B982EF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1470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validation rule and test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0EE94-1B09-4519-973F-8AFC66FF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2427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B6A4C-F66C-416E-A048-7E9E4C64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B14F3E-8198-41C3-888B-C7DA1260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43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C4A3C6-86A5-4680-A602-AF5AFC24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uncertainty plus class or subgroup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D82ED5-38A3-43BE-8FFA-9138E645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5292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1A965C-DE05-4B32-93B9-68CDB5D5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D199A5-4081-4A84-A962-D753957F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72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12A269-3530-483C-B4AA-4FAA2365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implementation and sanity tests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A04A4B-6F49-44FD-8C6D-453F9B84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8157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69E92B-58C0-4B38-BB07-FDC8AFAC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B5040A-3FBE-4CD6-BB8D-8946ADD0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00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C71A96-4564-49A4-9F04-BF172C7C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006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support, limitation, next decision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A05E56-A8A8-4B0E-BD3C-94A16D3E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05500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705274-E707-4446-9C19-D36B8643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81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A failed hypothesis can still produce useful evidence.</a:t>
            </a:r>
          </a:p>
        </p:txBody>
      </p:sp>
    </p:spTree>
    <p:extLst>
      <p:ext uri="{BB962C8B-B14F-4D97-AF65-F5344CB8AC3E}">
        <p14:creationId xmlns:p14="http://schemas.microsoft.com/office/powerpoint/2010/main" val="331159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5B213-FBCD-4FCF-BE36-1A43AF12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Exit and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70A6F-284B-4FD6-B1D5-AE1233FA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29572-24F4-4204-9E4C-0D4DFAA3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3DE04-0543-40A6-8E66-C1D49C58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979E6-4064-4A4C-8113-CDABACA1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547B4-8FEC-467B-A266-968980C5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21A34-FA24-43B5-B391-14198E10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5737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does underfitting differ from overfitting?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77BF8-1A65-4AA9-B3E9-0FF6F4C3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1457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E88B1-A9B8-498A-B7B2-27C49BDD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431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4B73B-BB2C-4CA8-AFBD-390C1AEA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4317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may the best checkpoint precede the last epoch?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750BD-D0C9-4072-A603-9D9D4946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037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B867C-1B37-4433-87AF-9963E9CD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289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307FD-23BA-42DA-8F2D-7EC683C8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2897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does inverted dropout divide by keep probability?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0E875-06FA-4969-A03E-0E4213A4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8617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7A4DB-7E82-4476-8060-E207C477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14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28965-D3FE-460C-8B7B-8BCAF10A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1477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must backward reuse the saved forward mask?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8F3315-CEE0-4181-B8F2-E0857380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7197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E4597-EF51-4E08-AFCF-44492ABC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005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7721E-A29A-4360-9D00-6834615D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does a controlled comparison change one factor?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755FD1-BEA0-4FF2-8116-1D47381A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150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Next: convolution, spatial structure, and learned feature maps</a:t>
            </a:r>
          </a:p>
        </p:txBody>
      </p:sp>
    </p:spTree>
    <p:extLst>
      <p:ext uri="{BB962C8B-B14F-4D97-AF65-F5344CB8AC3E}">
        <p14:creationId xmlns:p14="http://schemas.microsoft.com/office/powerpoint/2010/main" val="228928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2026-09-07T01:57:53.6400000Z</dcterms:created>
  <dcterms:modified xsi:type="dcterms:W3CDTF">2026-09-07T01:57:53.6400000Z</dcterms:modified>
</coreProperties>
</file>